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EC64E-4986-01AC-DF39-40A4193FC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7CDF56-EFFE-0F3B-1DFF-75182C842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99D5B-EF5D-1607-1896-5CA6BF7AD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55C3-0273-6548-89A9-01B95E9D85DB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40C7C-E725-F596-E12E-C4205CF8B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AC833-D91D-A5B9-0DE0-ED9E3B1E2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2D78-D897-7545-B5C4-5ED30A4B3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628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02FD7-FB3D-2E7F-4C6C-25CA59D13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3CD1-9A68-56E6-6470-4031FFC2A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5AB12-5676-6594-B655-8C62DF8E5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55C3-0273-6548-89A9-01B95E9D85DB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A0D1C-BB44-0FE2-0DAE-6FA70CBEE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601DB-16AA-931D-2A96-64E3D55C9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2D78-D897-7545-B5C4-5ED30A4B3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066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5E6F9-B54A-EBEF-A963-FC51888CC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9CF53-4A11-D1E1-C11E-568A579E4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FD689-4249-70DB-5D0A-3E9CF6575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55C3-0273-6548-89A9-01B95E9D85DB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2B012-B7ED-5E3D-4F48-90E15A73E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24725-C31B-DDC6-F40B-03865D83A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2D78-D897-7545-B5C4-5ED30A4B3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888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F8C7B-82DD-A411-D07B-92A98D9D8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CBF38-5242-4158-36F8-6E50381A46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5B2A0-6FC8-B8C9-9C8E-1CD3F8AB3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5E04E-ADE0-5E78-BEFC-0539C5EF5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55C3-0273-6548-89A9-01B95E9D85DB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C465B-8BBA-F12A-A6CB-98CAEF7DC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238AC-42A8-4498-98D7-8F5134F0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2D78-D897-7545-B5C4-5ED30A4B3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780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6E0F2-705E-6A90-B7A2-8D82759D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08694-E87D-213C-98F7-1E4E77A5B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D6324-9078-3B00-01C1-7EE1766ED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7271F3-A818-7880-383D-E4C90A1846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C9FC2F-74A2-0A7D-AF6E-65C87B3CE4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4C88EB-9BB9-8BFB-5028-E8ADBE476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55C3-0273-6548-89A9-01B95E9D85DB}" type="datetimeFigureOut">
              <a:rPr lang="en-US" smtClean="0"/>
              <a:t>2/16/26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74DF81-082E-FEB8-5C1A-38176E255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E78341-A2D7-FAB7-879C-D460F7CEF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2D78-D897-7545-B5C4-5ED30A4B3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150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AB23E-ACAB-6538-1C70-3EB9B7BE7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31DA95-F967-ECC6-26C2-8EA8EB350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55C3-0273-6548-89A9-01B95E9D85DB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BCB021-0F2E-2BD7-638D-CE9F1C7C8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A749C8-B5D4-4121-E7A6-3E6432EF1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2D78-D897-7545-B5C4-5ED30A4B3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922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9C551C-D209-FD7A-AB27-ED05A0B0E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55C3-0273-6548-89A9-01B95E9D85DB}" type="datetimeFigureOut">
              <a:rPr lang="en-US" smtClean="0"/>
              <a:t>2/16/26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C4FE2B-B759-4803-4BE4-E129C6C5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79E7D-DF86-D097-65E8-520A5AD82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2D78-D897-7545-B5C4-5ED30A4B3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831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16A5A-E310-3111-F4B3-E3F896E75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1970C-0239-0918-DD43-3EB90A8C1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30C211-9089-C065-B75D-0347DF9E7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6DA6E-8CA2-E745-68F0-D292EE3D5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55C3-0273-6548-89A9-01B95E9D85DB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7657C-4375-B825-C6F5-5C224587C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74693-DC15-1516-D1F3-232C7D9F6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2D78-D897-7545-B5C4-5ED30A4B3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57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7A577-A3CB-C9F9-D935-5F7813778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811763-0840-3734-95DB-6D1DEE6DE1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AFFCA9-2B00-1367-99E8-9D043DBEAB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43CD8-9712-6BB2-1D02-4BA5F93A8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55C3-0273-6548-89A9-01B95E9D85DB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A0203-DA90-987C-7082-47FDB26B8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78F60-5895-1A9E-AA16-F93B18A57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2D78-D897-7545-B5C4-5ED30A4B3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883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D6B29-1B12-BE07-6882-0D96F63DE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A5306D-2137-7A88-7903-C146F85F2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76813-A319-E670-4C7D-67D778320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55C3-0273-6548-89A9-01B95E9D85DB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4CCB5-D038-E469-AE51-A4169F829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42BC9-62FE-38F2-9BC3-E7BD4723E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2D78-D897-7545-B5C4-5ED30A4B3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758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344C55-4C70-171B-98CC-AF0160D787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E0640E-DB9E-EDD0-75C8-47F38DF0D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03953-E268-FB79-53D1-879952EEF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55C3-0273-6548-89A9-01B95E9D85DB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F81B6-CDF1-2D09-5E79-5F9099902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1EACC-64D0-4A7E-C05D-00096673A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2D78-D897-7545-B5C4-5ED30A4B3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566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68D59A-83A4-9D97-8A11-2BC4FD6E2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C069D-6B1E-C515-1E9E-9ADB3AE7A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5ED3A-F4B4-F28E-EEBB-871607FE6A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7255C3-0273-6548-89A9-01B95E9D85DB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BDC67-4C0C-46ED-B0D9-F595948D5E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15D2F-3E5D-80F4-AC69-9817659B8E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C62D78-D897-7545-B5C4-5ED30A4B3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501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9EB5D7-7231-82A6-30A2-AD2927F9E53E}"/>
              </a:ext>
            </a:extLst>
          </p:cNvPr>
          <p:cNvSpPr txBox="1"/>
          <p:nvPr/>
        </p:nvSpPr>
        <p:spPr>
          <a:xfrm>
            <a:off x="647238" y="645407"/>
            <a:ext cx="86126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Verzorgt</a:t>
            </a:r>
            <a:r>
              <a:rPr lang="en-US" dirty="0"/>
              <a:t> </a:t>
            </a:r>
            <a:r>
              <a:rPr lang="en-US" dirty="0" err="1"/>
              <a:t>ov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externe </a:t>
            </a:r>
            <a:r>
              <a:rPr lang="en-US" dirty="0" err="1">
                <a:sym typeface="Wingdings" pitchFamily="2" charset="2"/>
              </a:rPr>
              <a:t>invloeden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en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actoren</a:t>
            </a:r>
            <a:r>
              <a:rPr lang="en-US" dirty="0">
                <a:sym typeface="Wingdings" pitchFamily="2" charset="2"/>
              </a:rPr>
              <a:t>  open system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 err="1">
                <a:sym typeface="Wingdings" pitchFamily="2" charset="2"/>
              </a:rPr>
              <a:t>Afdeling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leercentrum</a:t>
            </a:r>
            <a:r>
              <a:rPr lang="en-US" dirty="0">
                <a:sym typeface="Wingdings" pitchFamily="2" charset="2"/>
              </a:rPr>
              <a:t>, </a:t>
            </a:r>
            <a:r>
              <a:rPr lang="en-US" dirty="0" err="1">
                <a:sym typeface="Wingdings" pitchFamily="2" charset="2"/>
              </a:rPr>
              <a:t>leerteam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Onderhoud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en</a:t>
            </a:r>
            <a:r>
              <a:rPr lang="en-US" dirty="0">
                <a:sym typeface="Wingdings" pitchFamily="2" charset="2"/>
              </a:rPr>
              <a:t> Service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 err="1">
                <a:sym typeface="Wingdings" pitchFamily="2" charset="2"/>
              </a:rPr>
              <a:t>Professionele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bureaucratie</a:t>
            </a:r>
            <a:r>
              <a:rPr lang="en-US" dirty="0">
                <a:sym typeface="Wingdings" pitchFamily="2" charset="2"/>
              </a:rPr>
              <a:t> (</a:t>
            </a:r>
            <a:r>
              <a:rPr lang="en-US" dirty="0" err="1">
                <a:sym typeface="Wingdings" pitchFamily="2" charset="2"/>
              </a:rPr>
              <a:t>technische</a:t>
            </a:r>
            <a:r>
              <a:rPr lang="en-US" dirty="0">
                <a:sym typeface="Wingdings" pitchFamily="2" charset="2"/>
              </a:rPr>
              <a:t> kern </a:t>
            </a:r>
            <a:r>
              <a:rPr lang="en-US" dirty="0" err="1">
                <a:sym typeface="Wingdings" pitchFamily="2" charset="2"/>
              </a:rPr>
              <a:t>en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standaardisatie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vaardigheden</a:t>
            </a:r>
            <a:r>
              <a:rPr lang="en-US" dirty="0">
                <a:sym typeface="Wingdings" pitchFamily="2" charset="2"/>
              </a:rPr>
              <a:t>)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 err="1">
                <a:sym typeface="Wingdings" pitchFamily="2" charset="2"/>
              </a:rPr>
              <a:t>Aansluiting</a:t>
            </a:r>
            <a:r>
              <a:rPr lang="en-US" dirty="0">
                <a:sym typeface="Wingdings" pitchFamily="2" charset="2"/>
              </a:rPr>
              <a:t> op </a:t>
            </a:r>
            <a:r>
              <a:rPr lang="en-US" dirty="0" err="1">
                <a:sym typeface="Wingdings" pitchFamily="2" charset="2"/>
              </a:rPr>
              <a:t>praktijk</a:t>
            </a:r>
            <a:endParaRPr lang="en-US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27934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861C13-8071-4D00-A4E6-562AF9E0A960}"/>
              </a:ext>
            </a:extLst>
          </p:cNvPr>
          <p:cNvSpPr txBox="1"/>
          <p:nvPr/>
        </p:nvSpPr>
        <p:spPr>
          <a:xfrm>
            <a:off x="388882" y="415776"/>
            <a:ext cx="1156138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ym typeface="Wingdings" pitchFamily="2" charset="2"/>
              </a:rPr>
              <a:t>Opleiding</a:t>
            </a:r>
            <a:r>
              <a:rPr lang="en-US" dirty="0">
                <a:sym typeface="Wingdings" pitchFamily="2" charset="2"/>
              </a:rPr>
              <a:t>: </a:t>
            </a:r>
            <a:r>
              <a:rPr lang="nl-NL" dirty="0"/>
              <a:t>Basis Controle &amp; Onderhoud, NS-onderhoudsmonteurs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Veiligheidsrisico’s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kennisbasis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belangrijk</a:t>
            </a:r>
            <a:r>
              <a:rPr lang="en-US" dirty="0">
                <a:sym typeface="Wingdings" pitchFamily="2" charset="2"/>
              </a:rPr>
              <a:t>  </a:t>
            </a:r>
            <a:r>
              <a:rPr lang="en-US" dirty="0" err="1">
                <a:sym typeface="Wingdings" pitchFamily="2" charset="2"/>
              </a:rPr>
              <a:t>theorieboek</a:t>
            </a:r>
            <a:endParaRPr lang="nl-NL" dirty="0"/>
          </a:p>
          <a:p>
            <a:endParaRPr lang="nl-NL" dirty="0"/>
          </a:p>
          <a:p>
            <a:r>
              <a:rPr lang="nl-NL" dirty="0"/>
              <a:t>Doelgroep: mbo-niveau 2</a:t>
            </a:r>
          </a:p>
          <a:p>
            <a:pPr marL="285750" indent="-285750">
              <a:buFontTx/>
              <a:buChar char="-"/>
            </a:pPr>
            <a:r>
              <a:rPr lang="nl-NL" dirty="0"/>
              <a:t>Praktisch ingesteld</a:t>
            </a:r>
          </a:p>
          <a:p>
            <a:pPr marL="285750" indent="-285750">
              <a:buFontTx/>
              <a:buChar char="-"/>
            </a:pPr>
            <a:r>
              <a:rPr lang="nl-NL" dirty="0"/>
              <a:t>Neurodivers (dyslexie, ADHD, autisme)</a:t>
            </a:r>
          </a:p>
          <a:p>
            <a:pPr marL="285750" indent="-285750">
              <a:buFontTx/>
              <a:buChar char="-"/>
            </a:pPr>
            <a:r>
              <a:rPr lang="nl-NL" dirty="0"/>
              <a:t>Haakt af op droge theorie</a:t>
            </a:r>
          </a:p>
          <a:p>
            <a:endParaRPr lang="nl-NL" dirty="0"/>
          </a:p>
          <a:p>
            <a:r>
              <a:rPr lang="nl-NL" dirty="0"/>
              <a:t>Theorie ook moeilijk toe te passen in praktijk</a:t>
            </a:r>
          </a:p>
          <a:p>
            <a:endParaRPr lang="nl-NL" dirty="0"/>
          </a:p>
          <a:p>
            <a:r>
              <a:rPr lang="en-US" dirty="0" err="1"/>
              <a:t>Opleiding</a:t>
            </a:r>
            <a:r>
              <a:rPr lang="en-US" dirty="0"/>
              <a:t> </a:t>
            </a:r>
            <a:r>
              <a:rPr lang="en-US" dirty="0" err="1"/>
              <a:t>herzien</a:t>
            </a:r>
            <a:r>
              <a:rPr lang="en-US" dirty="0"/>
              <a:t> </a:t>
            </a:r>
            <a:r>
              <a:rPr lang="en-US" dirty="0" err="1"/>
              <a:t>vanwege</a:t>
            </a:r>
            <a:r>
              <a:rPr lang="en-US" dirty="0"/>
              <a:t> </a:t>
            </a:r>
            <a:r>
              <a:rPr lang="en-US" dirty="0" err="1"/>
              <a:t>vraagstukken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ook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gelijk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didactisch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herzien</a:t>
            </a:r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 err="1">
                <a:sym typeface="Wingdings" pitchFamily="2" charset="2"/>
              </a:rPr>
              <a:t>Vraag</a:t>
            </a:r>
            <a:r>
              <a:rPr lang="en-US" dirty="0">
                <a:sym typeface="Wingdings" pitchFamily="2" charset="2"/>
              </a:rPr>
              <a:t>: </a:t>
            </a:r>
            <a:r>
              <a:rPr lang="en-US" dirty="0" err="1">
                <a:sym typeface="Wingdings" pitchFamily="2" charset="2"/>
              </a:rPr>
              <a:t>gamificatie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en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visualisatie</a:t>
            </a:r>
            <a:r>
              <a:rPr lang="en-US" dirty="0">
                <a:sym typeface="Wingdings" pitchFamily="2" charset="2"/>
              </a:rPr>
              <a:t>?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ym typeface="Wingdings" pitchFamily="2" charset="2"/>
              </a:rPr>
              <a:t>Motivatie</a:t>
            </a:r>
            <a:endParaRPr lang="en-US" dirty="0">
              <a:sym typeface="Wingdings" pitchFamily="2" charset="2"/>
            </a:endParaRPr>
          </a:p>
          <a:p>
            <a:pPr marL="285750" indent="-285750">
              <a:buFontTx/>
              <a:buChar char="-"/>
            </a:pPr>
            <a:r>
              <a:rPr lang="en-US" dirty="0" err="1">
                <a:sym typeface="Wingdings" pitchFamily="2" charset="2"/>
              </a:rPr>
              <a:t>Betekenisvolle</a:t>
            </a:r>
            <a:r>
              <a:rPr lang="en-US" dirty="0">
                <a:sym typeface="Wingdings" pitchFamily="2" charset="2"/>
              </a:rPr>
              <a:t> context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ym typeface="Wingdings" pitchFamily="2" charset="2"/>
              </a:rPr>
              <a:t>Leeropbrengsten</a:t>
            </a:r>
            <a:endParaRPr lang="en-US" dirty="0">
              <a:sym typeface="Wingdings" pitchFamily="2" charset="2"/>
            </a:endParaRPr>
          </a:p>
          <a:p>
            <a:pPr marL="285750" indent="-285750">
              <a:buFontTx/>
              <a:buChar char="-"/>
            </a:pPr>
            <a:r>
              <a:rPr lang="en-US" dirty="0" err="1">
                <a:sym typeface="Wingdings" pitchFamily="2" charset="2"/>
              </a:rPr>
              <a:t>Leerplezier</a:t>
            </a:r>
            <a:endParaRPr lang="en-US" dirty="0">
              <a:sym typeface="Wingdings" pitchFamily="2" charset="2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ym typeface="Wingdings" pitchFamily="2" charset="2"/>
              </a:rPr>
              <a:t>Transfer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629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F363B19-1520-58BC-5A65-9E435AC6011F}"/>
              </a:ext>
            </a:extLst>
          </p:cNvPr>
          <p:cNvSpPr txBox="1"/>
          <p:nvPr/>
        </p:nvSpPr>
        <p:spPr>
          <a:xfrm>
            <a:off x="488730" y="1063859"/>
            <a:ext cx="1121453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/>
              <a:t>Onderzoeksvraag</a:t>
            </a:r>
            <a:r>
              <a:rPr lang="en-US" sz="3600" b="1" dirty="0"/>
              <a:t>:</a:t>
            </a:r>
          </a:p>
          <a:p>
            <a:endParaRPr lang="en-US" sz="3600" dirty="0"/>
          </a:p>
          <a:p>
            <a:r>
              <a:rPr lang="en-US" sz="3600" dirty="0"/>
              <a:t>Hoe </a:t>
            </a:r>
            <a:r>
              <a:rPr lang="en-US" sz="3600" dirty="0" err="1"/>
              <a:t>kan</a:t>
            </a:r>
            <a:r>
              <a:rPr lang="en-US" sz="3600" dirty="0"/>
              <a:t> het L&amp;P-team van het NS </a:t>
            </a:r>
            <a:r>
              <a:rPr lang="en-US" sz="3600" dirty="0" err="1"/>
              <a:t>Leercentrum</a:t>
            </a:r>
            <a:r>
              <a:rPr lang="en-US" sz="3600" dirty="0"/>
              <a:t> </a:t>
            </a:r>
            <a:r>
              <a:rPr lang="en-US" sz="3600" dirty="0" err="1"/>
              <a:t>gamificatie</a:t>
            </a:r>
            <a:r>
              <a:rPr lang="en-US" sz="3600" dirty="0"/>
              <a:t> </a:t>
            </a:r>
            <a:r>
              <a:rPr lang="en-US" sz="3600" dirty="0" err="1"/>
              <a:t>en</a:t>
            </a:r>
            <a:r>
              <a:rPr lang="en-US" sz="3600" dirty="0"/>
              <a:t> </a:t>
            </a:r>
            <a:r>
              <a:rPr lang="en-US" sz="3600" dirty="0" err="1"/>
              <a:t>visualisatie</a:t>
            </a:r>
            <a:r>
              <a:rPr lang="en-US" sz="3600" dirty="0"/>
              <a:t> </a:t>
            </a:r>
            <a:r>
              <a:rPr lang="en-US" sz="3600" dirty="0" err="1"/>
              <a:t>inzetten</a:t>
            </a:r>
            <a:r>
              <a:rPr lang="en-US" sz="3600" dirty="0"/>
              <a:t> om het </a:t>
            </a:r>
            <a:r>
              <a:rPr lang="en-US" sz="3600" dirty="0" err="1"/>
              <a:t>lesmateriaal</a:t>
            </a:r>
            <a:r>
              <a:rPr lang="en-US" sz="3600" dirty="0"/>
              <a:t> </a:t>
            </a:r>
            <a:r>
              <a:rPr lang="en-US" sz="3600" dirty="0" err="1"/>
              <a:t>voor</a:t>
            </a:r>
            <a:r>
              <a:rPr lang="en-US" sz="3600" dirty="0"/>
              <a:t> de </a:t>
            </a:r>
            <a:r>
              <a:rPr lang="en-US" sz="3600" dirty="0" err="1"/>
              <a:t>opleiding</a:t>
            </a:r>
            <a:r>
              <a:rPr lang="en-US" sz="3600" dirty="0"/>
              <a:t> Service </a:t>
            </a:r>
            <a:r>
              <a:rPr lang="en-US" sz="3600" dirty="0" err="1"/>
              <a:t>en</a:t>
            </a:r>
            <a:r>
              <a:rPr lang="en-US" sz="3600" dirty="0"/>
              <a:t> </a:t>
            </a:r>
            <a:r>
              <a:rPr lang="en-US" sz="3600" dirty="0" err="1"/>
              <a:t>Onderhoud</a:t>
            </a:r>
            <a:r>
              <a:rPr lang="en-US" sz="3600" dirty="0"/>
              <a:t> </a:t>
            </a:r>
            <a:r>
              <a:rPr lang="en-US" sz="3600" dirty="0" err="1"/>
              <a:t>te</a:t>
            </a:r>
            <a:r>
              <a:rPr lang="en-US" sz="3600" dirty="0"/>
              <a:t> </a:t>
            </a:r>
            <a:r>
              <a:rPr lang="en-US" sz="3600" dirty="0" err="1"/>
              <a:t>herontwikkelen</a:t>
            </a:r>
            <a:r>
              <a:rPr lang="en-US" sz="3600" dirty="0"/>
              <a:t> </a:t>
            </a:r>
            <a:r>
              <a:rPr lang="en-US" sz="3600" dirty="0" err="1"/>
              <a:t>zodat</a:t>
            </a:r>
            <a:r>
              <a:rPr lang="en-US" sz="3600" dirty="0"/>
              <a:t> het </a:t>
            </a:r>
            <a:r>
              <a:rPr lang="en-US" sz="3600" dirty="0" err="1"/>
              <a:t>leeropbrengsten</a:t>
            </a:r>
            <a:r>
              <a:rPr lang="en-US" sz="3600" dirty="0"/>
              <a:t>, transfer </a:t>
            </a:r>
            <a:r>
              <a:rPr lang="en-US" sz="3600" dirty="0" err="1"/>
              <a:t>en</a:t>
            </a:r>
            <a:r>
              <a:rPr lang="en-US" sz="3600" dirty="0"/>
              <a:t> </a:t>
            </a:r>
            <a:r>
              <a:rPr lang="en-US" sz="3600" dirty="0" err="1"/>
              <a:t>leerplezier</a:t>
            </a:r>
            <a:r>
              <a:rPr lang="en-US" sz="3600" dirty="0"/>
              <a:t> </a:t>
            </a:r>
            <a:r>
              <a:rPr lang="en-US" sz="3600" dirty="0" err="1"/>
              <a:t>verbetert</a:t>
            </a:r>
            <a:r>
              <a:rPr lang="en-US" sz="3600" dirty="0"/>
              <a:t> </a:t>
            </a:r>
            <a:r>
              <a:rPr lang="en-US" sz="3600" dirty="0" err="1"/>
              <a:t>voor</a:t>
            </a:r>
            <a:r>
              <a:rPr lang="en-US" sz="3600" dirty="0"/>
              <a:t> </a:t>
            </a:r>
            <a:r>
              <a:rPr lang="en-US" sz="3600" dirty="0" err="1"/>
              <a:t>studenten</a:t>
            </a:r>
            <a:r>
              <a:rPr lang="en-US" sz="3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98216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DE94A-8DE1-CF5E-49CC-283DCEA82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Theorie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46F74-DE72-73D8-D19B-E09CF81EA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Gamificatie</a:t>
            </a:r>
            <a:endParaRPr lang="en-US" dirty="0"/>
          </a:p>
          <a:p>
            <a:r>
              <a:rPr lang="en-US" dirty="0"/>
              <a:t>Self-efficacy</a:t>
            </a:r>
          </a:p>
          <a:p>
            <a:r>
              <a:rPr lang="en-US" dirty="0"/>
              <a:t>Self-determination</a:t>
            </a:r>
          </a:p>
          <a:p>
            <a:r>
              <a:rPr lang="en-US" dirty="0" err="1"/>
              <a:t>Constructivisme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440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134</Words>
  <Application>Microsoft Macintosh PowerPoint</Application>
  <PresentationFormat>Widescreen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Theorie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Robin Boers</dc:creator>
  <cp:lastModifiedBy>Robin Boers</cp:lastModifiedBy>
  <cp:revision>4</cp:revision>
  <dcterms:created xsi:type="dcterms:W3CDTF">2026-02-16T13:19:26Z</dcterms:created>
  <dcterms:modified xsi:type="dcterms:W3CDTF">2026-02-16T17:49:58Z</dcterms:modified>
</cp:coreProperties>
</file>