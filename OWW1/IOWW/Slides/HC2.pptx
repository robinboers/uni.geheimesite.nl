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heme/themeOverride1.xml" ContentType="application/vnd.openxmlformats-officedocument.themeOverr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73" r:id="rId2"/>
    <p:sldMasterId id="2147483686" r:id="rId3"/>
  </p:sldMasterIdLst>
  <p:notesMasterIdLst>
    <p:notesMasterId r:id="rId38"/>
  </p:notesMasterIdLst>
  <p:handoutMasterIdLst>
    <p:handoutMasterId r:id="rId39"/>
  </p:handoutMasterIdLst>
  <p:sldIdLst>
    <p:sldId id="256" r:id="rId4"/>
    <p:sldId id="523" r:id="rId5"/>
    <p:sldId id="524" r:id="rId6"/>
    <p:sldId id="622" r:id="rId7"/>
    <p:sldId id="476" r:id="rId8"/>
    <p:sldId id="525" r:id="rId9"/>
    <p:sldId id="648" r:id="rId10"/>
    <p:sldId id="526" r:id="rId11"/>
    <p:sldId id="649" r:id="rId12"/>
    <p:sldId id="527" r:id="rId13"/>
    <p:sldId id="528" r:id="rId14"/>
    <p:sldId id="529" r:id="rId15"/>
    <p:sldId id="530" r:id="rId16"/>
    <p:sldId id="542" r:id="rId17"/>
    <p:sldId id="543" r:id="rId18"/>
    <p:sldId id="631" r:id="rId19"/>
    <p:sldId id="632" r:id="rId20"/>
    <p:sldId id="550" r:id="rId21"/>
    <p:sldId id="552" r:id="rId22"/>
    <p:sldId id="647" r:id="rId23"/>
    <p:sldId id="559" r:id="rId24"/>
    <p:sldId id="561" r:id="rId25"/>
    <p:sldId id="569" r:id="rId26"/>
    <p:sldId id="621" r:id="rId27"/>
    <p:sldId id="570" r:id="rId28"/>
    <p:sldId id="571" r:id="rId29"/>
    <p:sldId id="642" r:id="rId30"/>
    <p:sldId id="573" r:id="rId31"/>
    <p:sldId id="638" r:id="rId32"/>
    <p:sldId id="652" r:id="rId33"/>
    <p:sldId id="583" r:id="rId34"/>
    <p:sldId id="589" r:id="rId35"/>
    <p:sldId id="615" r:id="rId36"/>
    <p:sldId id="618" r:id="rId37"/>
  </p:sldIdLst>
  <p:sldSz cx="12195175" cy="6858000"/>
  <p:notesSz cx="6805613" cy="9944100"/>
  <p:defaultTextStyle>
    <a:defPPr lvl="0">
      <a:defRPr lang="nl-NL"/>
    </a:defPPr>
    <a:lvl1pPr marL="0" lvl="1" algn="l" defTabSz="914400" rtl="0" eaLnBrk="1" latinLnBrk="0" hangingPunct="1">
      <a:defRPr sz="1800" kern="1200">
        <a:solidFill>
          <a:schemeClr val="tx1"/>
        </a:solidFill>
        <a:latin typeface="+mn-lt"/>
        <a:ea typeface="+mn-ea"/>
        <a:cs typeface="+mn-cs"/>
      </a:defRPr>
    </a:lvl1pPr>
    <a:lvl2pPr marL="457200" lvl="2" algn="l" defTabSz="914400" rtl="0" eaLnBrk="1" latinLnBrk="0" hangingPunct="1">
      <a:defRPr sz="1800" kern="1200">
        <a:solidFill>
          <a:schemeClr val="tx1"/>
        </a:solidFill>
        <a:latin typeface="+mn-lt"/>
        <a:ea typeface="+mn-ea"/>
        <a:cs typeface="+mn-cs"/>
      </a:defRPr>
    </a:lvl2pPr>
    <a:lvl3pPr marL="914400" lvl="3" algn="l" defTabSz="914400" rtl="0" eaLnBrk="1" latinLnBrk="0" hangingPunct="1">
      <a:defRPr sz="1800" kern="1200">
        <a:solidFill>
          <a:schemeClr val="tx1"/>
        </a:solidFill>
        <a:latin typeface="+mn-lt"/>
        <a:ea typeface="+mn-ea"/>
        <a:cs typeface="+mn-cs"/>
      </a:defRPr>
    </a:lvl3pPr>
    <a:lvl4pPr marL="1371600" lvl="4"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25" userDrawn="1">
          <p15:clr>
            <a:srgbClr val="A4A3A4"/>
          </p15:clr>
        </p15:guide>
        <p15:guide id="2" orient="horz" pos="4065" userDrawn="1">
          <p15:clr>
            <a:srgbClr val="A4A3A4"/>
          </p15:clr>
        </p15:guide>
        <p15:guide id="3" orient="horz" pos="989">
          <p15:clr>
            <a:srgbClr val="A4A3A4"/>
          </p15:clr>
        </p15:guide>
        <p15:guide id="4" orient="horz" pos="2682">
          <p15:clr>
            <a:srgbClr val="A4A3A4"/>
          </p15:clr>
        </p15:guide>
        <p15:guide id="5" orient="horz" pos="104">
          <p15:clr>
            <a:srgbClr val="A4A3A4"/>
          </p15:clr>
        </p15:guide>
        <p15:guide id="6" orient="horz" pos="2387" userDrawn="1">
          <p15:clr>
            <a:srgbClr val="A4A3A4"/>
          </p15:clr>
        </p15:guide>
        <p15:guide id="7" orient="horz" pos="3158" userDrawn="1">
          <p15:clr>
            <a:srgbClr val="A4A3A4"/>
          </p15:clr>
        </p15:guide>
        <p15:guide id="8" orient="horz" pos="1074">
          <p15:clr>
            <a:srgbClr val="A4A3A4"/>
          </p15:clr>
        </p15:guide>
        <p15:guide id="9" orient="horz" pos="3612" userDrawn="1">
          <p15:clr>
            <a:srgbClr val="A4A3A4"/>
          </p15:clr>
        </p15:guide>
        <p15:guide id="10" pos="1210" userDrawn="1">
          <p15:clr>
            <a:srgbClr val="A4A3A4"/>
          </p15:clr>
        </p15:guide>
        <p15:guide id="11" pos="711" userDrawn="1">
          <p15:clr>
            <a:srgbClr val="A4A3A4"/>
          </p15:clr>
        </p15:guide>
        <p15:guide id="12" pos="7288" userDrawn="1">
          <p15:clr>
            <a:srgbClr val="A4A3A4"/>
          </p15:clr>
        </p15:guide>
        <p15:guide id="13" pos="1604">
          <p15:clr>
            <a:srgbClr val="A4A3A4"/>
          </p15:clr>
        </p15:guide>
        <p15:guide id="14" pos="6563" userDrawn="1">
          <p15:clr>
            <a:srgbClr val="A4A3A4"/>
          </p15:clr>
        </p15:guide>
        <p15:guide id="15" pos="5282">
          <p15:clr>
            <a:srgbClr val="A4A3A4"/>
          </p15:clr>
        </p15:guide>
        <p15:guide id="16" pos="1482" userDrawn="1">
          <p15:clr>
            <a:srgbClr val="A4A3A4"/>
          </p15:clr>
        </p15:guide>
        <p15:guide id="17" pos="6653" userDrawn="1">
          <p15:clr>
            <a:srgbClr val="A4A3A4"/>
          </p15:clr>
        </p15:guide>
        <p15:guide id="18" pos="361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7B7FF"/>
    <a:srgbClr val="FF66FF"/>
    <a:srgbClr val="FFCD00"/>
    <a:srgbClr val="FFFFFF"/>
    <a:srgbClr val="000000"/>
    <a:srgbClr val="211C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5812AD-1094-4DDC-9DA8-D165448C06EA}" v="5" dt="2025-09-16T11:36:18.8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53" autoAdjust="0"/>
    <p:restoredTop sz="84795" autoAdjust="0"/>
  </p:normalViewPr>
  <p:slideViewPr>
    <p:cSldViewPr>
      <p:cViewPr varScale="1">
        <p:scale>
          <a:sx n="90" d="100"/>
          <a:sy n="90" d="100"/>
        </p:scale>
        <p:origin x="1230" y="84"/>
      </p:cViewPr>
      <p:guideLst>
        <p:guide orient="horz" pos="1525"/>
        <p:guide orient="horz" pos="4065"/>
        <p:guide orient="horz" pos="989"/>
        <p:guide orient="horz" pos="2682"/>
        <p:guide orient="horz" pos="104"/>
        <p:guide orient="horz" pos="2387"/>
        <p:guide orient="horz" pos="3158"/>
        <p:guide orient="horz" pos="1074"/>
        <p:guide orient="horz" pos="3612"/>
        <p:guide pos="1210"/>
        <p:guide pos="711"/>
        <p:guide pos="7288"/>
        <p:guide pos="1604"/>
        <p:guide pos="6563"/>
        <p:guide pos="5282"/>
        <p:guide pos="1482"/>
        <p:guide pos="6653"/>
        <p:guide pos="3614"/>
      </p:guideLst>
    </p:cSldViewPr>
  </p:slideViewPr>
  <p:notesTextViewPr>
    <p:cViewPr>
      <p:scale>
        <a:sx n="3" d="2"/>
        <a:sy n="3" d="2"/>
      </p:scale>
      <p:origin x="0" y="0"/>
    </p:cViewPr>
  </p:notesTextViewPr>
  <p:notesViewPr>
    <p:cSldViewPr>
      <p:cViewPr varScale="1">
        <p:scale>
          <a:sx n="112" d="100"/>
          <a:sy n="112" d="100"/>
        </p:scale>
        <p:origin x="3112"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handoutMaster" Target="handoutMasters/handout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 Id="rId20" Type="http://schemas.openxmlformats.org/officeDocument/2006/relationships/slide" Target="slides/slide17.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ssen, J.J.H.M. (Jeroen)" userId="7d9b97d4-99e3-431a-8888-59607a6546e3" providerId="ADAL" clId="{199278F3-A256-4E23-A0F9-FAF77553782B}"/>
    <pc:docChg chg="undo custSel delSld modSld">
      <pc:chgData name="Janssen, J.J.H.M. (Jeroen)" userId="7d9b97d4-99e3-431a-8888-59607a6546e3" providerId="ADAL" clId="{199278F3-A256-4E23-A0F9-FAF77553782B}" dt="2025-09-16T11:38:05.437" v="36" actId="47"/>
      <pc:docMkLst>
        <pc:docMk/>
      </pc:docMkLst>
      <pc:sldChg chg="modSp mod">
        <pc:chgData name="Janssen, J.J.H.M. (Jeroen)" userId="7d9b97d4-99e3-431a-8888-59607a6546e3" providerId="ADAL" clId="{199278F3-A256-4E23-A0F9-FAF77553782B}" dt="2025-09-16T11:35:14.418" v="8" actId="20577"/>
        <pc:sldMkLst>
          <pc:docMk/>
          <pc:sldMk cId="475095671" sldId="527"/>
        </pc:sldMkLst>
        <pc:spChg chg="mod">
          <ac:chgData name="Janssen, J.J.H.M. (Jeroen)" userId="7d9b97d4-99e3-431a-8888-59607a6546e3" providerId="ADAL" clId="{199278F3-A256-4E23-A0F9-FAF77553782B}" dt="2025-09-16T11:35:14.418" v="8" actId="20577"/>
          <ac:spMkLst>
            <pc:docMk/>
            <pc:sldMk cId="475095671" sldId="527"/>
            <ac:spMk id="4" creationId="{6C142818-AA1C-49CD-A5A4-05FB094E4E6F}"/>
          </ac:spMkLst>
        </pc:spChg>
      </pc:sldChg>
      <pc:sldChg chg="del">
        <pc:chgData name="Janssen, J.J.H.M. (Jeroen)" userId="7d9b97d4-99e3-431a-8888-59607a6546e3" providerId="ADAL" clId="{199278F3-A256-4E23-A0F9-FAF77553782B}" dt="2025-09-16T11:35:20.450" v="9" actId="47"/>
        <pc:sldMkLst>
          <pc:docMk/>
          <pc:sldMk cId="1310239540" sldId="533"/>
        </pc:sldMkLst>
      </pc:sldChg>
      <pc:sldChg chg="del">
        <pc:chgData name="Janssen, J.J.H.M. (Jeroen)" userId="7d9b97d4-99e3-431a-8888-59607a6546e3" providerId="ADAL" clId="{199278F3-A256-4E23-A0F9-FAF77553782B}" dt="2025-09-16T11:34:35.548" v="0" actId="47"/>
        <pc:sldMkLst>
          <pc:docMk/>
          <pc:sldMk cId="1177962996" sldId="534"/>
        </pc:sldMkLst>
      </pc:sldChg>
      <pc:sldChg chg="addSp modSp mod">
        <pc:chgData name="Janssen, J.J.H.M. (Jeroen)" userId="7d9b97d4-99e3-431a-8888-59607a6546e3" providerId="ADAL" clId="{199278F3-A256-4E23-A0F9-FAF77553782B}" dt="2025-09-16T11:37:02.420" v="25" actId="1076"/>
        <pc:sldMkLst>
          <pc:docMk/>
          <pc:sldMk cId="4266652772" sldId="552"/>
        </pc:sldMkLst>
        <pc:spChg chg="add mod">
          <ac:chgData name="Janssen, J.J.H.M. (Jeroen)" userId="7d9b97d4-99e3-431a-8888-59607a6546e3" providerId="ADAL" clId="{199278F3-A256-4E23-A0F9-FAF77553782B}" dt="2025-09-16T11:36:03.731" v="12"/>
          <ac:spMkLst>
            <pc:docMk/>
            <pc:sldMk cId="4266652772" sldId="552"/>
            <ac:spMk id="3" creationId="{3D451061-657E-99C9-DEFE-530203C160F2}"/>
          </ac:spMkLst>
        </pc:spChg>
        <pc:spChg chg="add mod">
          <ac:chgData name="Janssen, J.J.H.M. (Jeroen)" userId="7d9b97d4-99e3-431a-8888-59607a6546e3" providerId="ADAL" clId="{199278F3-A256-4E23-A0F9-FAF77553782B}" dt="2025-09-16T11:36:10.943" v="13"/>
          <ac:spMkLst>
            <pc:docMk/>
            <pc:sldMk cId="4266652772" sldId="552"/>
            <ac:spMk id="8" creationId="{DD470036-F869-315E-CFAB-08D827DAAC3A}"/>
          </ac:spMkLst>
        </pc:spChg>
        <pc:spChg chg="add mod">
          <ac:chgData name="Janssen, J.J.H.M. (Jeroen)" userId="7d9b97d4-99e3-431a-8888-59607a6546e3" providerId="ADAL" clId="{199278F3-A256-4E23-A0F9-FAF77553782B}" dt="2025-09-16T11:37:02.420" v="25" actId="1076"/>
          <ac:spMkLst>
            <pc:docMk/>
            <pc:sldMk cId="4266652772" sldId="552"/>
            <ac:spMk id="10" creationId="{F11F8C16-2BE3-B577-C168-FC1482581229}"/>
          </ac:spMkLst>
        </pc:spChg>
        <pc:picChg chg="add mod">
          <ac:chgData name="Janssen, J.J.H.M. (Jeroen)" userId="7d9b97d4-99e3-431a-8888-59607a6546e3" providerId="ADAL" clId="{199278F3-A256-4E23-A0F9-FAF77553782B}" dt="2025-09-16T11:36:03.731" v="12"/>
          <ac:picMkLst>
            <pc:docMk/>
            <pc:sldMk cId="4266652772" sldId="552"/>
            <ac:picMk id="2" creationId="{47CDC556-AF3E-A6F4-32D5-72F35A1FA5C5}"/>
          </ac:picMkLst>
        </pc:picChg>
        <pc:picChg chg="add mod">
          <ac:chgData name="Janssen, J.J.H.M. (Jeroen)" userId="7d9b97d4-99e3-431a-8888-59607a6546e3" providerId="ADAL" clId="{199278F3-A256-4E23-A0F9-FAF77553782B}" dt="2025-09-16T11:36:10.943" v="13"/>
          <ac:picMkLst>
            <pc:docMk/>
            <pc:sldMk cId="4266652772" sldId="552"/>
            <ac:picMk id="7" creationId="{D6F14D41-9FEA-285D-84D6-514B1C61F584}"/>
          </ac:picMkLst>
        </pc:picChg>
        <pc:picChg chg="add mod">
          <ac:chgData name="Janssen, J.J.H.M. (Jeroen)" userId="7d9b97d4-99e3-431a-8888-59607a6546e3" providerId="ADAL" clId="{199278F3-A256-4E23-A0F9-FAF77553782B}" dt="2025-09-16T11:36:57.901" v="24" actId="688"/>
          <ac:picMkLst>
            <pc:docMk/>
            <pc:sldMk cId="4266652772" sldId="552"/>
            <ac:picMk id="9" creationId="{E374AC92-789A-DA49-BE9D-66DDC4990606}"/>
          </ac:picMkLst>
        </pc:picChg>
      </pc:sldChg>
      <pc:sldChg chg="del">
        <pc:chgData name="Janssen, J.J.H.M. (Jeroen)" userId="7d9b97d4-99e3-431a-8888-59607a6546e3" providerId="ADAL" clId="{199278F3-A256-4E23-A0F9-FAF77553782B}" dt="2025-09-16T11:37:12.623" v="27" actId="47"/>
        <pc:sldMkLst>
          <pc:docMk/>
          <pc:sldMk cId="624707018" sldId="553"/>
        </pc:sldMkLst>
      </pc:sldChg>
      <pc:sldChg chg="del">
        <pc:chgData name="Janssen, J.J.H.M. (Jeroen)" userId="7d9b97d4-99e3-431a-8888-59607a6546e3" providerId="ADAL" clId="{199278F3-A256-4E23-A0F9-FAF77553782B}" dt="2025-09-16T11:37:12.623" v="27" actId="47"/>
        <pc:sldMkLst>
          <pc:docMk/>
          <pc:sldMk cId="3245657351" sldId="554"/>
        </pc:sldMkLst>
      </pc:sldChg>
      <pc:sldChg chg="del">
        <pc:chgData name="Janssen, J.J.H.M. (Jeroen)" userId="7d9b97d4-99e3-431a-8888-59607a6546e3" providerId="ADAL" clId="{199278F3-A256-4E23-A0F9-FAF77553782B}" dt="2025-09-16T11:37:12.623" v="27" actId="47"/>
        <pc:sldMkLst>
          <pc:docMk/>
          <pc:sldMk cId="796877545" sldId="555"/>
        </pc:sldMkLst>
      </pc:sldChg>
      <pc:sldChg chg="del">
        <pc:chgData name="Janssen, J.J.H.M. (Jeroen)" userId="7d9b97d4-99e3-431a-8888-59607a6546e3" providerId="ADAL" clId="{199278F3-A256-4E23-A0F9-FAF77553782B}" dt="2025-09-16T11:37:28.696" v="30" actId="47"/>
        <pc:sldMkLst>
          <pc:docMk/>
          <pc:sldMk cId="3261888984" sldId="565"/>
        </pc:sldMkLst>
      </pc:sldChg>
      <pc:sldChg chg="del">
        <pc:chgData name="Janssen, J.J.H.M. (Jeroen)" userId="7d9b97d4-99e3-431a-8888-59607a6546e3" providerId="ADAL" clId="{199278F3-A256-4E23-A0F9-FAF77553782B}" dt="2025-09-16T11:37:28.696" v="30" actId="47"/>
        <pc:sldMkLst>
          <pc:docMk/>
          <pc:sldMk cId="795916920" sldId="566"/>
        </pc:sldMkLst>
      </pc:sldChg>
      <pc:sldChg chg="del">
        <pc:chgData name="Janssen, J.J.H.M. (Jeroen)" userId="7d9b97d4-99e3-431a-8888-59607a6546e3" providerId="ADAL" clId="{199278F3-A256-4E23-A0F9-FAF77553782B}" dt="2025-09-16T11:37:28.696" v="30" actId="47"/>
        <pc:sldMkLst>
          <pc:docMk/>
          <pc:sldMk cId="3073927186" sldId="567"/>
        </pc:sldMkLst>
      </pc:sldChg>
      <pc:sldChg chg="del">
        <pc:chgData name="Janssen, J.J.H.M. (Jeroen)" userId="7d9b97d4-99e3-431a-8888-59607a6546e3" providerId="ADAL" clId="{199278F3-A256-4E23-A0F9-FAF77553782B}" dt="2025-09-16T11:37:28.696" v="30" actId="47"/>
        <pc:sldMkLst>
          <pc:docMk/>
          <pc:sldMk cId="2811406448" sldId="568"/>
        </pc:sldMkLst>
      </pc:sldChg>
      <pc:sldChg chg="del">
        <pc:chgData name="Janssen, J.J.H.M. (Jeroen)" userId="7d9b97d4-99e3-431a-8888-59607a6546e3" providerId="ADAL" clId="{199278F3-A256-4E23-A0F9-FAF77553782B}" dt="2025-09-16T11:37:57.295" v="33" actId="47"/>
        <pc:sldMkLst>
          <pc:docMk/>
          <pc:sldMk cId="1238358979" sldId="572"/>
        </pc:sldMkLst>
      </pc:sldChg>
      <pc:sldChg chg="del">
        <pc:chgData name="Janssen, J.J.H.M. (Jeroen)" userId="7d9b97d4-99e3-431a-8888-59607a6546e3" providerId="ADAL" clId="{199278F3-A256-4E23-A0F9-FAF77553782B}" dt="2025-09-16T11:38:05.437" v="36" actId="47"/>
        <pc:sldMkLst>
          <pc:docMk/>
          <pc:sldMk cId="2402600154" sldId="620"/>
        </pc:sldMkLst>
      </pc:sldChg>
      <pc:sldChg chg="del">
        <pc:chgData name="Janssen, J.J.H.M. (Jeroen)" userId="7d9b97d4-99e3-431a-8888-59607a6546e3" providerId="ADAL" clId="{199278F3-A256-4E23-A0F9-FAF77553782B}" dt="2025-09-16T11:34:35.548" v="0" actId="47"/>
        <pc:sldMkLst>
          <pc:docMk/>
          <pc:sldMk cId="3040110244" sldId="623"/>
        </pc:sldMkLst>
      </pc:sldChg>
      <pc:sldChg chg="del">
        <pc:chgData name="Janssen, J.J.H.M. (Jeroen)" userId="7d9b97d4-99e3-431a-8888-59607a6546e3" providerId="ADAL" clId="{199278F3-A256-4E23-A0F9-FAF77553782B}" dt="2025-09-16T11:34:35.548" v="0" actId="47"/>
        <pc:sldMkLst>
          <pc:docMk/>
          <pc:sldMk cId="356833666" sldId="624"/>
        </pc:sldMkLst>
      </pc:sldChg>
      <pc:sldChg chg="del">
        <pc:chgData name="Janssen, J.J.H.M. (Jeroen)" userId="7d9b97d4-99e3-431a-8888-59607a6546e3" providerId="ADAL" clId="{199278F3-A256-4E23-A0F9-FAF77553782B}" dt="2025-09-16T11:34:35.548" v="0" actId="47"/>
        <pc:sldMkLst>
          <pc:docMk/>
          <pc:sldMk cId="3941936560" sldId="625"/>
        </pc:sldMkLst>
      </pc:sldChg>
      <pc:sldChg chg="del">
        <pc:chgData name="Janssen, J.J.H.M. (Jeroen)" userId="7d9b97d4-99e3-431a-8888-59607a6546e3" providerId="ADAL" clId="{199278F3-A256-4E23-A0F9-FAF77553782B}" dt="2025-09-16T11:34:36.872" v="1" actId="47"/>
        <pc:sldMkLst>
          <pc:docMk/>
          <pc:sldMk cId="2766974950" sldId="626"/>
        </pc:sldMkLst>
      </pc:sldChg>
      <pc:sldChg chg="del">
        <pc:chgData name="Janssen, J.J.H.M. (Jeroen)" userId="7d9b97d4-99e3-431a-8888-59607a6546e3" providerId="ADAL" clId="{199278F3-A256-4E23-A0F9-FAF77553782B}" dt="2025-09-16T11:35:23.185" v="10" actId="47"/>
        <pc:sldMkLst>
          <pc:docMk/>
          <pc:sldMk cId="2608307271" sldId="627"/>
        </pc:sldMkLst>
      </pc:sldChg>
      <pc:sldChg chg="del">
        <pc:chgData name="Janssen, J.J.H.M. (Jeroen)" userId="7d9b97d4-99e3-431a-8888-59607a6546e3" providerId="ADAL" clId="{199278F3-A256-4E23-A0F9-FAF77553782B}" dt="2025-09-16T11:37:09.489" v="26" actId="47"/>
        <pc:sldMkLst>
          <pc:docMk/>
          <pc:sldMk cId="3131653703" sldId="628"/>
        </pc:sldMkLst>
      </pc:sldChg>
      <pc:sldChg chg="del">
        <pc:chgData name="Janssen, J.J.H.M. (Jeroen)" userId="7d9b97d4-99e3-431a-8888-59607a6546e3" providerId="ADAL" clId="{199278F3-A256-4E23-A0F9-FAF77553782B}" dt="2025-09-16T11:37:20.698" v="29" actId="47"/>
        <pc:sldMkLst>
          <pc:docMk/>
          <pc:sldMk cId="3908269" sldId="629"/>
        </pc:sldMkLst>
      </pc:sldChg>
      <pc:sldChg chg="del">
        <pc:chgData name="Janssen, J.J.H.M. (Jeroen)" userId="7d9b97d4-99e3-431a-8888-59607a6546e3" providerId="ADAL" clId="{199278F3-A256-4E23-A0F9-FAF77553782B}" dt="2025-09-16T11:35:43.545" v="11" actId="47"/>
        <pc:sldMkLst>
          <pc:docMk/>
          <pc:sldMk cId="2773092194" sldId="633"/>
        </pc:sldMkLst>
      </pc:sldChg>
      <pc:sldChg chg="del">
        <pc:chgData name="Janssen, J.J.H.M. (Jeroen)" userId="7d9b97d4-99e3-431a-8888-59607a6546e3" providerId="ADAL" clId="{199278F3-A256-4E23-A0F9-FAF77553782B}" dt="2025-09-16T11:35:43.545" v="11" actId="47"/>
        <pc:sldMkLst>
          <pc:docMk/>
          <pc:sldMk cId="73254026" sldId="634"/>
        </pc:sldMkLst>
      </pc:sldChg>
      <pc:sldChg chg="del">
        <pc:chgData name="Janssen, J.J.H.M. (Jeroen)" userId="7d9b97d4-99e3-431a-8888-59607a6546e3" providerId="ADAL" clId="{199278F3-A256-4E23-A0F9-FAF77553782B}" dt="2025-09-16T11:35:43.545" v="11" actId="47"/>
        <pc:sldMkLst>
          <pc:docMk/>
          <pc:sldMk cId="1260189833" sldId="635"/>
        </pc:sldMkLst>
      </pc:sldChg>
      <pc:sldChg chg="del">
        <pc:chgData name="Janssen, J.J.H.M. (Jeroen)" userId="7d9b97d4-99e3-431a-8888-59607a6546e3" providerId="ADAL" clId="{199278F3-A256-4E23-A0F9-FAF77553782B}" dt="2025-09-16T11:35:43.545" v="11" actId="47"/>
        <pc:sldMkLst>
          <pc:docMk/>
          <pc:sldMk cId="2107514114" sldId="636"/>
        </pc:sldMkLst>
      </pc:sldChg>
      <pc:sldChg chg="del">
        <pc:chgData name="Janssen, J.J.H.M. (Jeroen)" userId="7d9b97d4-99e3-431a-8888-59607a6546e3" providerId="ADAL" clId="{199278F3-A256-4E23-A0F9-FAF77553782B}" dt="2025-09-16T11:37:28.696" v="30" actId="47"/>
        <pc:sldMkLst>
          <pc:docMk/>
          <pc:sldMk cId="1163340013" sldId="637"/>
        </pc:sldMkLst>
      </pc:sldChg>
      <pc:sldChg chg="del">
        <pc:chgData name="Janssen, J.J.H.M. (Jeroen)" userId="7d9b97d4-99e3-431a-8888-59607a6546e3" providerId="ADAL" clId="{199278F3-A256-4E23-A0F9-FAF77553782B}" dt="2025-09-16T11:38:02.919" v="35" actId="47"/>
        <pc:sldMkLst>
          <pc:docMk/>
          <pc:sldMk cId="2621084349" sldId="639"/>
        </pc:sldMkLst>
      </pc:sldChg>
      <pc:sldChg chg="del">
        <pc:chgData name="Janssen, J.J.H.M. (Jeroen)" userId="7d9b97d4-99e3-431a-8888-59607a6546e3" providerId="ADAL" clId="{199278F3-A256-4E23-A0F9-FAF77553782B}" dt="2025-09-16T11:38:01.422" v="34" actId="47"/>
        <pc:sldMkLst>
          <pc:docMk/>
          <pc:sldMk cId="1558345306" sldId="640"/>
        </pc:sldMkLst>
      </pc:sldChg>
      <pc:sldChg chg="del">
        <pc:chgData name="Janssen, J.J.H.M. (Jeroen)" userId="7d9b97d4-99e3-431a-8888-59607a6546e3" providerId="ADAL" clId="{199278F3-A256-4E23-A0F9-FAF77553782B}" dt="2025-09-16T11:37:53.597" v="32" actId="47"/>
        <pc:sldMkLst>
          <pc:docMk/>
          <pc:sldMk cId="4210980022" sldId="641"/>
        </pc:sldMkLst>
      </pc:sldChg>
      <pc:sldChg chg="del">
        <pc:chgData name="Janssen, J.J.H.M. (Jeroen)" userId="7d9b97d4-99e3-431a-8888-59607a6546e3" providerId="ADAL" clId="{199278F3-A256-4E23-A0F9-FAF77553782B}" dt="2025-09-16T11:37:53.597" v="32" actId="47"/>
        <pc:sldMkLst>
          <pc:docMk/>
          <pc:sldMk cId="2811012481" sldId="643"/>
        </pc:sldMkLst>
      </pc:sldChg>
      <pc:sldChg chg="del">
        <pc:chgData name="Janssen, J.J.H.M. (Jeroen)" userId="7d9b97d4-99e3-431a-8888-59607a6546e3" providerId="ADAL" clId="{199278F3-A256-4E23-A0F9-FAF77553782B}" dt="2025-09-16T11:37:53.597" v="32" actId="47"/>
        <pc:sldMkLst>
          <pc:docMk/>
          <pc:sldMk cId="3104629258" sldId="644"/>
        </pc:sldMkLst>
      </pc:sldChg>
      <pc:sldChg chg="del">
        <pc:chgData name="Janssen, J.J.H.M. (Jeroen)" userId="7d9b97d4-99e3-431a-8888-59607a6546e3" providerId="ADAL" clId="{199278F3-A256-4E23-A0F9-FAF77553782B}" dt="2025-09-16T11:37:41.541" v="31" actId="47"/>
        <pc:sldMkLst>
          <pc:docMk/>
          <pc:sldMk cId="2167468602" sldId="645"/>
        </pc:sldMkLst>
      </pc:sldChg>
      <pc:sldChg chg="del">
        <pc:chgData name="Janssen, J.J.H.M. (Jeroen)" userId="7d9b97d4-99e3-431a-8888-59607a6546e3" providerId="ADAL" clId="{199278F3-A256-4E23-A0F9-FAF77553782B}" dt="2025-09-16T11:37:18.943" v="28" actId="47"/>
        <pc:sldMkLst>
          <pc:docMk/>
          <pc:sldMk cId="2425500362" sldId="646"/>
        </pc:sldMkLst>
      </pc:sldChg>
      <pc:sldChg chg="addSp modSp mod">
        <pc:chgData name="Janssen, J.J.H.M. (Jeroen)" userId="7d9b97d4-99e3-431a-8888-59607a6546e3" providerId="ADAL" clId="{199278F3-A256-4E23-A0F9-FAF77553782B}" dt="2025-09-16T11:35:04.702" v="5" actId="1076"/>
        <pc:sldMkLst>
          <pc:docMk/>
          <pc:sldMk cId="2960143160" sldId="649"/>
        </pc:sldMkLst>
        <pc:spChg chg="add mod">
          <ac:chgData name="Janssen, J.J.H.M. (Jeroen)" userId="7d9b97d4-99e3-431a-8888-59607a6546e3" providerId="ADAL" clId="{199278F3-A256-4E23-A0F9-FAF77553782B}" dt="2025-09-16T11:34:55.014" v="3" actId="1076"/>
          <ac:spMkLst>
            <pc:docMk/>
            <pc:sldMk cId="2960143160" sldId="649"/>
            <ac:spMk id="8" creationId="{DD61CF9F-30F4-6C28-904E-F4FB52980176}"/>
          </ac:spMkLst>
        </pc:spChg>
        <pc:spChg chg="add mod">
          <ac:chgData name="Janssen, J.J.H.M. (Jeroen)" userId="7d9b97d4-99e3-431a-8888-59607a6546e3" providerId="ADAL" clId="{199278F3-A256-4E23-A0F9-FAF77553782B}" dt="2025-09-16T11:35:04.702" v="5" actId="1076"/>
          <ac:spMkLst>
            <pc:docMk/>
            <pc:sldMk cId="2960143160" sldId="649"/>
            <ac:spMk id="10" creationId="{416E253F-7578-C040-450D-194D14DCC5B1}"/>
          </ac:spMkLst>
        </pc:spChg>
        <pc:picChg chg="add mod">
          <ac:chgData name="Janssen, J.J.H.M. (Jeroen)" userId="7d9b97d4-99e3-431a-8888-59607a6546e3" providerId="ADAL" clId="{199278F3-A256-4E23-A0F9-FAF77553782B}" dt="2025-09-16T11:34:55.014" v="3" actId="1076"/>
          <ac:picMkLst>
            <pc:docMk/>
            <pc:sldMk cId="2960143160" sldId="649"/>
            <ac:picMk id="7" creationId="{63638DA4-30CE-BC3F-CADA-B4AEDE6C9D62}"/>
          </ac:picMkLst>
        </pc:picChg>
        <pc:picChg chg="add mod">
          <ac:chgData name="Janssen, J.J.H.M. (Jeroen)" userId="7d9b97d4-99e3-431a-8888-59607a6546e3" providerId="ADAL" clId="{199278F3-A256-4E23-A0F9-FAF77553782B}" dt="2025-09-16T11:35:04.702" v="5" actId="1076"/>
          <ac:picMkLst>
            <pc:docMk/>
            <pc:sldMk cId="2960143160" sldId="649"/>
            <ac:picMk id="9" creationId="{95EABC80-67FF-3007-EE9C-3DA7A7B76C10}"/>
          </ac:picMkLst>
        </pc:picChg>
      </pc:sldChg>
      <pc:sldChg chg="del">
        <pc:chgData name="Janssen, J.J.H.M. (Jeroen)" userId="7d9b97d4-99e3-431a-8888-59607a6546e3" providerId="ADAL" clId="{199278F3-A256-4E23-A0F9-FAF77553782B}" dt="2025-09-16T11:35:08.795" v="6" actId="47"/>
        <pc:sldMkLst>
          <pc:docMk/>
          <pc:sldMk cId="3544256798" sldId="650"/>
        </pc:sldMkLst>
      </pc:sldChg>
      <pc:sldChg chg="del">
        <pc:chgData name="Janssen, J.J.H.M. (Jeroen)" userId="7d9b97d4-99e3-431a-8888-59607a6546e3" providerId="ADAL" clId="{199278F3-A256-4E23-A0F9-FAF77553782B}" dt="2025-09-16T11:35:08.795" v="6" actId="47"/>
        <pc:sldMkLst>
          <pc:docMk/>
          <pc:sldMk cId="987752643" sldId="651"/>
        </pc:sldMkLst>
      </pc:sldChg>
      <pc:sldMasterChg chg="delSldLayout">
        <pc:chgData name="Janssen, J.J.H.M. (Jeroen)" userId="7d9b97d4-99e3-431a-8888-59607a6546e3" providerId="ADAL" clId="{199278F3-A256-4E23-A0F9-FAF77553782B}" dt="2025-09-16T11:37:41.541" v="31" actId="47"/>
        <pc:sldMasterMkLst>
          <pc:docMk/>
          <pc:sldMasterMk cId="0" sldId="2147483648"/>
        </pc:sldMasterMkLst>
        <pc:sldLayoutChg chg="del">
          <pc:chgData name="Janssen, J.J.H.M. (Jeroen)" userId="7d9b97d4-99e3-431a-8888-59607a6546e3" providerId="ADAL" clId="{199278F3-A256-4E23-A0F9-FAF77553782B}" dt="2025-09-16T11:37:41.541" v="31" actId="47"/>
          <pc:sldLayoutMkLst>
            <pc:docMk/>
            <pc:sldMasterMk cId="0" sldId="2147483648"/>
            <pc:sldLayoutMk cId="668431073" sldId="2147483698"/>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9099" cy="497205"/>
          </a:xfrm>
          <a:prstGeom prst="rect">
            <a:avLst/>
          </a:prstGeom>
        </p:spPr>
        <p:txBody>
          <a:bodyPr vert="horz" lIns="91440" tIns="45720" rIns="91440" bIns="45720" rtlCol="0"/>
          <a:lstStyle>
            <a:lvl1pPr algn="l">
              <a:defRPr sz="1200"/>
            </a:lvl1pPr>
          </a:lstStyle>
          <a:p>
            <a:r>
              <a:rPr lang="en-GB" dirty="0">
                <a:latin typeface="Open Sans Regular" panose="020B0606030504020204" pitchFamily="34" charset="0"/>
              </a:rPr>
              <a:t>[</a:t>
            </a:r>
            <a:r>
              <a:rPr lang="en-GB" dirty="0" err="1">
                <a:latin typeface="Open Sans Regular" panose="020B0606030504020204" pitchFamily="34" charset="0"/>
              </a:rPr>
              <a:t>Faculteit</a:t>
            </a:r>
            <a:r>
              <a:rPr lang="en-GB" dirty="0">
                <a:latin typeface="Open Sans Regular" panose="020B0606030504020204" pitchFamily="34" charset="0"/>
              </a:rPr>
              <a:t> </a:t>
            </a:r>
            <a:r>
              <a:rPr lang="en-GB" dirty="0" err="1">
                <a:latin typeface="Open Sans Regular" panose="020B0606030504020204" pitchFamily="34" charset="0"/>
              </a:rPr>
              <a:t>en</a:t>
            </a:r>
            <a:r>
              <a:rPr lang="en-GB" dirty="0">
                <a:latin typeface="Open Sans Regular" panose="020B0606030504020204" pitchFamily="34" charset="0"/>
              </a:rPr>
              <a:t>/of </a:t>
            </a:r>
            <a:r>
              <a:rPr lang="en-GB" dirty="0" err="1">
                <a:latin typeface="Open Sans Regular" panose="020B0606030504020204" pitchFamily="34" charset="0"/>
              </a:rPr>
              <a:t>opleiding</a:t>
            </a:r>
            <a:r>
              <a:rPr lang="en-GB" dirty="0">
                <a:latin typeface="Open Sans Regular" panose="020B0606030504020204" pitchFamily="34" charset="0"/>
              </a:rPr>
              <a:t> max. 2 regels</a:t>
            </a:r>
          </a:p>
          <a:p>
            <a:r>
              <a:rPr lang="en-GB" dirty="0">
                <a:latin typeface="Open Sans Regular" panose="020B0606030504020204" pitchFamily="34" charset="0"/>
              </a:rPr>
              <a:t>
</a:t>
            </a:r>
          </a:p>
        </p:txBody>
      </p:sp>
      <p:sp>
        <p:nvSpPr>
          <p:cNvPr id="3" name="Date Placeholder 2"/>
          <p:cNvSpPr>
            <a:spLocks noGrp="1"/>
          </p:cNvSpPr>
          <p:nvPr>
            <p:ph type="dt" sz="quarter" idx="1"/>
          </p:nvPr>
        </p:nvSpPr>
        <p:spPr>
          <a:xfrm>
            <a:off x="3854940" y="0"/>
            <a:ext cx="2949099" cy="497205"/>
          </a:xfrm>
          <a:prstGeom prst="rect">
            <a:avLst/>
          </a:prstGeom>
        </p:spPr>
        <p:txBody>
          <a:bodyPr vert="horz" lIns="91440" tIns="45720" rIns="91440" bIns="45720" rtlCol="0"/>
          <a:lstStyle>
            <a:lvl1pPr algn="r">
              <a:defRPr sz="1200"/>
            </a:lvl1pPr>
          </a:lstStyle>
          <a:p>
            <a:fld id="{96D562E9-F970-40C5-8076-BA5383048925}" type="datetimeFigureOut">
              <a:rPr lang="en-GB" smtClean="0">
                <a:latin typeface="Open Sans Regular" panose="020B0606030504020204" pitchFamily="34" charset="0"/>
              </a:rPr>
              <a:t>16/09/2025</a:t>
            </a:fld>
            <a:endParaRPr lang="en-GB" dirty="0">
              <a:latin typeface="Open Sans Regular" panose="020B0606030504020204" pitchFamily="34" charset="0"/>
            </a:endParaRPr>
          </a:p>
        </p:txBody>
      </p:sp>
      <p:sp>
        <p:nvSpPr>
          <p:cNvPr id="4" name="Footer Placeholder 3"/>
          <p:cNvSpPr>
            <a:spLocks noGrp="1"/>
          </p:cNvSpPr>
          <p:nvPr>
            <p:ph type="ftr" sz="quarter" idx="2"/>
          </p:nvPr>
        </p:nvSpPr>
        <p:spPr>
          <a:xfrm>
            <a:off x="1" y="9445170"/>
            <a:ext cx="2949099" cy="497205"/>
          </a:xfrm>
          <a:prstGeom prst="rect">
            <a:avLst/>
          </a:prstGeom>
        </p:spPr>
        <p:txBody>
          <a:bodyPr vert="horz" lIns="91440" tIns="45720" rIns="91440" bIns="45720" rtlCol="0" anchor="b"/>
          <a:lstStyle>
            <a:lvl1pPr algn="l">
              <a:defRPr sz="1200"/>
            </a:lvl1pPr>
          </a:lstStyle>
          <a:p>
            <a:endParaRPr lang="en-GB" dirty="0">
              <a:latin typeface="Open Sans Regular" panose="020B0606030504020204" pitchFamily="34" charset="0"/>
            </a:endParaRPr>
          </a:p>
        </p:txBody>
      </p:sp>
      <p:sp>
        <p:nvSpPr>
          <p:cNvPr id="5" name="Slide Number Placeholder 4"/>
          <p:cNvSpPr>
            <a:spLocks noGrp="1"/>
          </p:cNvSpPr>
          <p:nvPr>
            <p:ph type="sldNum" sz="quarter" idx="3"/>
          </p:nvPr>
        </p:nvSpPr>
        <p:spPr>
          <a:xfrm>
            <a:off x="3854940" y="9445170"/>
            <a:ext cx="2949099" cy="497205"/>
          </a:xfrm>
          <a:prstGeom prst="rect">
            <a:avLst/>
          </a:prstGeom>
        </p:spPr>
        <p:txBody>
          <a:bodyPr vert="horz" lIns="91440" tIns="45720" rIns="91440" bIns="45720" rtlCol="0" anchor="b"/>
          <a:lstStyle>
            <a:lvl1pPr algn="r">
              <a:defRPr sz="1200"/>
            </a:lvl1pPr>
          </a:lstStyle>
          <a:p>
            <a:fld id="{C517BDD4-EA2B-47CA-A27F-5DCC43F23FEF}" type="slidenum">
              <a:rPr lang="en-GB" smtClean="0">
                <a:latin typeface="Open Sans Regular" panose="020B0606030504020204" pitchFamily="34" charset="0"/>
              </a:rPr>
              <a:t>‹nr.›</a:t>
            </a:fld>
            <a:endParaRPr lang="en-GB" dirty="0">
              <a:latin typeface="Open Sans Regular" panose="020B0606030504020204" pitchFamily="34" charset="0"/>
            </a:endParaRPr>
          </a:p>
        </p:txBody>
      </p:sp>
    </p:spTree>
    <p:extLst>
      <p:ext uri="{BB962C8B-B14F-4D97-AF65-F5344CB8AC3E}">
        <p14:creationId xmlns:p14="http://schemas.microsoft.com/office/powerpoint/2010/main" val="2868726068"/>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1" y="0"/>
            <a:ext cx="2949099" cy="497205"/>
          </a:xfrm>
          <a:prstGeom prst="rect">
            <a:avLst/>
          </a:prstGeom>
        </p:spPr>
        <p:txBody>
          <a:bodyPr vert="horz" lIns="91440" tIns="45720" rIns="91440" bIns="45720" rtlCol="0"/>
          <a:lstStyle>
            <a:lvl1pPr algn="l">
              <a:defRPr sz="1200"/>
            </a:lvl1pPr>
          </a:lstStyle>
          <a:p>
            <a:r>
              <a:rPr lang="en-GB" dirty="0">
                <a:latin typeface="Open Sans Regular" panose="020B0606030504020204" pitchFamily="34" charset="0"/>
              </a:rPr>
              <a:t>[</a:t>
            </a:r>
            <a:r>
              <a:rPr lang="en-GB" dirty="0" err="1">
                <a:latin typeface="Open Sans Regular" panose="020B0606030504020204" pitchFamily="34" charset="0"/>
              </a:rPr>
              <a:t>Faculteit</a:t>
            </a:r>
            <a:r>
              <a:rPr lang="en-GB" dirty="0">
                <a:latin typeface="Open Sans Regular" panose="020B0606030504020204" pitchFamily="34" charset="0"/>
              </a:rPr>
              <a:t> </a:t>
            </a:r>
            <a:r>
              <a:rPr lang="en-GB" dirty="0" err="1">
                <a:latin typeface="Open Sans Regular" panose="020B0606030504020204" pitchFamily="34" charset="0"/>
              </a:rPr>
              <a:t>en</a:t>
            </a:r>
            <a:r>
              <a:rPr lang="en-GB" dirty="0">
                <a:latin typeface="Open Sans Regular" panose="020B0606030504020204" pitchFamily="34" charset="0"/>
              </a:rPr>
              <a:t>/of </a:t>
            </a:r>
            <a:r>
              <a:rPr lang="en-GB" dirty="0" err="1">
                <a:latin typeface="Open Sans Regular" panose="020B0606030504020204" pitchFamily="34" charset="0"/>
              </a:rPr>
              <a:t>opleiding</a:t>
            </a:r>
            <a:r>
              <a:rPr lang="en-GB" dirty="0">
                <a:latin typeface="Open Sans Regular" panose="020B0606030504020204" pitchFamily="34" charset="0"/>
              </a:rPr>
              <a:t> max. 2 regels</a:t>
            </a:r>
          </a:p>
          <a:p>
            <a:r>
              <a:rPr lang="en-GB" dirty="0">
                <a:latin typeface="Open Sans Regular" panose="020B0606030504020204" pitchFamily="34" charset="0"/>
              </a:rPr>
              <a:t>
</a:t>
            </a:r>
          </a:p>
        </p:txBody>
      </p:sp>
      <p:sp>
        <p:nvSpPr>
          <p:cNvPr id="3" name="Tijdelijke aanduiding voor datum 2"/>
          <p:cNvSpPr>
            <a:spLocks noGrp="1"/>
          </p:cNvSpPr>
          <p:nvPr>
            <p:ph type="dt" idx="1"/>
          </p:nvPr>
        </p:nvSpPr>
        <p:spPr>
          <a:xfrm>
            <a:off x="3854940" y="0"/>
            <a:ext cx="2949099" cy="497205"/>
          </a:xfrm>
          <a:prstGeom prst="rect">
            <a:avLst/>
          </a:prstGeom>
        </p:spPr>
        <p:txBody>
          <a:bodyPr vert="horz" lIns="91440" tIns="45720" rIns="91440" bIns="45720" rtlCol="0"/>
          <a:lstStyle>
            <a:lvl1pPr algn="r">
              <a:defRPr sz="1200" b="0" i="0">
                <a:latin typeface="Open Sans Regular" panose="020B0606030504020204" pitchFamily="34" charset="0"/>
              </a:defRPr>
            </a:lvl1pPr>
          </a:lstStyle>
          <a:p>
            <a:fld id="{7CAC0B33-3943-42F1-973C-9CDD51C76BBD}" type="datetimeFigureOut">
              <a:rPr lang="en-GB" smtClean="0"/>
              <a:pPr/>
              <a:t>16/09/2025</a:t>
            </a:fld>
            <a:endParaRPr lang="en-GB" dirty="0"/>
          </a:p>
        </p:txBody>
      </p:sp>
      <p:sp>
        <p:nvSpPr>
          <p:cNvPr id="4" name="Tijdelijke aanduiding voor dia-afbeelding 3"/>
          <p:cNvSpPr>
            <a:spLocks noGrp="1" noRot="1" noChangeAspect="1"/>
          </p:cNvSpPr>
          <p:nvPr>
            <p:ph type="sldImg" idx="2"/>
          </p:nvPr>
        </p:nvSpPr>
        <p:spPr>
          <a:xfrm>
            <a:off x="87313" y="746125"/>
            <a:ext cx="6630987" cy="3729038"/>
          </a:xfrm>
          <a:prstGeom prst="rect">
            <a:avLst/>
          </a:prstGeom>
          <a:noFill/>
          <a:ln w="12700">
            <a:solidFill>
              <a:prstClr val="black"/>
            </a:solidFill>
          </a:ln>
        </p:spPr>
        <p:txBody>
          <a:bodyPr vert="horz" lIns="91440" tIns="45720" rIns="91440" bIns="45720" rtlCol="0" anchor="ctr"/>
          <a:lstStyle/>
          <a:p>
            <a:endParaRPr lang="en-GB" dirty="0"/>
          </a:p>
        </p:txBody>
      </p:sp>
      <p:sp>
        <p:nvSpPr>
          <p:cNvPr id="5" name="Tijdelijke aanduiding voor notities 4"/>
          <p:cNvSpPr>
            <a:spLocks noGrp="1"/>
          </p:cNvSpPr>
          <p:nvPr>
            <p:ph type="body" sz="quarter" idx="3"/>
          </p:nvPr>
        </p:nvSpPr>
        <p:spPr>
          <a:xfrm>
            <a:off x="680562" y="4723449"/>
            <a:ext cx="5444490" cy="4474845"/>
          </a:xfrm>
          <a:prstGeom prst="rect">
            <a:avLst/>
          </a:prstGeom>
        </p:spPr>
        <p:txBody>
          <a:bodyPr vert="horz" lIns="91440" tIns="45720" rIns="91440" bIns="45720" rtlCol="0">
            <a:normAutofit/>
          </a:bodyPr>
          <a:lstStyle/>
          <a:p>
            <a:pPr lvl="0"/>
            <a:r>
              <a:rPr lang="en-GB" dirty="0" err="1"/>
              <a:t>Klik</a:t>
            </a:r>
            <a:r>
              <a:rPr lang="en-GB" dirty="0"/>
              <a:t> om de </a:t>
            </a:r>
            <a:r>
              <a:rPr lang="en-GB" dirty="0" err="1"/>
              <a:t>modelstijlen</a:t>
            </a:r>
            <a:r>
              <a:rPr lang="en-GB" dirty="0"/>
              <a:t> </a:t>
            </a:r>
            <a:r>
              <a:rPr lang="en-GB" dirty="0" err="1"/>
              <a:t>te</a:t>
            </a:r>
            <a:r>
              <a:rPr lang="en-GB" dirty="0"/>
              <a:t> </a:t>
            </a:r>
            <a:r>
              <a:rPr lang="en-GB" dirty="0" err="1"/>
              <a:t>bewerken</a:t>
            </a:r>
            <a:endParaRPr lang="en-GB" dirty="0"/>
          </a:p>
          <a:p>
            <a:pPr lvl="1"/>
            <a:r>
              <a:rPr lang="en-GB" dirty="0" err="1"/>
              <a:t>Tweede</a:t>
            </a:r>
            <a:r>
              <a:rPr lang="en-GB" dirty="0"/>
              <a:t> </a:t>
            </a:r>
            <a:r>
              <a:rPr lang="en-GB" dirty="0" err="1"/>
              <a:t>niveau</a:t>
            </a:r>
            <a:endParaRPr lang="en-GB" dirty="0"/>
          </a:p>
          <a:p>
            <a:pPr lvl="2"/>
            <a:r>
              <a:rPr lang="en-GB" dirty="0" err="1"/>
              <a:t>Derde</a:t>
            </a:r>
            <a:r>
              <a:rPr lang="en-GB" dirty="0"/>
              <a:t> </a:t>
            </a:r>
            <a:r>
              <a:rPr lang="en-GB" dirty="0" err="1"/>
              <a:t>niveau</a:t>
            </a:r>
            <a:endParaRPr lang="en-GB" dirty="0"/>
          </a:p>
          <a:p>
            <a:pPr lvl="3"/>
            <a:r>
              <a:rPr lang="en-GB" dirty="0" err="1"/>
              <a:t>Vierde</a:t>
            </a:r>
            <a:r>
              <a:rPr lang="en-GB" dirty="0"/>
              <a:t> </a:t>
            </a:r>
            <a:r>
              <a:rPr lang="en-GB" dirty="0" err="1"/>
              <a:t>niveau</a:t>
            </a:r>
            <a:endParaRPr lang="en-GB" dirty="0"/>
          </a:p>
          <a:p>
            <a:pPr lvl="4"/>
            <a:r>
              <a:rPr lang="en-GB" dirty="0" err="1"/>
              <a:t>Vijfde</a:t>
            </a:r>
            <a:r>
              <a:rPr lang="en-GB" dirty="0"/>
              <a:t> </a:t>
            </a:r>
            <a:r>
              <a:rPr lang="en-GB" dirty="0" err="1"/>
              <a:t>niveau</a:t>
            </a:r>
            <a:endParaRPr lang="en-GB" dirty="0"/>
          </a:p>
        </p:txBody>
      </p:sp>
      <p:sp>
        <p:nvSpPr>
          <p:cNvPr id="6" name="Tijdelijke aanduiding voor voettekst 5"/>
          <p:cNvSpPr>
            <a:spLocks noGrp="1"/>
          </p:cNvSpPr>
          <p:nvPr>
            <p:ph type="ftr" sz="quarter" idx="4"/>
          </p:nvPr>
        </p:nvSpPr>
        <p:spPr>
          <a:xfrm>
            <a:off x="1" y="9445170"/>
            <a:ext cx="2949099" cy="497205"/>
          </a:xfrm>
          <a:prstGeom prst="rect">
            <a:avLst/>
          </a:prstGeom>
        </p:spPr>
        <p:txBody>
          <a:bodyPr vert="horz" lIns="91440" tIns="45720" rIns="91440" bIns="45720" rtlCol="0" anchor="b"/>
          <a:lstStyle>
            <a:lvl1pPr algn="l">
              <a:defRPr sz="1200" b="0" i="0">
                <a:latin typeface="Open Sans Regular" panose="020B0606030504020204" pitchFamily="34" charset="0"/>
              </a:defRPr>
            </a:lvl1pPr>
          </a:lstStyle>
          <a:p>
            <a:endParaRPr lang="en-GB" dirty="0"/>
          </a:p>
        </p:txBody>
      </p:sp>
      <p:sp>
        <p:nvSpPr>
          <p:cNvPr id="7" name="Tijdelijke aanduiding voor dianummer 6"/>
          <p:cNvSpPr>
            <a:spLocks noGrp="1"/>
          </p:cNvSpPr>
          <p:nvPr>
            <p:ph type="sldNum" sz="quarter" idx="5"/>
          </p:nvPr>
        </p:nvSpPr>
        <p:spPr>
          <a:xfrm>
            <a:off x="3854940" y="9445170"/>
            <a:ext cx="2949099" cy="497205"/>
          </a:xfrm>
          <a:prstGeom prst="rect">
            <a:avLst/>
          </a:prstGeom>
        </p:spPr>
        <p:txBody>
          <a:bodyPr vert="horz" lIns="91440" tIns="45720" rIns="91440" bIns="45720" rtlCol="0" anchor="b"/>
          <a:lstStyle>
            <a:lvl1pPr algn="r">
              <a:defRPr sz="1200" b="0" i="0">
                <a:latin typeface="Open Sans Regular" panose="020B0606030504020204" pitchFamily="34" charset="0"/>
              </a:defRPr>
            </a:lvl1pPr>
          </a:lstStyle>
          <a:p>
            <a:fld id="{697381A9-0C9E-4D3A-A28B-AC4E168A57BC}" type="slidenum">
              <a:rPr lang="en-GB" smtClean="0"/>
              <a:pPr/>
              <a:t>‹nr.›</a:t>
            </a:fld>
            <a:endParaRPr lang="en-GB" dirty="0"/>
          </a:p>
        </p:txBody>
      </p:sp>
    </p:spTree>
    <p:extLst>
      <p:ext uri="{BB962C8B-B14F-4D97-AF65-F5344CB8AC3E}">
        <p14:creationId xmlns:p14="http://schemas.microsoft.com/office/powerpoint/2010/main" val="2800893754"/>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b="0" i="0" kern="1200">
        <a:solidFill>
          <a:schemeClr val="tx1"/>
        </a:solidFill>
        <a:latin typeface="Open Sans Regular" panose="020B0606030504020204" pitchFamily="34" charset="0"/>
        <a:ea typeface="+mn-ea"/>
        <a:cs typeface="+mn-cs"/>
      </a:defRPr>
    </a:lvl1pPr>
    <a:lvl2pPr marL="457200" algn="l" defTabSz="914400" rtl="0" eaLnBrk="1" latinLnBrk="0" hangingPunct="1">
      <a:defRPr sz="1200" b="0" i="0" kern="1200">
        <a:solidFill>
          <a:schemeClr val="tx1"/>
        </a:solidFill>
        <a:latin typeface="Open Sans Regular" panose="020B0606030504020204" pitchFamily="34" charset="0"/>
        <a:ea typeface="+mn-ea"/>
        <a:cs typeface="+mn-cs"/>
      </a:defRPr>
    </a:lvl2pPr>
    <a:lvl3pPr marL="914400" algn="l" defTabSz="914400" rtl="0" eaLnBrk="1" latinLnBrk="0" hangingPunct="1">
      <a:defRPr sz="1200" b="0" i="0" kern="1200">
        <a:solidFill>
          <a:schemeClr val="tx1"/>
        </a:solidFill>
        <a:latin typeface="Open Sans Regular" panose="020B0606030504020204" pitchFamily="34" charset="0"/>
        <a:ea typeface="+mn-ea"/>
        <a:cs typeface="+mn-cs"/>
      </a:defRPr>
    </a:lvl3pPr>
    <a:lvl4pPr marL="1371600" algn="l" defTabSz="914400" rtl="0" eaLnBrk="1" latinLnBrk="0" hangingPunct="1">
      <a:defRPr sz="1200" b="0" i="0" kern="1200">
        <a:solidFill>
          <a:schemeClr val="tx1"/>
        </a:solidFill>
        <a:latin typeface="Open Sans Regular" panose="020B0606030504020204" pitchFamily="34" charset="0"/>
        <a:ea typeface="+mn-ea"/>
        <a:cs typeface="+mn-cs"/>
      </a:defRPr>
    </a:lvl4pPr>
    <a:lvl5pPr marL="1828800" algn="l" defTabSz="914400" rtl="0" eaLnBrk="1" latinLnBrk="0" hangingPunct="1">
      <a:defRPr sz="1200" b="0" i="0" kern="1200">
        <a:solidFill>
          <a:schemeClr val="tx1"/>
        </a:solidFill>
        <a:latin typeface="Open Sans Regular" panose="020B0606030504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1" dirty="0"/>
          </a:p>
        </p:txBody>
      </p:sp>
      <p:sp>
        <p:nvSpPr>
          <p:cNvPr id="4" name="Slide Number Placeholder 3"/>
          <p:cNvSpPr>
            <a:spLocks noGrp="1"/>
          </p:cNvSpPr>
          <p:nvPr>
            <p:ph type="sldNum" sz="quarter" idx="10"/>
          </p:nvPr>
        </p:nvSpPr>
        <p:spPr/>
        <p:txBody>
          <a:bodyPr/>
          <a:lstStyle/>
          <a:p>
            <a:fld id="{697381A9-0C9E-4D3A-A28B-AC4E168A57BC}" type="slidenum">
              <a:rPr lang="en-GB" smtClean="0"/>
              <a:pPr/>
              <a:t>1</a:t>
            </a:fld>
            <a:endParaRPr lang="en-GB" dirty="0"/>
          </a:p>
        </p:txBody>
      </p:sp>
      <p:sp>
        <p:nvSpPr>
          <p:cNvPr id="5" name="Tijdelijke aanduiding voor koptekst 4">
            <a:extLst>
              <a:ext uri="{FF2B5EF4-FFF2-40B4-BE49-F238E27FC236}">
                <a16:creationId xmlns:a16="http://schemas.microsoft.com/office/drawing/2014/main" id="{F2ADA76E-CBD3-C744-8806-9DB1448AB1A7}"/>
              </a:ext>
            </a:extLst>
          </p:cNvPr>
          <p:cNvSpPr>
            <a:spLocks noGrp="1"/>
          </p:cNvSpPr>
          <p:nvPr>
            <p:ph type="hdr" sz="quarter" idx="11"/>
          </p:nvPr>
        </p:nvSpPr>
        <p:spPr/>
        <p:txBody>
          <a:bodyPr/>
          <a:lstStyle/>
          <a:p>
            <a:r>
              <a:rPr lang="en-GB" dirty="0">
                <a:latin typeface="Open Sans Regular" panose="020B0606030504020204" pitchFamily="34" charset="0"/>
              </a:rPr>
              <a:t>[</a:t>
            </a:r>
            <a:r>
              <a:rPr lang="en-GB" dirty="0" err="1">
                <a:latin typeface="Open Sans Regular" panose="020B0606030504020204" pitchFamily="34" charset="0"/>
              </a:rPr>
              <a:t>Faculteit</a:t>
            </a:r>
            <a:r>
              <a:rPr lang="en-GB" dirty="0">
                <a:latin typeface="Open Sans Regular" panose="020B0606030504020204" pitchFamily="34" charset="0"/>
              </a:rPr>
              <a:t> </a:t>
            </a:r>
            <a:r>
              <a:rPr lang="en-GB" dirty="0" err="1">
                <a:latin typeface="Open Sans Regular" panose="020B0606030504020204" pitchFamily="34" charset="0"/>
              </a:rPr>
              <a:t>en</a:t>
            </a:r>
            <a:r>
              <a:rPr lang="en-GB" dirty="0">
                <a:latin typeface="Open Sans Regular" panose="020B0606030504020204" pitchFamily="34" charset="0"/>
              </a:rPr>
              <a:t>/of </a:t>
            </a:r>
            <a:r>
              <a:rPr lang="en-GB" dirty="0" err="1">
                <a:latin typeface="Open Sans Regular" panose="020B0606030504020204" pitchFamily="34" charset="0"/>
              </a:rPr>
              <a:t>opleiding</a:t>
            </a:r>
            <a:r>
              <a:rPr lang="en-GB" dirty="0">
                <a:latin typeface="Open Sans Regular" panose="020B0606030504020204" pitchFamily="34" charset="0"/>
              </a:rPr>
              <a:t> max. 2 regels</a:t>
            </a:r>
          </a:p>
          <a:p>
            <a:r>
              <a:rPr lang="en-GB" dirty="0">
                <a:latin typeface="Open Sans Regular" panose="020B0606030504020204" pitchFamily="34" charset="0"/>
              </a:rPr>
              <a:t>
</a:t>
            </a:r>
          </a:p>
        </p:txBody>
      </p:sp>
    </p:spTree>
    <p:extLst>
      <p:ext uri="{BB962C8B-B14F-4D97-AF65-F5344CB8AC3E}">
        <p14:creationId xmlns:p14="http://schemas.microsoft.com/office/powerpoint/2010/main" val="3737897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2</a:t>
            </a:fld>
            <a:endParaRPr lang="en-GB" dirty="0"/>
          </a:p>
        </p:txBody>
      </p:sp>
    </p:spTree>
    <p:extLst>
      <p:ext uri="{BB962C8B-B14F-4D97-AF65-F5344CB8AC3E}">
        <p14:creationId xmlns:p14="http://schemas.microsoft.com/office/powerpoint/2010/main" val="2661448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US" dirty="0" err="1"/>
              <a:t>Aantal</a:t>
            </a:r>
            <a:r>
              <a:rPr lang="en-US" dirty="0"/>
              <a:t> </a:t>
            </a:r>
            <a:r>
              <a:rPr lang="en-US" dirty="0" err="1"/>
              <a:t>factoren</a:t>
            </a:r>
            <a:r>
              <a:rPr lang="en-US" baseline="0" dirty="0"/>
              <a:t> in </a:t>
            </a:r>
            <a:r>
              <a:rPr lang="en-US" baseline="0" dirty="0" err="1"/>
              <a:t>dit</a:t>
            </a:r>
            <a:r>
              <a:rPr lang="en-US" baseline="0" dirty="0"/>
              <a:t> model </a:t>
            </a:r>
            <a:r>
              <a:rPr lang="en-US" baseline="0" dirty="0" err="1"/>
              <a:t>bespreken</a:t>
            </a:r>
            <a:r>
              <a:rPr lang="en-US" baseline="0" dirty="0"/>
              <a:t>.</a:t>
            </a:r>
            <a:endParaRPr lang="nl-NL" dirty="0"/>
          </a:p>
        </p:txBody>
      </p:sp>
      <p:sp>
        <p:nvSpPr>
          <p:cNvPr id="4" name="Tijdelijke aanduiding voor dianummer 3"/>
          <p:cNvSpPr>
            <a:spLocks noGrp="1"/>
          </p:cNvSpPr>
          <p:nvPr>
            <p:ph type="sldNum" sz="quarter" idx="10"/>
          </p:nvPr>
        </p:nvSpPr>
        <p:spPr/>
        <p:txBody>
          <a:bodyPr/>
          <a:lstStyle/>
          <a:p>
            <a:fld id="{09C03426-65DB-4699-8C6B-F13117C07FD5}" type="slidenum">
              <a:rPr lang="nl-NL" smtClean="0"/>
              <a:t>3</a:t>
            </a:fld>
            <a:endParaRPr lang="nl-NL"/>
          </a:p>
        </p:txBody>
      </p:sp>
    </p:spTree>
    <p:extLst>
      <p:ext uri="{BB962C8B-B14F-4D97-AF65-F5344CB8AC3E}">
        <p14:creationId xmlns:p14="http://schemas.microsoft.com/office/powerpoint/2010/main" val="1104607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a:p>
        </p:txBody>
      </p:sp>
      <p:sp>
        <p:nvSpPr>
          <p:cNvPr id="4" name="Slide Number Placeholder 3"/>
          <p:cNvSpPr>
            <a:spLocks noGrp="1"/>
          </p:cNvSpPr>
          <p:nvPr>
            <p:ph type="sldNum" sz="quarter" idx="10"/>
          </p:nvPr>
        </p:nvSpPr>
        <p:spPr/>
        <p:txBody>
          <a:bodyPr/>
          <a:lstStyle/>
          <a:p>
            <a:fld id="{09C03426-65DB-4699-8C6B-F13117C07FD5}" type="slidenum">
              <a:rPr lang="nl-NL" smtClean="0"/>
              <a:t>4</a:t>
            </a:fld>
            <a:endParaRPr lang="nl-NL"/>
          </a:p>
        </p:txBody>
      </p:sp>
    </p:spTree>
    <p:extLst>
      <p:ext uri="{BB962C8B-B14F-4D97-AF65-F5344CB8AC3E}">
        <p14:creationId xmlns:p14="http://schemas.microsoft.com/office/powerpoint/2010/main" val="12994780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5</a:t>
            </a:fld>
            <a:endParaRPr lang="en-GB" dirty="0"/>
          </a:p>
        </p:txBody>
      </p:sp>
    </p:spTree>
    <p:extLst>
      <p:ext uri="{BB962C8B-B14F-4D97-AF65-F5344CB8AC3E}">
        <p14:creationId xmlns:p14="http://schemas.microsoft.com/office/powerpoint/2010/main" val="636590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nl-NL" b="0" i="0" dirty="0">
                <a:solidFill>
                  <a:srgbClr val="201D1D"/>
                </a:solidFill>
                <a:effectLst/>
                <a:latin typeface="CeraPro"/>
              </a:rPr>
              <a:t>Galilei stelde daarom dat alle voorwerpen op aarde dezelfde valversnelling ondervinden. Galilei wist het zeker: </a:t>
            </a:r>
            <a:r>
              <a:rPr lang="nl-NL" b="0" i="1" dirty="0">
                <a:solidFill>
                  <a:srgbClr val="201D1D"/>
                </a:solidFill>
                <a:effectLst/>
                <a:latin typeface="CeraPro"/>
              </a:rPr>
              <a:t>alle voorwerpen op aarde vallen even snel.</a:t>
            </a:r>
            <a:endParaRPr lang="nl-NL" b="0" i="0" dirty="0">
              <a:solidFill>
                <a:srgbClr val="201D1D"/>
              </a:solidFill>
              <a:effectLst/>
              <a:latin typeface="CeraPro"/>
            </a:endParaRPr>
          </a:p>
          <a:p>
            <a:pPr algn="l"/>
            <a:r>
              <a:rPr lang="nl-NL" b="0" i="0" dirty="0">
                <a:solidFill>
                  <a:srgbClr val="201D1D"/>
                </a:solidFill>
                <a:effectLst/>
                <a:latin typeface="CeraPro"/>
              </a:rPr>
              <a:t>Galilei heeft helemaal gelijk: als de zwaartekracht de enige kracht is die er op voorwerpen werkt, vallen alle voorwerpen met dezelfde versnelling. In veel natuurkundesommen mogen we de wrijvingskracht inderdaad verwaarlozen. We gebruiken de formule die zegt dat alle voorwerpen met een versnelling van g = 9,8 m/s</a:t>
            </a:r>
            <a:r>
              <a:rPr lang="nl-NL" b="0" i="0" baseline="30000" dirty="0">
                <a:solidFill>
                  <a:srgbClr val="201D1D"/>
                </a:solidFill>
                <a:effectLst/>
                <a:latin typeface="CeraPro"/>
              </a:rPr>
              <a:t>2</a:t>
            </a:r>
            <a:r>
              <a:rPr lang="nl-NL" b="0" i="0" dirty="0">
                <a:solidFill>
                  <a:srgbClr val="201D1D"/>
                </a:solidFill>
                <a:effectLst/>
                <a:latin typeface="CeraPro"/>
              </a:rPr>
              <a:t> vallen.</a:t>
            </a:r>
          </a:p>
          <a:p>
            <a:endParaRPr lang="en-NL"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6</a:t>
            </a:fld>
            <a:endParaRPr lang="en-GB" dirty="0"/>
          </a:p>
        </p:txBody>
      </p:sp>
    </p:spTree>
    <p:extLst>
      <p:ext uri="{BB962C8B-B14F-4D97-AF65-F5344CB8AC3E}">
        <p14:creationId xmlns:p14="http://schemas.microsoft.com/office/powerpoint/2010/main" val="10403227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7</a:t>
            </a:fld>
            <a:endParaRPr lang="en-GB" dirty="0"/>
          </a:p>
        </p:txBody>
      </p:sp>
    </p:spTree>
    <p:extLst>
      <p:ext uri="{BB962C8B-B14F-4D97-AF65-F5344CB8AC3E}">
        <p14:creationId xmlns:p14="http://schemas.microsoft.com/office/powerpoint/2010/main" val="3780764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8</a:t>
            </a:fld>
            <a:endParaRPr lang="en-GB" dirty="0"/>
          </a:p>
        </p:txBody>
      </p:sp>
    </p:spTree>
    <p:extLst>
      <p:ext uri="{BB962C8B-B14F-4D97-AF65-F5344CB8AC3E}">
        <p14:creationId xmlns:p14="http://schemas.microsoft.com/office/powerpoint/2010/main" val="2835805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9</a:t>
            </a:fld>
            <a:endParaRPr lang="en-GB" dirty="0"/>
          </a:p>
        </p:txBody>
      </p:sp>
    </p:spTree>
    <p:extLst>
      <p:ext uri="{BB962C8B-B14F-4D97-AF65-F5344CB8AC3E}">
        <p14:creationId xmlns:p14="http://schemas.microsoft.com/office/powerpoint/2010/main" val="27213464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10</a:t>
            </a:fld>
            <a:endParaRPr lang="en-GB" dirty="0"/>
          </a:p>
        </p:txBody>
      </p:sp>
    </p:spTree>
    <p:extLst>
      <p:ext uri="{BB962C8B-B14F-4D97-AF65-F5344CB8AC3E}">
        <p14:creationId xmlns:p14="http://schemas.microsoft.com/office/powerpoint/2010/main" val="10919745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11</a:t>
            </a:fld>
            <a:endParaRPr lang="en-GB" dirty="0"/>
          </a:p>
        </p:txBody>
      </p:sp>
    </p:spTree>
    <p:extLst>
      <p:ext uri="{BB962C8B-B14F-4D97-AF65-F5344CB8AC3E}">
        <p14:creationId xmlns:p14="http://schemas.microsoft.com/office/powerpoint/2010/main" val="38140341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12</a:t>
            </a:fld>
            <a:endParaRPr lang="en-GB" dirty="0"/>
          </a:p>
        </p:txBody>
      </p:sp>
    </p:spTree>
    <p:extLst>
      <p:ext uri="{BB962C8B-B14F-4D97-AF65-F5344CB8AC3E}">
        <p14:creationId xmlns:p14="http://schemas.microsoft.com/office/powerpoint/2010/main" val="2589501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13</a:t>
            </a:fld>
            <a:endParaRPr lang="en-GB" dirty="0"/>
          </a:p>
        </p:txBody>
      </p:sp>
    </p:spTree>
    <p:extLst>
      <p:ext uri="{BB962C8B-B14F-4D97-AF65-F5344CB8AC3E}">
        <p14:creationId xmlns:p14="http://schemas.microsoft.com/office/powerpoint/2010/main" val="15537617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nl-NL" b="0" dirty="0" err="1"/>
              <a:t>Twitmeijer</a:t>
            </a:r>
            <a:r>
              <a:rPr lang="nl-NL" b="0" baseline="0" dirty="0"/>
              <a:t> en Pavlov hebben de basis gelegd voor het wetenschappelijk behaviorisme. </a:t>
            </a:r>
          </a:p>
          <a:p>
            <a:r>
              <a:rPr lang="nl-NL" b="0" baseline="0" dirty="0"/>
              <a:t>Beide hebben door toeval de klassieke conditionering ontdekt. </a:t>
            </a:r>
          </a:p>
          <a:p>
            <a:r>
              <a:rPr lang="nl-NL" b="0" baseline="0" dirty="0" err="1"/>
              <a:t>Twitmeyer</a:t>
            </a:r>
            <a:r>
              <a:rPr lang="nl-NL" b="0" baseline="0" dirty="0"/>
              <a:t> deed onderzoek naar het kniepeesreflex en Pavlov naar de speekselsecretie bij honden, wetenschappelijke onderzoeken die niets met leren van mensen te maken leken te hebben. </a:t>
            </a:r>
          </a:p>
          <a:p>
            <a:r>
              <a:rPr lang="nl-NL" b="0" baseline="0" dirty="0"/>
              <a:t>Twee begrippen staan in hun ontdekking centraal: </a:t>
            </a:r>
          </a:p>
          <a:p>
            <a:r>
              <a:rPr lang="nl-NL" b="0" baseline="0" dirty="0"/>
              <a:t>Stimulus: prikkel of aansporing die wordt waargenomen door de zintuigen. Bij </a:t>
            </a:r>
            <a:r>
              <a:rPr lang="nl-NL" b="0" baseline="0" dirty="0" err="1"/>
              <a:t>Twitmeijer</a:t>
            </a:r>
            <a:r>
              <a:rPr lang="nl-NL" b="0" baseline="0" dirty="0"/>
              <a:t> was dit de tik van de hamer op de knie van de proefpersoon. </a:t>
            </a:r>
          </a:p>
          <a:p>
            <a:r>
              <a:rPr lang="nl-NL" b="0" baseline="0" dirty="0"/>
              <a:t>Respons: de reactie van de persoon op de gegeven stimulus. Bij </a:t>
            </a:r>
            <a:r>
              <a:rPr lang="nl-NL" b="0" baseline="0" dirty="0" err="1"/>
              <a:t>twitmeijer</a:t>
            </a:r>
            <a:r>
              <a:rPr lang="nl-NL" b="0" baseline="0" dirty="0"/>
              <a:t> de reactie van de kniepees, het naar voren schoppen. (zie ook weergegeven in dit overzichtje. </a:t>
            </a:r>
          </a:p>
          <a:p>
            <a:endParaRPr lang="nl-NL" b="0" baseline="0" dirty="0"/>
          </a:p>
          <a:p>
            <a:r>
              <a:rPr lang="nl-NL" b="0" baseline="0" dirty="0" err="1"/>
              <a:t>Twitmeijer</a:t>
            </a:r>
            <a:r>
              <a:rPr lang="nl-NL" b="0" baseline="0" dirty="0"/>
              <a:t> wilde dat zijn proefpersonen niet te veel zouden schrikken, en liet daarom voordat hij een tik met de hamer gaf op de knie van de persoon een belletje rinkelen. </a:t>
            </a:r>
          </a:p>
          <a:p>
            <a:endParaRPr lang="nl-NL" b="0" baseline="0"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14</a:t>
            </a:fld>
            <a:endParaRPr lang="en-GB" dirty="0"/>
          </a:p>
        </p:txBody>
      </p:sp>
    </p:spTree>
    <p:extLst>
      <p:ext uri="{BB962C8B-B14F-4D97-AF65-F5344CB8AC3E}">
        <p14:creationId xmlns:p14="http://schemas.microsoft.com/office/powerpoint/2010/main" val="14017190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908365">
              <a:defRPr/>
            </a:pPr>
            <a:r>
              <a:rPr lang="nl-NL" b="0" baseline="0" dirty="0"/>
              <a:t>Na een aantal opeenvolgende proeven, ging de knie van de persoon echter al omhoog bij het horen van het belletje, </a:t>
            </a:r>
            <a:r>
              <a:rPr lang="nl-NL" b="0" baseline="0" dirty="0" err="1"/>
              <a:t>Twitmeijer</a:t>
            </a:r>
            <a:r>
              <a:rPr lang="nl-NL" b="0" baseline="0" dirty="0"/>
              <a:t> hoefde geen tik meer te geven met de hamer. </a:t>
            </a:r>
          </a:p>
          <a:p>
            <a:pPr defTabSz="908365">
              <a:defRPr/>
            </a:pPr>
            <a:r>
              <a:rPr lang="nl-NL" b="0" baseline="0" dirty="0"/>
              <a:t>Dit noemen we klassieke conditionering. </a:t>
            </a:r>
          </a:p>
          <a:p>
            <a:pPr defTabSz="908365">
              <a:defRPr/>
            </a:pPr>
            <a:endParaRPr lang="nl-NL" b="0" baseline="0" dirty="0"/>
          </a:p>
          <a:p>
            <a:pPr defTabSz="908365">
              <a:defRPr/>
            </a:pPr>
            <a:r>
              <a:rPr lang="nl-NL" b="0" baseline="0" dirty="0"/>
              <a:t>Bij de tik van de hamer met als respons de reactie van de </a:t>
            </a:r>
            <a:r>
              <a:rPr lang="nl-NL" b="0" baseline="0" dirty="0" err="1"/>
              <a:t>knipees</a:t>
            </a:r>
            <a:r>
              <a:rPr lang="nl-NL" b="0" baseline="0" dirty="0"/>
              <a:t> noemen we ongeconditioneerde respons. Dit is een respons dat wij van nature hebben geleerd. </a:t>
            </a:r>
          </a:p>
          <a:p>
            <a:pPr defTabSz="908365">
              <a:defRPr/>
            </a:pPr>
            <a:r>
              <a:rPr lang="nl-NL" b="0" baseline="0" dirty="0"/>
              <a:t>Doordat er stimulus-substitutie plaats vind, waarbij een stimulus die normaal gesproken niet tot een bepaalde reactie leidt wordt gekoppeld aan een stimulus die dit van nature wel doet, is er sprake van een geconditioneerde respons. Het onnatuurlijke stimulus vervangt de natuurlijke stimulus, en hier is dus sprake van conditionering, het is als het ware geprogrammeerd. </a:t>
            </a:r>
          </a:p>
          <a:p>
            <a:endParaRPr lang="nl-NL" b="1"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15</a:t>
            </a:fld>
            <a:endParaRPr lang="en-GB" dirty="0"/>
          </a:p>
        </p:txBody>
      </p:sp>
    </p:spTree>
    <p:extLst>
      <p:ext uri="{BB962C8B-B14F-4D97-AF65-F5344CB8AC3E}">
        <p14:creationId xmlns:p14="http://schemas.microsoft.com/office/powerpoint/2010/main" val="5440822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b="1"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16</a:t>
            </a:fld>
            <a:endParaRPr lang="en-GB" dirty="0"/>
          </a:p>
        </p:txBody>
      </p:sp>
    </p:spTree>
    <p:extLst>
      <p:ext uri="{BB962C8B-B14F-4D97-AF65-F5344CB8AC3E}">
        <p14:creationId xmlns:p14="http://schemas.microsoft.com/office/powerpoint/2010/main" val="15401894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b="1"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17</a:t>
            </a:fld>
            <a:endParaRPr lang="en-GB" dirty="0"/>
          </a:p>
        </p:txBody>
      </p:sp>
    </p:spTree>
    <p:extLst>
      <p:ext uri="{BB962C8B-B14F-4D97-AF65-F5344CB8AC3E}">
        <p14:creationId xmlns:p14="http://schemas.microsoft.com/office/powerpoint/2010/main" val="35877546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nl-NL" b="0" dirty="0" err="1"/>
              <a:t>Thorndike</a:t>
            </a:r>
            <a:r>
              <a:rPr lang="nl-NL" b="0" dirty="0"/>
              <a:t> en Skinner worden</a:t>
            </a:r>
            <a:r>
              <a:rPr lang="nl-NL" b="0" baseline="0" dirty="0"/>
              <a:t> vaak aangewezen als d</a:t>
            </a:r>
            <a:r>
              <a:rPr lang="nl-NL" b="0" dirty="0"/>
              <a:t>e daadwerkelijke grondleggers van het behaviorisme.</a:t>
            </a:r>
          </a:p>
          <a:p>
            <a:r>
              <a:rPr lang="nl-NL" b="0" baseline="0" dirty="0"/>
              <a:t>Beide zijn gericht op het gevolg, of de consequentie van het gedrag.  </a:t>
            </a:r>
          </a:p>
          <a:p>
            <a:r>
              <a:rPr lang="nl-NL" b="0" baseline="0" dirty="0"/>
              <a:t>Het basisidee is dan ook als volgt: De omgeving controleert of beïnvloedt, via bekrachtigers, de frequentie van het optreden van gedrag. </a:t>
            </a:r>
          </a:p>
          <a:p>
            <a:r>
              <a:rPr lang="nl-NL" b="0" baseline="0" dirty="0"/>
              <a:t>Bekrachtigers/</a:t>
            </a:r>
            <a:r>
              <a:rPr lang="nl-NL" b="0" baseline="0" dirty="0" err="1"/>
              <a:t>reinforcer</a:t>
            </a:r>
            <a:r>
              <a:rPr lang="nl-NL" b="0" baseline="0" dirty="0"/>
              <a:t> = consequentie. Het is uit de consequentie die volgen op een respons, dat iemand leert,. Het gewenste gedrag wordt gecontroleerd, door bekrachtigers. </a:t>
            </a:r>
          </a:p>
          <a:p>
            <a:r>
              <a:rPr lang="nl-NL" b="0" baseline="0" dirty="0"/>
              <a:t>Het is volgens hen beide namelijk vooral dat iemand leert uit het gevolg, of de consequentie van het gedrag dat een persoon uitvoert. </a:t>
            </a:r>
          </a:p>
          <a:p>
            <a:endParaRPr lang="nl-NL" b="0" baseline="0" dirty="0"/>
          </a:p>
          <a:p>
            <a:r>
              <a:rPr lang="nl-NL" b="0" baseline="0" dirty="0"/>
              <a:t>Het verschil met klassieke conditionering, is vooral dat er nu gericht wordt op een gewild respons, met </a:t>
            </a:r>
            <a:r>
              <a:rPr lang="nl-NL" b="0" baseline="0" dirty="0" err="1"/>
              <a:t>operante</a:t>
            </a:r>
            <a:r>
              <a:rPr lang="nl-NL" b="0" baseline="0" dirty="0"/>
              <a:t> conditionering kun je dus bepalen wat het respons is, terwijl bij klassiek conditioneren het een reflex, of onwillekeurig respons is. </a:t>
            </a:r>
            <a:endParaRPr lang="nl-NL" b="0" dirty="0"/>
          </a:p>
          <a:p>
            <a:endParaRPr lang="nl-NL" b="1"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18</a:t>
            </a:fld>
            <a:endParaRPr lang="en-GB" dirty="0"/>
          </a:p>
        </p:txBody>
      </p:sp>
    </p:spTree>
    <p:extLst>
      <p:ext uri="{BB962C8B-B14F-4D97-AF65-F5344CB8AC3E}">
        <p14:creationId xmlns:p14="http://schemas.microsoft.com/office/powerpoint/2010/main" val="15917590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Je wilt dat het gedrag toeneemt (dus dat hij steeds zo zijn best doet met schrijven), en je</a:t>
            </a:r>
            <a:r>
              <a:rPr lang="nl-NL" baseline="0" dirty="0"/>
              <a:t> biedt een sticker aan. </a:t>
            </a:r>
            <a:endParaRPr lang="nl-NL" dirty="0"/>
          </a:p>
          <a:p>
            <a:endParaRPr lang="nl-NL" dirty="0"/>
          </a:p>
        </p:txBody>
      </p:sp>
      <p:sp>
        <p:nvSpPr>
          <p:cNvPr id="4" name="Slide Number Placeholder 3"/>
          <p:cNvSpPr>
            <a:spLocks noGrp="1"/>
          </p:cNvSpPr>
          <p:nvPr>
            <p:ph type="sldNum" sz="quarter" idx="10"/>
          </p:nvPr>
        </p:nvSpPr>
        <p:spPr/>
        <p:txBody>
          <a:bodyPr/>
          <a:lstStyle/>
          <a:p>
            <a:fld id="{09C03426-65DB-4699-8C6B-F13117C07FD5}" type="slidenum">
              <a:rPr lang="nl-NL" smtClean="0"/>
              <a:t>19</a:t>
            </a:fld>
            <a:endParaRPr lang="nl-NL"/>
          </a:p>
        </p:txBody>
      </p:sp>
    </p:spTree>
    <p:extLst>
      <p:ext uri="{BB962C8B-B14F-4D97-AF65-F5344CB8AC3E}">
        <p14:creationId xmlns:p14="http://schemas.microsoft.com/office/powerpoint/2010/main" val="8589391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nl-NL" b="1" dirty="0"/>
              <a:t>Vraag 2 in college bespreken</a:t>
            </a:r>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20</a:t>
            </a:fld>
            <a:endParaRPr lang="en-GB" dirty="0"/>
          </a:p>
        </p:txBody>
      </p:sp>
    </p:spTree>
    <p:extLst>
      <p:ext uri="{BB962C8B-B14F-4D97-AF65-F5344CB8AC3E}">
        <p14:creationId xmlns:p14="http://schemas.microsoft.com/office/powerpoint/2010/main" val="33240481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nl-NL" b="0" dirty="0"/>
              <a:t>Het cognitivisme</a:t>
            </a:r>
            <a:r>
              <a:rPr lang="nl-NL" b="0" baseline="0" dirty="0"/>
              <a:t> gaat uit van een aantal assumpties, die hier staan weergegeven. </a:t>
            </a:r>
            <a:endParaRPr lang="nl-NL" b="0" dirty="0"/>
          </a:p>
          <a:p>
            <a:pPr marL="170318" indent="-170318">
              <a:buFontTx/>
              <a:buChar char="-"/>
            </a:pPr>
            <a:r>
              <a:rPr lang="nl-NL" b="0" dirty="0"/>
              <a:t>Van het ontvangen van een bepaalde stimulus, tot het geven van en bepaalde reactie daarop zitten diverse stappen. </a:t>
            </a:r>
          </a:p>
          <a:p>
            <a:pPr marL="170318" indent="-170318">
              <a:buFontTx/>
              <a:buChar char="-"/>
            </a:pPr>
            <a:r>
              <a:rPr lang="nl-NL" b="0" dirty="0"/>
              <a:t>Computermetafoor:</a:t>
            </a:r>
            <a:r>
              <a:rPr lang="nl-NL" b="0" baseline="0" dirty="0"/>
              <a:t> </a:t>
            </a:r>
            <a:r>
              <a:rPr lang="nl-NL" b="0" dirty="0"/>
              <a:t>ontvangen, verwerken en opslaan van informatie is vergelijkbaar met de werking van de</a:t>
            </a:r>
            <a:r>
              <a:rPr lang="nl-NL" b="0" baseline="0" dirty="0"/>
              <a:t> computer</a:t>
            </a:r>
            <a:r>
              <a:rPr lang="nl-NL" b="0" dirty="0"/>
              <a:t>. En de opgeslagen informatie kan indien nodig ook worden opgehaald. Vandaar ook de term geheugen.</a:t>
            </a:r>
            <a:r>
              <a:rPr lang="nl-NL" b="0" baseline="0" dirty="0"/>
              <a:t> </a:t>
            </a:r>
            <a:endParaRPr lang="nl-NL" b="0" dirty="0"/>
          </a:p>
          <a:p>
            <a:pPr marL="170318" indent="-170318">
              <a:buFontTx/>
              <a:buChar char="-"/>
            </a:pPr>
            <a:r>
              <a:rPr lang="nl-NL" b="0" baseline="0" dirty="0"/>
              <a:t>ER zijn grenzen aan wat verwerkt kan worden. Elke informatie verwerkende stap heeft een beperkte capaciteit. Er zijn geen grenzen aan de hoeveelheid die we uiteindelijk kunnen leren. (let op, ons geheugen is niet beperkt!) </a:t>
            </a:r>
          </a:p>
          <a:p>
            <a:pPr marL="170318" indent="-170318">
              <a:buFontTx/>
              <a:buChar char="-"/>
            </a:pPr>
            <a:r>
              <a:rPr lang="nl-NL" b="0" baseline="0" dirty="0"/>
              <a:t>De </a:t>
            </a:r>
            <a:r>
              <a:rPr lang="nl-NL" b="0" baseline="0" dirty="0" err="1"/>
              <a:t>informatieverwerkende</a:t>
            </a:r>
            <a:r>
              <a:rPr lang="nl-NL" b="0" baseline="0" dirty="0"/>
              <a:t> activiteit is interactief. We verwerken sneller informatie waar we al wat van weten, omdat het beïnvloedend werkt op de perceptie en de aandacht van de persoon. Hier vertel ik zo iets meer over. </a:t>
            </a:r>
          </a:p>
          <a:p>
            <a:pPr marL="170318" indent="-170318">
              <a:buFontTx/>
              <a:buChar char="-"/>
            </a:pPr>
            <a:r>
              <a:rPr lang="nl-NL" b="0" baseline="0" dirty="0"/>
              <a:t>Reeks processen komen deels terug in dit college en worden verder uitgewerkt in Valcke. Hier zie je dus duidelijk terug dat informatie opslaan niet vanzelf gaat, maar er duidelijk activiteiten moeten plaats vinden. Veel van deze processen komen in dit college nog aan bod. </a:t>
            </a:r>
          </a:p>
          <a:p>
            <a:pPr marL="170318" indent="-170318">
              <a:buFontTx/>
              <a:buChar char="-"/>
            </a:pPr>
            <a:endParaRPr lang="nl-NL" b="0" baseline="0"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21</a:t>
            </a:fld>
            <a:endParaRPr lang="en-GB" dirty="0"/>
          </a:p>
        </p:txBody>
      </p:sp>
    </p:spTree>
    <p:extLst>
      <p:ext uri="{BB962C8B-B14F-4D97-AF65-F5344CB8AC3E}">
        <p14:creationId xmlns:p14="http://schemas.microsoft.com/office/powerpoint/2010/main" val="26789893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nl-NL" b="0" baseline="0" dirty="0"/>
              <a:t>In de cognitieve benadering wordt onze cognitie onder andere voorgesteld door het informatieverwerkingsmodel. </a:t>
            </a:r>
          </a:p>
          <a:p>
            <a:r>
              <a:rPr lang="nl-NL" b="0" baseline="0" dirty="0"/>
              <a:t>- Sensorische input – zien of horen van informatie, stimuli die je ontvangt. </a:t>
            </a:r>
          </a:p>
          <a:p>
            <a:pPr marL="170318" indent="-170318">
              <a:buFontTx/>
              <a:buChar char="-"/>
            </a:pPr>
            <a:r>
              <a:rPr lang="nl-NL" b="0" baseline="0" dirty="0" err="1"/>
              <a:t>Sensory</a:t>
            </a:r>
            <a:r>
              <a:rPr lang="nl-NL" b="0" baseline="0" dirty="0"/>
              <a:t> memory – hier wordt de visuele en auditieve informatie heel kort opgeslagen. </a:t>
            </a:r>
          </a:p>
          <a:p>
            <a:r>
              <a:rPr lang="nl-NL" b="0" baseline="0" dirty="0"/>
              <a:t>Vanuit je sensorisch geheugen, gaat de informatie naar het werkgeheugen. Maar niet alle informatie gaat daar heen. De informatie waar aandacht aan wordt gegeven, attention komt uiteindelijk in het werkgeheugen. Attention, ook wel selectieve perceptie is één van de controle processen die in het geheugen plaatsvindt. Alle controleprocessen hebben een groene kleur. Welke informatie de aandacht krijgt hangt af van een aantal factoren: </a:t>
            </a:r>
          </a:p>
          <a:p>
            <a:r>
              <a:rPr lang="nl-NL" b="0" baseline="0" dirty="0"/>
              <a:t>1. allereerst de betekenis die de informatie voor je heeft. Denk aan bijv. jouw naam. Als je je naam hoort, richt je vrijwel altijd je aandacht op die informatie </a:t>
            </a:r>
            <a:r>
              <a:rPr lang="nl-NL" b="0" baseline="0" dirty="0" err="1"/>
              <a:t>ipv</a:t>
            </a:r>
            <a:r>
              <a:rPr lang="nl-NL" b="0" baseline="0" dirty="0"/>
              <a:t> alle andere zaken die op dat moment om je heen gebeuren. </a:t>
            </a:r>
          </a:p>
          <a:p>
            <a:r>
              <a:rPr lang="nl-NL" b="0" baseline="0" dirty="0"/>
              <a:t>2. ook de mate waarin iets opvalt, twee gesprekken waarbij de een net iets harder is dan de ander, of twee teksten waarbij de één veel kleur en </a:t>
            </a:r>
            <a:r>
              <a:rPr lang="nl-NL" b="0" baseline="0" dirty="0" err="1"/>
              <a:t>opvallendheden</a:t>
            </a:r>
            <a:r>
              <a:rPr lang="nl-NL" b="0" baseline="0" dirty="0"/>
              <a:t> bevatten. Daar richt je je vaak op, </a:t>
            </a:r>
            <a:r>
              <a:rPr lang="nl-NL" b="0" baseline="0" dirty="0" err="1"/>
              <a:t>ipv</a:t>
            </a:r>
            <a:r>
              <a:rPr lang="nl-NL" b="0" baseline="0" dirty="0"/>
              <a:t> op de minder opvallende zaken. </a:t>
            </a:r>
          </a:p>
          <a:p>
            <a:r>
              <a:rPr lang="nl-NL" b="0" baseline="0" dirty="0"/>
              <a:t>3. de complexheid van de informatie. Als de informatie die naar je toekomt nieuw is, en je daar weinig voorkennis bij hebt, zul je minder informatie tegelijkertijd de aandacht kunnen geven als dat informatie heel erg bekend voor je is. Denk bijv. aan </a:t>
            </a:r>
            <a:r>
              <a:rPr lang="nl-NL" b="0" baseline="0" dirty="0" err="1"/>
              <a:t>pattern</a:t>
            </a:r>
            <a:r>
              <a:rPr lang="nl-NL" b="0" baseline="0" dirty="0"/>
              <a:t> </a:t>
            </a:r>
            <a:r>
              <a:rPr lang="nl-NL" b="0" baseline="0" dirty="0" err="1"/>
              <a:t>recognition</a:t>
            </a:r>
            <a:r>
              <a:rPr lang="nl-NL" b="0" baseline="0" dirty="0"/>
              <a:t>. Bij het lezen van informatie komen heel veel letters op je af. </a:t>
            </a:r>
            <a:r>
              <a:rPr lang="nl-NL" b="0" baseline="0" dirty="0" err="1"/>
              <a:t>Ipv</a:t>
            </a:r>
            <a:r>
              <a:rPr lang="nl-NL" b="0" baseline="0" dirty="0"/>
              <a:t> dat je je richt op letters richt je je op de woorden of misschien wel zinnen omdat je al een patroon herkent in de informatie die naar je toekomt. Hetzelfde geld bij autorijden. Bij het </a:t>
            </a:r>
            <a:r>
              <a:rPr lang="nl-NL" b="0" baseline="0" dirty="0" err="1"/>
              <a:t>tegemoetrijden</a:t>
            </a:r>
            <a:r>
              <a:rPr lang="nl-NL" b="0" baseline="0" dirty="0"/>
              <a:t> van een kruispunt met stoplicht, weet je dat je vooral moet focussen op het stoplicht. Je herkent het patroon van de kruising. </a:t>
            </a:r>
          </a:p>
          <a:p>
            <a:r>
              <a:rPr lang="nl-NL" b="0" baseline="0" dirty="0"/>
              <a:t>- werkgeheugen. Uiteindelijk komt de informatie waar je je op hebt gericht, wat jouw aandacht heeft gekregen in het werkgeheugen. Zoals de term al verklapt, wordt de informatie hier daadwerkelijk verwerkt. Ik geef hier een voorbeeld van processen die hier plaats kunnen vinden:</a:t>
            </a:r>
          </a:p>
          <a:p>
            <a:pPr marL="624501" lvl="1" indent="-170318">
              <a:buFontTx/>
              <a:buChar char="-"/>
            </a:pPr>
            <a:r>
              <a:rPr lang="en-US" dirty="0"/>
              <a:t>Rehearsal (</a:t>
            </a:r>
            <a:r>
              <a:rPr lang="en-US" dirty="0" err="1"/>
              <a:t>rehersal</a:t>
            </a:r>
            <a:r>
              <a:rPr lang="en-US" dirty="0"/>
              <a:t>): </a:t>
            </a:r>
            <a:r>
              <a:rPr lang="en-US" dirty="0" err="1"/>
              <a:t>herhalen</a:t>
            </a:r>
            <a:r>
              <a:rPr lang="en-US" dirty="0"/>
              <a:t> van </a:t>
            </a:r>
            <a:r>
              <a:rPr lang="en-US" dirty="0" err="1"/>
              <a:t>informatie</a:t>
            </a:r>
            <a:r>
              <a:rPr lang="en-US" dirty="0"/>
              <a:t>, </a:t>
            </a:r>
            <a:r>
              <a:rPr lang="en-US" dirty="0" err="1"/>
              <a:t>zodat</a:t>
            </a:r>
            <a:r>
              <a:rPr lang="en-US" dirty="0"/>
              <a:t> je het </a:t>
            </a:r>
            <a:r>
              <a:rPr lang="en-US" dirty="0" err="1"/>
              <a:t>kunt</a:t>
            </a:r>
            <a:r>
              <a:rPr lang="en-US" dirty="0"/>
              <a:t> </a:t>
            </a:r>
            <a:r>
              <a:rPr lang="en-US" dirty="0" err="1"/>
              <a:t>onthouden</a:t>
            </a:r>
            <a:r>
              <a:rPr lang="en-US" dirty="0"/>
              <a:t> en </a:t>
            </a:r>
            <a:r>
              <a:rPr lang="en-US" dirty="0" err="1"/>
              <a:t>verwerken</a:t>
            </a:r>
            <a:r>
              <a:rPr lang="en-US" dirty="0"/>
              <a:t>. </a:t>
            </a:r>
            <a:r>
              <a:rPr lang="en-US" dirty="0" err="1"/>
              <a:t>Bijv</a:t>
            </a:r>
            <a:r>
              <a:rPr lang="en-US" dirty="0"/>
              <a:t>. Om de </a:t>
            </a:r>
            <a:r>
              <a:rPr lang="en-US" dirty="0" err="1"/>
              <a:t>som</a:t>
            </a:r>
            <a:r>
              <a:rPr lang="en-US" dirty="0"/>
              <a:t> 34x12 op te </a:t>
            </a:r>
            <a:r>
              <a:rPr lang="en-US" dirty="0" err="1"/>
              <a:t>kunnen</a:t>
            </a:r>
            <a:r>
              <a:rPr lang="en-US" dirty="0"/>
              <a:t> </a:t>
            </a:r>
            <a:r>
              <a:rPr lang="en-US" dirty="0" err="1"/>
              <a:t>lossen</a:t>
            </a:r>
            <a:r>
              <a:rPr lang="en-US" dirty="0"/>
              <a:t>, </a:t>
            </a:r>
            <a:r>
              <a:rPr lang="en-US" dirty="0" err="1"/>
              <a:t>onthouden</a:t>
            </a:r>
            <a:r>
              <a:rPr lang="en-US" dirty="0"/>
              <a:t> we </a:t>
            </a:r>
            <a:r>
              <a:rPr lang="en-US" dirty="0" err="1"/>
              <a:t>waarschijnlijk</a:t>
            </a:r>
            <a:r>
              <a:rPr lang="en-US" dirty="0"/>
              <a:t> </a:t>
            </a:r>
            <a:r>
              <a:rPr lang="en-US" dirty="0" err="1"/>
              <a:t>eerst</a:t>
            </a:r>
            <a:r>
              <a:rPr lang="en-US" dirty="0"/>
              <a:t> de </a:t>
            </a:r>
            <a:r>
              <a:rPr lang="en-US" dirty="0" err="1"/>
              <a:t>tussenstap</a:t>
            </a:r>
            <a:r>
              <a:rPr lang="en-US" dirty="0"/>
              <a:t> (34x10=340) en </a:t>
            </a:r>
            <a:r>
              <a:rPr lang="en-US" dirty="0" err="1"/>
              <a:t>tellen</a:t>
            </a:r>
            <a:r>
              <a:rPr lang="en-US" dirty="0"/>
              <a:t> </a:t>
            </a:r>
            <a:r>
              <a:rPr lang="en-US" dirty="0" err="1"/>
              <a:t>daarna</a:t>
            </a:r>
            <a:r>
              <a:rPr lang="en-US" dirty="0"/>
              <a:t> 34x2 </a:t>
            </a:r>
            <a:r>
              <a:rPr lang="en-US" dirty="0" err="1"/>
              <a:t>erbij</a:t>
            </a:r>
            <a:r>
              <a:rPr lang="en-US" dirty="0"/>
              <a:t> op. </a:t>
            </a:r>
          </a:p>
          <a:p>
            <a:pPr marL="624501" lvl="1" indent="-170318">
              <a:buFontTx/>
              <a:buChar char="-"/>
            </a:pPr>
            <a:r>
              <a:rPr lang="en-US" dirty="0"/>
              <a:t>Chunking: het </a:t>
            </a:r>
            <a:r>
              <a:rPr lang="en-US" dirty="0" err="1"/>
              <a:t>samenbrengen</a:t>
            </a:r>
            <a:r>
              <a:rPr lang="en-US" dirty="0"/>
              <a:t> van </a:t>
            </a:r>
            <a:r>
              <a:rPr lang="en-US" dirty="0" err="1"/>
              <a:t>informatie</a:t>
            </a:r>
            <a:r>
              <a:rPr lang="en-US" dirty="0"/>
              <a:t> die op </a:t>
            </a:r>
            <a:r>
              <a:rPr lang="en-US" dirty="0" err="1"/>
              <a:t>elkaar</a:t>
            </a:r>
            <a:r>
              <a:rPr lang="en-US" dirty="0"/>
              <a:t> </a:t>
            </a:r>
            <a:r>
              <a:rPr lang="en-US" dirty="0" err="1"/>
              <a:t>lijkt</a:t>
            </a:r>
            <a:r>
              <a:rPr lang="en-US" dirty="0"/>
              <a:t>, of </a:t>
            </a:r>
            <a:r>
              <a:rPr lang="en-US" dirty="0" err="1"/>
              <a:t>waar</a:t>
            </a:r>
            <a:r>
              <a:rPr lang="en-US" dirty="0"/>
              <a:t> je </a:t>
            </a:r>
            <a:r>
              <a:rPr lang="en-US" dirty="0" err="1"/>
              <a:t>een</a:t>
            </a:r>
            <a:r>
              <a:rPr lang="en-US" dirty="0"/>
              <a:t> </a:t>
            </a:r>
            <a:r>
              <a:rPr lang="en-US" dirty="0" err="1"/>
              <a:t>verband</a:t>
            </a:r>
            <a:r>
              <a:rPr lang="en-US" dirty="0"/>
              <a:t> </a:t>
            </a:r>
            <a:r>
              <a:rPr lang="en-US" dirty="0" err="1"/>
              <a:t>tussen</a:t>
            </a:r>
            <a:r>
              <a:rPr lang="en-US" dirty="0"/>
              <a:t> </a:t>
            </a:r>
            <a:r>
              <a:rPr lang="en-US" dirty="0" err="1"/>
              <a:t>ziet</a:t>
            </a:r>
            <a:r>
              <a:rPr lang="en-US" dirty="0"/>
              <a:t>. </a:t>
            </a:r>
            <a:r>
              <a:rPr lang="en-US" dirty="0" err="1"/>
              <a:t>Denk</a:t>
            </a:r>
            <a:r>
              <a:rPr lang="en-US" dirty="0"/>
              <a:t> </a:t>
            </a:r>
            <a:r>
              <a:rPr lang="en-US" dirty="0" err="1"/>
              <a:t>bijv</a:t>
            </a:r>
            <a:r>
              <a:rPr lang="en-US" dirty="0"/>
              <a:t>. </a:t>
            </a:r>
            <a:r>
              <a:rPr lang="en-US" dirty="0" err="1"/>
              <a:t>Aan</a:t>
            </a:r>
            <a:r>
              <a:rPr lang="en-US" dirty="0"/>
              <a:t> het </a:t>
            </a:r>
            <a:r>
              <a:rPr lang="en-US" dirty="0" err="1"/>
              <a:t>onthouden</a:t>
            </a:r>
            <a:r>
              <a:rPr lang="en-US" dirty="0"/>
              <a:t> van </a:t>
            </a:r>
            <a:r>
              <a:rPr lang="en-US" dirty="0" err="1"/>
              <a:t>telefoonnummers</a:t>
            </a:r>
            <a:r>
              <a:rPr lang="en-US" dirty="0"/>
              <a:t>, de </a:t>
            </a:r>
            <a:r>
              <a:rPr lang="en-US" dirty="0" err="1"/>
              <a:t>nummers</a:t>
            </a:r>
            <a:r>
              <a:rPr lang="en-US" dirty="0"/>
              <a:t> </a:t>
            </a:r>
            <a:r>
              <a:rPr lang="en-US" dirty="0" err="1"/>
              <a:t>verdelen</a:t>
            </a:r>
            <a:r>
              <a:rPr lang="en-US" dirty="0"/>
              <a:t> we </a:t>
            </a:r>
            <a:r>
              <a:rPr lang="en-US" dirty="0" err="1"/>
              <a:t>vaak</a:t>
            </a:r>
            <a:r>
              <a:rPr lang="en-US" dirty="0"/>
              <a:t> in </a:t>
            </a:r>
            <a:r>
              <a:rPr lang="en-US" dirty="0" err="1"/>
              <a:t>groepjes</a:t>
            </a:r>
            <a:r>
              <a:rPr lang="en-US" dirty="0"/>
              <a:t> van 3. </a:t>
            </a:r>
          </a:p>
          <a:p>
            <a:pPr marL="170318" indent="-170318">
              <a:buFontTx/>
              <a:buChar char="-"/>
            </a:pPr>
            <a:r>
              <a:rPr lang="en-US" dirty="0" err="1"/>
              <a:t>Respons</a:t>
            </a:r>
            <a:r>
              <a:rPr lang="en-US" dirty="0"/>
              <a:t> Als je de </a:t>
            </a:r>
            <a:r>
              <a:rPr lang="en-US" dirty="0" err="1"/>
              <a:t>informatie</a:t>
            </a:r>
            <a:r>
              <a:rPr lang="en-US" dirty="0"/>
              <a:t> </a:t>
            </a:r>
            <a:r>
              <a:rPr lang="en-US" dirty="0" err="1"/>
              <a:t>hebt</a:t>
            </a:r>
            <a:r>
              <a:rPr lang="en-US" dirty="0"/>
              <a:t> </a:t>
            </a:r>
            <a:r>
              <a:rPr lang="en-US" dirty="0" err="1"/>
              <a:t>verwerkt</a:t>
            </a:r>
            <a:r>
              <a:rPr lang="en-US" dirty="0"/>
              <a:t> </a:t>
            </a:r>
            <a:r>
              <a:rPr lang="en-US" dirty="0" err="1"/>
              <a:t>gaat</a:t>
            </a:r>
            <a:r>
              <a:rPr lang="en-US" dirty="0"/>
              <a:t> het </a:t>
            </a:r>
            <a:r>
              <a:rPr lang="en-US" dirty="0" err="1"/>
              <a:t>vaak</a:t>
            </a:r>
            <a:r>
              <a:rPr lang="en-US" dirty="0"/>
              <a:t> twee </a:t>
            </a:r>
            <a:r>
              <a:rPr lang="en-US" dirty="0" err="1"/>
              <a:t>richtingen</a:t>
            </a:r>
            <a:r>
              <a:rPr lang="en-US" dirty="0"/>
              <a:t> op, je </a:t>
            </a:r>
            <a:r>
              <a:rPr lang="en-US" dirty="0" err="1"/>
              <a:t>geeft</a:t>
            </a:r>
            <a:r>
              <a:rPr lang="en-US" dirty="0"/>
              <a:t> </a:t>
            </a:r>
            <a:r>
              <a:rPr lang="en-US" dirty="0" err="1"/>
              <a:t>een</a:t>
            </a:r>
            <a:r>
              <a:rPr lang="en-US" dirty="0"/>
              <a:t> </a:t>
            </a:r>
            <a:r>
              <a:rPr lang="en-US" dirty="0" err="1"/>
              <a:t>respons</a:t>
            </a:r>
            <a:r>
              <a:rPr lang="en-US" dirty="0"/>
              <a:t> </a:t>
            </a:r>
            <a:r>
              <a:rPr lang="en-US" dirty="0" err="1"/>
              <a:t>naar</a:t>
            </a:r>
            <a:r>
              <a:rPr lang="en-US" dirty="0"/>
              <a:t> je </a:t>
            </a:r>
            <a:r>
              <a:rPr lang="en-US" dirty="0" err="1"/>
              <a:t>omgeving</a:t>
            </a:r>
            <a:r>
              <a:rPr lang="en-US" dirty="0"/>
              <a:t>. Je </a:t>
            </a:r>
            <a:r>
              <a:rPr lang="en-US" dirty="0" err="1"/>
              <a:t>reageert</a:t>
            </a:r>
            <a:r>
              <a:rPr lang="en-US" dirty="0"/>
              <a:t> </a:t>
            </a:r>
            <a:r>
              <a:rPr lang="en-US" dirty="0" err="1"/>
              <a:t>bijv</a:t>
            </a:r>
            <a:r>
              <a:rPr lang="en-US" dirty="0"/>
              <a:t>. Op je naam die is  </a:t>
            </a:r>
            <a:r>
              <a:rPr lang="en-US" dirty="0" err="1"/>
              <a:t>geroepen</a:t>
            </a:r>
            <a:r>
              <a:rPr lang="en-US" dirty="0"/>
              <a:t> of je </a:t>
            </a:r>
            <a:r>
              <a:rPr lang="en-US" dirty="0" err="1"/>
              <a:t>geeft</a:t>
            </a:r>
            <a:r>
              <a:rPr lang="en-US" dirty="0"/>
              <a:t> het </a:t>
            </a:r>
            <a:r>
              <a:rPr lang="en-US" dirty="0" err="1"/>
              <a:t>antwoord</a:t>
            </a:r>
            <a:r>
              <a:rPr lang="en-US" dirty="0"/>
              <a:t> op de som. </a:t>
            </a:r>
          </a:p>
          <a:p>
            <a:pPr marL="170318" indent="-170318">
              <a:buFontTx/>
              <a:buChar char="-"/>
            </a:pPr>
            <a:r>
              <a:rPr lang="en-US" dirty="0"/>
              <a:t>Lange </a:t>
            </a:r>
            <a:r>
              <a:rPr lang="en-US" dirty="0" err="1"/>
              <a:t>termijn</a:t>
            </a:r>
            <a:r>
              <a:rPr lang="en-US" dirty="0"/>
              <a:t> </a:t>
            </a:r>
            <a:r>
              <a:rPr lang="en-US" dirty="0" err="1"/>
              <a:t>geheugen</a:t>
            </a:r>
            <a:r>
              <a:rPr lang="en-US" dirty="0"/>
              <a:t>  </a:t>
            </a:r>
            <a:r>
              <a:rPr lang="en-US" dirty="0" err="1"/>
              <a:t>Daarnaast</a:t>
            </a:r>
            <a:r>
              <a:rPr lang="en-US" dirty="0"/>
              <a:t> </a:t>
            </a:r>
            <a:r>
              <a:rPr lang="en-US" dirty="0" err="1"/>
              <a:t>wordt</a:t>
            </a:r>
            <a:r>
              <a:rPr lang="en-US" dirty="0"/>
              <a:t> het </a:t>
            </a:r>
            <a:r>
              <a:rPr lang="en-US" dirty="0" err="1"/>
              <a:t>opgeslagen</a:t>
            </a:r>
            <a:r>
              <a:rPr lang="en-US" dirty="0"/>
              <a:t> in het </a:t>
            </a:r>
            <a:r>
              <a:rPr lang="en-US" dirty="0" err="1"/>
              <a:t>lange</a:t>
            </a:r>
            <a:r>
              <a:rPr lang="en-US" dirty="0"/>
              <a:t> </a:t>
            </a:r>
            <a:r>
              <a:rPr lang="en-US" dirty="0" err="1"/>
              <a:t>termijn</a:t>
            </a:r>
            <a:r>
              <a:rPr lang="en-US" dirty="0"/>
              <a:t> </a:t>
            </a:r>
            <a:r>
              <a:rPr lang="en-US" dirty="0" err="1"/>
              <a:t>geheugen</a:t>
            </a:r>
            <a:r>
              <a:rPr lang="en-US" dirty="0"/>
              <a:t>. </a:t>
            </a:r>
            <a:r>
              <a:rPr lang="en-US" dirty="0" err="1"/>
              <a:t>Hierbij</a:t>
            </a:r>
            <a:r>
              <a:rPr lang="en-US" dirty="0"/>
              <a:t> </a:t>
            </a:r>
            <a:r>
              <a:rPr lang="en-US" dirty="0" err="1"/>
              <a:t>speelt</a:t>
            </a:r>
            <a:r>
              <a:rPr lang="en-US" dirty="0"/>
              <a:t> retrieval, het </a:t>
            </a:r>
            <a:r>
              <a:rPr lang="en-US" dirty="0" err="1"/>
              <a:t>ophalen</a:t>
            </a:r>
            <a:r>
              <a:rPr lang="en-US" dirty="0"/>
              <a:t> van </a:t>
            </a:r>
            <a:r>
              <a:rPr lang="en-US" dirty="0" err="1"/>
              <a:t>informatie</a:t>
            </a:r>
            <a:r>
              <a:rPr lang="en-US" dirty="0"/>
              <a:t> </a:t>
            </a:r>
            <a:r>
              <a:rPr lang="en-US" dirty="0" err="1"/>
              <a:t>uit</a:t>
            </a:r>
            <a:r>
              <a:rPr lang="en-US" dirty="0"/>
              <a:t> je </a:t>
            </a:r>
            <a:r>
              <a:rPr lang="en-US" dirty="0" err="1"/>
              <a:t>lange</a:t>
            </a:r>
            <a:r>
              <a:rPr lang="en-US" dirty="0"/>
              <a:t> </a:t>
            </a:r>
            <a:r>
              <a:rPr lang="en-US" dirty="0" err="1"/>
              <a:t>termijn</a:t>
            </a:r>
            <a:r>
              <a:rPr lang="en-US" dirty="0"/>
              <a:t> </a:t>
            </a:r>
            <a:r>
              <a:rPr lang="en-US" dirty="0" err="1"/>
              <a:t>geheugen</a:t>
            </a:r>
            <a:r>
              <a:rPr lang="en-US" dirty="0"/>
              <a:t> en encoding, het </a:t>
            </a:r>
            <a:r>
              <a:rPr lang="en-US" dirty="0" err="1"/>
              <a:t>daadwerkelijk</a:t>
            </a:r>
            <a:r>
              <a:rPr lang="en-US" dirty="0"/>
              <a:t> </a:t>
            </a:r>
            <a:r>
              <a:rPr lang="en-US" dirty="0" err="1"/>
              <a:t>opslaan</a:t>
            </a:r>
            <a:r>
              <a:rPr lang="en-US" dirty="0"/>
              <a:t> van </a:t>
            </a:r>
            <a:r>
              <a:rPr lang="en-US" dirty="0" err="1"/>
              <a:t>informatie</a:t>
            </a:r>
            <a:r>
              <a:rPr lang="en-US" dirty="0"/>
              <a:t> </a:t>
            </a:r>
            <a:r>
              <a:rPr lang="en-US" dirty="0" err="1"/>
              <a:t>een</a:t>
            </a:r>
            <a:r>
              <a:rPr lang="en-US" dirty="0"/>
              <a:t> </a:t>
            </a:r>
            <a:r>
              <a:rPr lang="en-US" dirty="0" err="1"/>
              <a:t>rol</a:t>
            </a:r>
            <a:r>
              <a:rPr lang="en-US" dirty="0"/>
              <a:t>. De </a:t>
            </a:r>
            <a:r>
              <a:rPr lang="en-US" dirty="0" err="1"/>
              <a:t>informatie</a:t>
            </a:r>
            <a:r>
              <a:rPr lang="en-US" dirty="0"/>
              <a:t> </a:t>
            </a:r>
            <a:r>
              <a:rPr lang="en-US" dirty="0" err="1"/>
              <a:t>wordt</a:t>
            </a:r>
            <a:r>
              <a:rPr lang="en-US" dirty="0"/>
              <a:t> </a:t>
            </a:r>
            <a:r>
              <a:rPr lang="en-US" dirty="0" err="1"/>
              <a:t>opgeslagen</a:t>
            </a:r>
            <a:r>
              <a:rPr lang="en-US" dirty="0"/>
              <a:t> in schema’s </a:t>
            </a:r>
            <a:r>
              <a:rPr lang="en-US" dirty="0" err="1"/>
              <a:t>welke</a:t>
            </a:r>
            <a:r>
              <a:rPr lang="en-US" dirty="0"/>
              <a:t> de </a:t>
            </a:r>
            <a:r>
              <a:rPr lang="en-US" dirty="0" err="1"/>
              <a:t>informatie</a:t>
            </a:r>
            <a:r>
              <a:rPr lang="en-US" dirty="0"/>
              <a:t> in het </a:t>
            </a:r>
            <a:r>
              <a:rPr lang="en-US" dirty="0" err="1"/>
              <a:t>geheugen</a:t>
            </a:r>
            <a:r>
              <a:rPr lang="en-US" dirty="0"/>
              <a:t> </a:t>
            </a:r>
            <a:r>
              <a:rPr lang="en-US" dirty="0" err="1"/>
              <a:t>organiseren</a:t>
            </a:r>
            <a:r>
              <a:rPr lang="en-US" dirty="0"/>
              <a:t>. Hoe </a:t>
            </a:r>
            <a:r>
              <a:rPr lang="en-US" dirty="0" err="1"/>
              <a:t>dit</a:t>
            </a:r>
            <a:r>
              <a:rPr lang="en-US" dirty="0"/>
              <a:t> </a:t>
            </a:r>
            <a:r>
              <a:rPr lang="en-US" dirty="0" err="1"/>
              <a:t>precies</a:t>
            </a:r>
            <a:r>
              <a:rPr lang="en-US" dirty="0"/>
              <a:t> </a:t>
            </a:r>
            <a:r>
              <a:rPr lang="en-US" dirty="0" err="1"/>
              <a:t>gebeurt</a:t>
            </a:r>
            <a:r>
              <a:rPr lang="en-US" dirty="0"/>
              <a:t> en </a:t>
            </a:r>
            <a:r>
              <a:rPr lang="en-US" dirty="0" err="1"/>
              <a:t>welke</a:t>
            </a:r>
            <a:r>
              <a:rPr lang="en-US" dirty="0"/>
              <a:t> </a:t>
            </a:r>
            <a:r>
              <a:rPr lang="en-US" dirty="0" err="1"/>
              <a:t>controle</a:t>
            </a:r>
            <a:r>
              <a:rPr lang="en-US" dirty="0"/>
              <a:t> </a:t>
            </a:r>
            <a:r>
              <a:rPr lang="en-US" dirty="0" err="1"/>
              <a:t>processen</a:t>
            </a:r>
            <a:r>
              <a:rPr lang="en-US" dirty="0"/>
              <a:t> </a:t>
            </a:r>
            <a:r>
              <a:rPr lang="en-US" dirty="0" err="1"/>
              <a:t>daarbij</a:t>
            </a:r>
            <a:r>
              <a:rPr lang="en-US" dirty="0"/>
              <a:t> </a:t>
            </a:r>
            <a:r>
              <a:rPr lang="en-US" dirty="0" err="1"/>
              <a:t>een</a:t>
            </a:r>
            <a:r>
              <a:rPr lang="en-US" dirty="0"/>
              <a:t> </a:t>
            </a:r>
            <a:r>
              <a:rPr lang="en-US" dirty="0" err="1"/>
              <a:t>rol</a:t>
            </a:r>
            <a:r>
              <a:rPr lang="en-US" dirty="0"/>
              <a:t> </a:t>
            </a:r>
            <a:r>
              <a:rPr lang="en-US" dirty="0" err="1"/>
              <a:t>spelen</a:t>
            </a:r>
            <a:r>
              <a:rPr lang="en-US" dirty="0"/>
              <a:t> </a:t>
            </a:r>
            <a:r>
              <a:rPr lang="en-US" dirty="0" err="1"/>
              <a:t>wil</a:t>
            </a:r>
            <a:r>
              <a:rPr lang="en-US" dirty="0"/>
              <a:t> </a:t>
            </a:r>
            <a:r>
              <a:rPr lang="en-US" dirty="0" err="1"/>
              <a:t>ik</a:t>
            </a:r>
            <a:r>
              <a:rPr lang="en-US" dirty="0"/>
              <a:t> </a:t>
            </a:r>
            <a:r>
              <a:rPr lang="en-US" dirty="0" err="1"/>
              <a:t>uitleggen</a:t>
            </a:r>
            <a:r>
              <a:rPr lang="en-US" dirty="0"/>
              <a:t> door </a:t>
            </a:r>
            <a:r>
              <a:rPr lang="en-US" dirty="0" err="1"/>
              <a:t>iets</a:t>
            </a:r>
            <a:r>
              <a:rPr lang="en-US" dirty="0"/>
              <a:t> </a:t>
            </a:r>
            <a:r>
              <a:rPr lang="en-US" dirty="0" err="1"/>
              <a:t>meer</a:t>
            </a:r>
            <a:r>
              <a:rPr lang="en-US" dirty="0"/>
              <a:t> in te </a:t>
            </a:r>
            <a:r>
              <a:rPr lang="en-US" dirty="0" err="1"/>
              <a:t>zoomen</a:t>
            </a:r>
            <a:r>
              <a:rPr lang="en-US" dirty="0"/>
              <a:t> op </a:t>
            </a:r>
            <a:r>
              <a:rPr lang="en-US" dirty="0" err="1"/>
              <a:t>dit</a:t>
            </a:r>
            <a:r>
              <a:rPr lang="en-US" dirty="0"/>
              <a:t> model. </a:t>
            </a:r>
          </a:p>
          <a:p>
            <a:pPr marL="170318" indent="-170318">
              <a:buFontTx/>
              <a:buChar char="-"/>
            </a:pPr>
            <a:endParaRPr lang="en-US" dirty="0"/>
          </a:p>
          <a:p>
            <a:r>
              <a:rPr lang="en-US" dirty="0"/>
              <a:t>Er is </a:t>
            </a:r>
            <a:r>
              <a:rPr lang="en-US" dirty="0" err="1"/>
              <a:t>dus</a:t>
            </a:r>
            <a:r>
              <a:rPr lang="en-US" dirty="0"/>
              <a:t> </a:t>
            </a:r>
            <a:r>
              <a:rPr lang="en-US" dirty="0" err="1"/>
              <a:t>zowel</a:t>
            </a:r>
            <a:r>
              <a:rPr lang="en-US" dirty="0"/>
              <a:t> </a:t>
            </a:r>
            <a:r>
              <a:rPr lang="en-US" dirty="0" err="1"/>
              <a:t>een</a:t>
            </a:r>
            <a:r>
              <a:rPr lang="en-US" dirty="0"/>
              <a:t> </a:t>
            </a:r>
            <a:r>
              <a:rPr lang="en-US" dirty="0" err="1"/>
              <a:t>bottum</a:t>
            </a:r>
            <a:r>
              <a:rPr lang="en-US" dirty="0"/>
              <a:t>-up </a:t>
            </a:r>
            <a:r>
              <a:rPr lang="en-US" dirty="0" err="1"/>
              <a:t>proces</a:t>
            </a:r>
            <a:r>
              <a:rPr lang="en-US" dirty="0"/>
              <a:t> en </a:t>
            </a:r>
            <a:r>
              <a:rPr lang="en-US" dirty="0" err="1"/>
              <a:t>een</a:t>
            </a:r>
            <a:r>
              <a:rPr lang="en-US" dirty="0"/>
              <a:t> top-down </a:t>
            </a:r>
            <a:r>
              <a:rPr lang="en-US" dirty="0" err="1"/>
              <a:t>proces</a:t>
            </a:r>
            <a:r>
              <a:rPr lang="en-US" dirty="0"/>
              <a:t> </a:t>
            </a:r>
            <a:r>
              <a:rPr lang="en-US" dirty="0" err="1"/>
              <a:t>werkzaaam</a:t>
            </a:r>
            <a:r>
              <a:rPr lang="en-US" dirty="0"/>
              <a:t>. </a:t>
            </a:r>
            <a:r>
              <a:rPr lang="en-US" dirty="0" err="1"/>
              <a:t>Bottum</a:t>
            </a:r>
            <a:r>
              <a:rPr lang="en-US" dirty="0"/>
              <a:t>-up </a:t>
            </a:r>
            <a:r>
              <a:rPr lang="en-US" dirty="0" err="1"/>
              <a:t>omdat</a:t>
            </a:r>
            <a:r>
              <a:rPr lang="en-US" dirty="0"/>
              <a:t> stimuli </a:t>
            </a:r>
            <a:r>
              <a:rPr lang="en-US" dirty="0" err="1"/>
              <a:t>uit</a:t>
            </a:r>
            <a:r>
              <a:rPr lang="en-US" dirty="0"/>
              <a:t> de </a:t>
            </a:r>
            <a:r>
              <a:rPr lang="en-US" dirty="0" err="1"/>
              <a:t>omgeving</a:t>
            </a:r>
            <a:r>
              <a:rPr lang="en-US" dirty="0"/>
              <a:t> </a:t>
            </a:r>
            <a:r>
              <a:rPr lang="en-US" dirty="0" err="1"/>
              <a:t>worden</a:t>
            </a:r>
            <a:r>
              <a:rPr lang="en-US" dirty="0"/>
              <a:t> </a:t>
            </a:r>
            <a:r>
              <a:rPr lang="en-US" dirty="0" err="1"/>
              <a:t>opgepikt</a:t>
            </a:r>
            <a:r>
              <a:rPr lang="en-US" dirty="0"/>
              <a:t> die </a:t>
            </a:r>
            <a:r>
              <a:rPr lang="en-US" dirty="0" err="1"/>
              <a:t>een</a:t>
            </a:r>
            <a:r>
              <a:rPr lang="en-US" dirty="0"/>
              <a:t> </a:t>
            </a:r>
            <a:r>
              <a:rPr lang="en-US" dirty="0" err="1"/>
              <a:t>cognitief</a:t>
            </a:r>
            <a:r>
              <a:rPr lang="en-US" dirty="0"/>
              <a:t> </a:t>
            </a:r>
            <a:r>
              <a:rPr lang="en-US" dirty="0" err="1"/>
              <a:t>proces</a:t>
            </a:r>
            <a:r>
              <a:rPr lang="en-US" dirty="0"/>
              <a:t> op gang </a:t>
            </a:r>
            <a:r>
              <a:rPr lang="en-US" dirty="0" err="1"/>
              <a:t>brengen</a:t>
            </a:r>
            <a:r>
              <a:rPr lang="en-US" dirty="0"/>
              <a:t>. En top-down </a:t>
            </a:r>
            <a:r>
              <a:rPr lang="en-US" dirty="0" err="1"/>
              <a:t>omdat</a:t>
            </a:r>
            <a:r>
              <a:rPr lang="en-US" dirty="0"/>
              <a:t> het </a:t>
            </a:r>
            <a:r>
              <a:rPr lang="en-US" dirty="0" err="1"/>
              <a:t>lange</a:t>
            </a:r>
            <a:r>
              <a:rPr lang="en-US" dirty="0"/>
              <a:t> </a:t>
            </a:r>
            <a:r>
              <a:rPr lang="en-US" dirty="0" err="1"/>
              <a:t>termijngeheugen</a:t>
            </a:r>
            <a:r>
              <a:rPr lang="en-US" dirty="0"/>
              <a:t> </a:t>
            </a:r>
            <a:r>
              <a:rPr lang="en-US" dirty="0" err="1"/>
              <a:t>invloed</a:t>
            </a:r>
            <a:r>
              <a:rPr lang="en-US" dirty="0"/>
              <a:t> </a:t>
            </a:r>
            <a:r>
              <a:rPr lang="en-US" dirty="0" err="1"/>
              <a:t>heeft</a:t>
            </a:r>
            <a:r>
              <a:rPr lang="en-US" dirty="0"/>
              <a:t> op hoe </a:t>
            </a:r>
            <a:r>
              <a:rPr lang="en-US" dirty="0" err="1"/>
              <a:t>wij</a:t>
            </a:r>
            <a:r>
              <a:rPr lang="en-US" dirty="0"/>
              <a:t> </a:t>
            </a:r>
            <a:r>
              <a:rPr lang="en-US" dirty="0" err="1"/>
              <a:t>reageren</a:t>
            </a:r>
            <a:r>
              <a:rPr lang="en-US" dirty="0"/>
              <a:t> op de </a:t>
            </a:r>
            <a:r>
              <a:rPr lang="en-US" dirty="0" err="1"/>
              <a:t>binnenkomende</a:t>
            </a:r>
            <a:r>
              <a:rPr lang="en-US" dirty="0"/>
              <a:t> stimuli. </a:t>
            </a:r>
          </a:p>
          <a:p>
            <a:pPr marL="170318" indent="-170318">
              <a:buFontTx/>
              <a:buChar char="-"/>
            </a:pPr>
            <a:endParaRPr lang="nl-NL" b="0" baseline="0"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22</a:t>
            </a:fld>
            <a:endParaRPr lang="en-GB" dirty="0"/>
          </a:p>
        </p:txBody>
      </p:sp>
    </p:spTree>
    <p:extLst>
      <p:ext uri="{BB962C8B-B14F-4D97-AF65-F5344CB8AC3E}">
        <p14:creationId xmlns:p14="http://schemas.microsoft.com/office/powerpoint/2010/main" val="26066408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err="1"/>
              <a:t>Zoals</a:t>
            </a:r>
            <a:r>
              <a:rPr lang="en-US" b="0" dirty="0"/>
              <a:t> </a:t>
            </a:r>
            <a:r>
              <a:rPr lang="en-US" b="0" dirty="0" err="1"/>
              <a:t>jullie</a:t>
            </a:r>
            <a:r>
              <a:rPr lang="en-US" b="0" dirty="0"/>
              <a:t> </a:t>
            </a:r>
            <a:r>
              <a:rPr lang="en-US" b="0" dirty="0" err="1"/>
              <a:t>waarschijnlijk</a:t>
            </a:r>
            <a:r>
              <a:rPr lang="en-US" b="0" dirty="0"/>
              <a:t> </a:t>
            </a:r>
            <a:r>
              <a:rPr lang="en-US" b="0" dirty="0" err="1"/>
              <a:t>wel</a:t>
            </a:r>
            <a:r>
              <a:rPr lang="en-US" b="0" dirty="0"/>
              <a:t> </a:t>
            </a:r>
            <a:r>
              <a:rPr lang="en-US" b="0" dirty="0" err="1"/>
              <a:t>hebben</a:t>
            </a:r>
            <a:r>
              <a:rPr lang="en-US" b="0" dirty="0"/>
              <a:t> </a:t>
            </a:r>
            <a:r>
              <a:rPr lang="en-US" b="0" dirty="0" err="1"/>
              <a:t>gemerkt</a:t>
            </a:r>
            <a:r>
              <a:rPr lang="en-US" b="0" dirty="0"/>
              <a:t>, is het </a:t>
            </a:r>
            <a:r>
              <a:rPr lang="en-US" b="0" dirty="0" err="1"/>
              <a:t>vrijwel</a:t>
            </a:r>
            <a:r>
              <a:rPr lang="en-US" b="0" baseline="0" dirty="0"/>
              <a:t> </a:t>
            </a:r>
            <a:r>
              <a:rPr lang="en-US" b="0" baseline="0" dirty="0" err="1"/>
              <a:t>onmogelijk</a:t>
            </a:r>
            <a:r>
              <a:rPr lang="en-US" b="0" baseline="0" dirty="0"/>
              <a:t> om </a:t>
            </a:r>
            <a:r>
              <a:rPr lang="en-US" b="0" baseline="0" dirty="0" err="1"/>
              <a:t>zoveel</a:t>
            </a:r>
            <a:r>
              <a:rPr lang="en-US" b="0" baseline="0" dirty="0"/>
              <a:t> </a:t>
            </a:r>
            <a:r>
              <a:rPr lang="en-US" b="0" baseline="0" dirty="0" err="1"/>
              <a:t>getalen</a:t>
            </a:r>
            <a:r>
              <a:rPr lang="en-US" b="0" baseline="0" dirty="0"/>
              <a:t> achter </a:t>
            </a:r>
            <a:r>
              <a:rPr lang="en-US" b="0" baseline="0" dirty="0" err="1"/>
              <a:t>elkaar</a:t>
            </a:r>
            <a:r>
              <a:rPr lang="en-US" b="0" baseline="0" dirty="0"/>
              <a:t> te </a:t>
            </a:r>
            <a:r>
              <a:rPr lang="en-US" b="0" baseline="0" dirty="0" err="1"/>
              <a:t>onthouden</a:t>
            </a:r>
            <a:r>
              <a:rPr lang="en-US" b="0" baseline="0" dirty="0"/>
              <a:t>. </a:t>
            </a:r>
          </a:p>
          <a:p>
            <a:r>
              <a:rPr lang="en-US" b="0" baseline="0" dirty="0"/>
              <a:t>Er is </a:t>
            </a:r>
            <a:r>
              <a:rPr lang="en-US" b="0" baseline="0" dirty="0" err="1"/>
              <a:t>nog</a:t>
            </a:r>
            <a:r>
              <a:rPr lang="en-US" b="0" baseline="0" dirty="0"/>
              <a:t> wat </a:t>
            </a:r>
            <a:r>
              <a:rPr lang="en-US" b="0" baseline="0" dirty="0" err="1"/>
              <a:t>onenigheid</a:t>
            </a:r>
            <a:r>
              <a:rPr lang="en-US" b="0" baseline="0" dirty="0"/>
              <a:t> over </a:t>
            </a:r>
            <a:r>
              <a:rPr lang="en-US" b="0" baseline="0" dirty="0" err="1"/>
              <a:t>hoeveel</a:t>
            </a:r>
            <a:r>
              <a:rPr lang="en-US" b="0" baseline="0" dirty="0"/>
              <a:t> </a:t>
            </a:r>
            <a:r>
              <a:rPr lang="en-US" b="0" baseline="0" dirty="0" err="1"/>
              <a:t>wij</a:t>
            </a:r>
            <a:r>
              <a:rPr lang="en-US" b="0" baseline="0" dirty="0"/>
              <a:t> </a:t>
            </a:r>
            <a:r>
              <a:rPr lang="en-US" b="0" baseline="0" dirty="0" err="1"/>
              <a:t>precies</a:t>
            </a:r>
            <a:r>
              <a:rPr lang="en-US" b="0" baseline="0" dirty="0"/>
              <a:t> </a:t>
            </a:r>
            <a:r>
              <a:rPr lang="en-US" b="0" baseline="0" dirty="0" err="1"/>
              <a:t>kunnen</a:t>
            </a:r>
            <a:r>
              <a:rPr lang="en-US" b="0" baseline="0" dirty="0"/>
              <a:t> </a:t>
            </a:r>
            <a:r>
              <a:rPr lang="en-US" b="0" baseline="0" dirty="0" err="1"/>
              <a:t>onthouden</a:t>
            </a:r>
            <a:r>
              <a:rPr lang="en-US" b="0" baseline="0" dirty="0"/>
              <a:t>, maar de </a:t>
            </a:r>
            <a:r>
              <a:rPr lang="en-US" b="0" baseline="0" dirty="0" err="1"/>
              <a:t>richtlijn</a:t>
            </a:r>
            <a:r>
              <a:rPr lang="en-US" b="0" baseline="0" dirty="0"/>
              <a:t> is </a:t>
            </a:r>
            <a:r>
              <a:rPr lang="en-US" b="0" baseline="0" dirty="0" err="1"/>
              <a:t>ongeveer</a:t>
            </a:r>
            <a:r>
              <a:rPr lang="en-US" b="0" baseline="0" dirty="0"/>
              <a:t> 7 chunks: </a:t>
            </a:r>
            <a:r>
              <a:rPr lang="en-US" b="0" baseline="0" dirty="0" err="1"/>
              <a:t>delen</a:t>
            </a:r>
            <a:r>
              <a:rPr lang="en-US" b="0" baseline="0" dirty="0"/>
              <a:t> </a:t>
            </a:r>
            <a:r>
              <a:rPr lang="en-US" b="0" baseline="0" dirty="0" err="1"/>
              <a:t>informatie</a:t>
            </a:r>
            <a:r>
              <a:rPr lang="en-US" b="0" baseline="0" dirty="0"/>
              <a:t>. </a:t>
            </a:r>
          </a:p>
          <a:p>
            <a:endParaRPr lang="en-US" b="0" baseline="0" dirty="0"/>
          </a:p>
          <a:p>
            <a:r>
              <a:rPr lang="en-US" b="0" baseline="0" dirty="0"/>
              <a:t>Door </a:t>
            </a:r>
            <a:r>
              <a:rPr lang="en-US" b="0" baseline="0" dirty="0" err="1"/>
              <a:t>bepaalde</a:t>
            </a:r>
            <a:r>
              <a:rPr lang="en-US" b="0" baseline="0" dirty="0"/>
              <a:t> </a:t>
            </a:r>
            <a:r>
              <a:rPr lang="en-US" b="0" baseline="0" dirty="0" err="1"/>
              <a:t>strategieën</a:t>
            </a:r>
            <a:r>
              <a:rPr lang="en-US" b="0" baseline="0" dirty="0"/>
              <a:t> te </a:t>
            </a:r>
            <a:r>
              <a:rPr lang="en-US" b="0" baseline="0" dirty="0" err="1"/>
              <a:t>gebruiken</a:t>
            </a:r>
            <a:r>
              <a:rPr lang="en-US" b="0" baseline="0" dirty="0"/>
              <a:t>, </a:t>
            </a:r>
            <a:r>
              <a:rPr lang="en-US" b="0" baseline="0" dirty="0" err="1"/>
              <a:t>kunnen</a:t>
            </a:r>
            <a:r>
              <a:rPr lang="en-US" b="0" baseline="0" dirty="0"/>
              <a:t> we </a:t>
            </a:r>
            <a:r>
              <a:rPr lang="en-US" b="0" baseline="0" dirty="0" err="1"/>
              <a:t>soms</a:t>
            </a:r>
            <a:r>
              <a:rPr lang="en-US" b="0" baseline="0" dirty="0"/>
              <a:t> </a:t>
            </a:r>
            <a:r>
              <a:rPr lang="en-US" b="0" baseline="0" dirty="0" err="1"/>
              <a:t>meer</a:t>
            </a:r>
            <a:r>
              <a:rPr lang="en-US" b="0" baseline="0" dirty="0"/>
              <a:t> </a:t>
            </a:r>
            <a:r>
              <a:rPr lang="en-US" b="0" baseline="0" dirty="0" err="1"/>
              <a:t>informatie</a:t>
            </a:r>
            <a:r>
              <a:rPr lang="en-US" b="0" baseline="0" dirty="0"/>
              <a:t> </a:t>
            </a:r>
            <a:r>
              <a:rPr lang="en-US" b="0" baseline="0" dirty="0" err="1"/>
              <a:t>tegelijkertijd</a:t>
            </a:r>
            <a:r>
              <a:rPr lang="en-US" b="0" baseline="0" dirty="0"/>
              <a:t> </a:t>
            </a:r>
            <a:r>
              <a:rPr lang="en-US" b="0" baseline="0" dirty="0" err="1"/>
              <a:t>verwerken</a:t>
            </a:r>
            <a:r>
              <a:rPr lang="en-US" b="0" baseline="0" dirty="0"/>
              <a:t>. </a:t>
            </a:r>
          </a:p>
          <a:p>
            <a:endParaRPr lang="en-US" b="0" baseline="0" dirty="0"/>
          </a:p>
          <a:p>
            <a:r>
              <a:rPr lang="en-US" b="0" baseline="0" dirty="0"/>
              <a:t>Chunking: het </a:t>
            </a:r>
            <a:r>
              <a:rPr lang="en-US" b="0" baseline="0" dirty="0" err="1"/>
              <a:t>verdelen</a:t>
            </a:r>
            <a:r>
              <a:rPr lang="en-US" b="0" baseline="0" dirty="0"/>
              <a:t> van </a:t>
            </a:r>
            <a:r>
              <a:rPr lang="en-US" b="0" baseline="0" dirty="0" err="1"/>
              <a:t>informatie</a:t>
            </a:r>
            <a:r>
              <a:rPr lang="en-US" b="0" baseline="0" dirty="0"/>
              <a:t> in </a:t>
            </a:r>
            <a:r>
              <a:rPr lang="en-US" b="0" baseline="0" dirty="0" err="1"/>
              <a:t>stukjes</a:t>
            </a:r>
            <a:r>
              <a:rPr lang="en-US" b="0" baseline="0" dirty="0"/>
              <a:t>. </a:t>
            </a:r>
            <a:r>
              <a:rPr lang="en-US" b="0" baseline="0" dirty="0" err="1"/>
              <a:t>Dus</a:t>
            </a:r>
            <a:r>
              <a:rPr lang="en-US" b="0" baseline="0" dirty="0"/>
              <a:t> in </a:t>
            </a:r>
            <a:r>
              <a:rPr lang="en-US" b="0" baseline="0" dirty="0" err="1"/>
              <a:t>plaats</a:t>
            </a:r>
            <a:r>
              <a:rPr lang="en-US" b="0" baseline="0" dirty="0"/>
              <a:t> van </a:t>
            </a:r>
            <a:r>
              <a:rPr lang="en-US" b="0" baseline="0" dirty="0" err="1"/>
              <a:t>aparte</a:t>
            </a:r>
            <a:r>
              <a:rPr lang="en-US" b="0" baseline="0" dirty="0"/>
              <a:t> </a:t>
            </a:r>
            <a:r>
              <a:rPr lang="en-US" b="0" baseline="0" dirty="0" err="1"/>
              <a:t>getallen</a:t>
            </a:r>
            <a:r>
              <a:rPr lang="en-US" b="0" baseline="0" dirty="0"/>
              <a:t> er </a:t>
            </a:r>
            <a:r>
              <a:rPr lang="en-US" b="0" baseline="0" dirty="0" err="1"/>
              <a:t>jaartallen</a:t>
            </a:r>
            <a:r>
              <a:rPr lang="en-US" b="0" baseline="0" dirty="0"/>
              <a:t> van </a:t>
            </a:r>
            <a:r>
              <a:rPr lang="en-US" b="0" baseline="0" dirty="0" err="1"/>
              <a:t>maken</a:t>
            </a:r>
            <a:r>
              <a:rPr lang="en-US" b="0" baseline="0" dirty="0"/>
              <a:t>. (</a:t>
            </a:r>
            <a:r>
              <a:rPr lang="en-US" b="0" baseline="0" dirty="0" err="1"/>
              <a:t>een</a:t>
            </a:r>
            <a:r>
              <a:rPr lang="en-US" b="0" baseline="0" dirty="0"/>
              <a:t> </a:t>
            </a:r>
            <a:r>
              <a:rPr lang="en-US" b="0" baseline="0" dirty="0" err="1"/>
              <a:t>telefoonnummer</a:t>
            </a:r>
            <a:r>
              <a:rPr lang="en-US" b="0" baseline="0" dirty="0"/>
              <a:t> </a:t>
            </a:r>
            <a:r>
              <a:rPr lang="en-US" b="0" baseline="0" dirty="0" err="1"/>
              <a:t>zou</a:t>
            </a:r>
            <a:r>
              <a:rPr lang="en-US" b="0" baseline="0" dirty="0"/>
              <a:t> </a:t>
            </a:r>
            <a:r>
              <a:rPr lang="en-US" b="0" baseline="0" dirty="0" err="1"/>
              <a:t>anders</a:t>
            </a:r>
            <a:r>
              <a:rPr lang="en-US" b="0" baseline="0" dirty="0"/>
              <a:t> al </a:t>
            </a:r>
            <a:r>
              <a:rPr lang="en-US" b="0" baseline="0" dirty="0" err="1"/>
              <a:t>bijna</a:t>
            </a:r>
            <a:r>
              <a:rPr lang="en-US" b="0" baseline="0" dirty="0"/>
              <a:t> </a:t>
            </a:r>
            <a:r>
              <a:rPr lang="en-US" b="0" baseline="0" dirty="0" err="1"/>
              <a:t>niet</a:t>
            </a:r>
            <a:r>
              <a:rPr lang="en-US" b="0" baseline="0" dirty="0"/>
              <a:t> </a:t>
            </a:r>
            <a:r>
              <a:rPr lang="en-US" b="0" baseline="0" dirty="0" err="1"/>
              <a:t>lukken</a:t>
            </a:r>
            <a:r>
              <a:rPr lang="en-US" b="0" baseline="0" dirty="0"/>
              <a:t>!) </a:t>
            </a:r>
            <a:endParaRPr lang="en-US" b="0" dirty="0"/>
          </a:p>
          <a:p>
            <a:r>
              <a:rPr lang="en-US" b="0" dirty="0"/>
              <a:t>Mnemonics: </a:t>
            </a:r>
            <a:r>
              <a:rPr lang="en-US" b="0" dirty="0" err="1"/>
              <a:t>geheugensteuntjes</a:t>
            </a:r>
            <a:r>
              <a:rPr lang="en-US" b="0" dirty="0"/>
              <a:t>, </a:t>
            </a:r>
            <a:r>
              <a:rPr lang="en-US" b="0" dirty="0" err="1"/>
              <a:t>bv</a:t>
            </a:r>
            <a:r>
              <a:rPr lang="en-US" b="0" dirty="0"/>
              <a:t>. TVTAS</a:t>
            </a:r>
            <a:endParaRPr lang="nl-NL" b="0" dirty="0"/>
          </a:p>
          <a:p>
            <a:endParaRPr lang="en-NL"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23</a:t>
            </a:fld>
            <a:endParaRPr lang="en-GB" dirty="0"/>
          </a:p>
        </p:txBody>
      </p:sp>
    </p:spTree>
    <p:extLst>
      <p:ext uri="{BB962C8B-B14F-4D97-AF65-F5344CB8AC3E}">
        <p14:creationId xmlns:p14="http://schemas.microsoft.com/office/powerpoint/2010/main" val="34942755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NL" b="0"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24</a:t>
            </a:fld>
            <a:endParaRPr lang="en-GB" dirty="0"/>
          </a:p>
        </p:txBody>
      </p:sp>
    </p:spTree>
    <p:extLst>
      <p:ext uri="{BB962C8B-B14F-4D97-AF65-F5344CB8AC3E}">
        <p14:creationId xmlns:p14="http://schemas.microsoft.com/office/powerpoint/2010/main" val="40432178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b="0" dirty="0"/>
              <a:t>Informatie die </a:t>
            </a:r>
            <a:r>
              <a:rPr lang="nl-NL" b="0" dirty="0" err="1"/>
              <a:t>binnnkomt</a:t>
            </a:r>
            <a:r>
              <a:rPr lang="nl-NL" b="0" dirty="0"/>
              <a:t> belast het werkgeheugen, deze belasting noemen</a:t>
            </a:r>
            <a:r>
              <a:rPr lang="nl-NL" b="0" baseline="0" dirty="0"/>
              <a:t> we </a:t>
            </a:r>
            <a:r>
              <a:rPr lang="nl-NL" b="0" baseline="0" dirty="0" err="1"/>
              <a:t>cognitive</a:t>
            </a:r>
            <a:r>
              <a:rPr lang="nl-NL" b="0" baseline="0" dirty="0"/>
              <a:t> load. Zodra er </a:t>
            </a:r>
            <a:r>
              <a:rPr lang="nl-NL" b="0" baseline="0" dirty="0" err="1"/>
              <a:t>overload</a:t>
            </a:r>
            <a:r>
              <a:rPr lang="nl-NL" b="0" baseline="0" dirty="0"/>
              <a:t> ontstaat, betekent het dat we niet meer alle </a:t>
            </a:r>
            <a:r>
              <a:rPr lang="nl-NL" b="0" baseline="0" dirty="0" err="1"/>
              <a:t>inforamtie</a:t>
            </a:r>
            <a:r>
              <a:rPr lang="nl-NL" b="0" baseline="0" dirty="0"/>
              <a:t> kunnen verwerken. </a:t>
            </a:r>
          </a:p>
          <a:p>
            <a:r>
              <a:rPr lang="nl-NL" b="0" baseline="0" dirty="0" err="1"/>
              <a:t>Sweller</a:t>
            </a:r>
            <a:r>
              <a:rPr lang="nl-NL" b="0" baseline="0" dirty="0"/>
              <a:t> en Chandler hebben hiervoor de </a:t>
            </a:r>
            <a:r>
              <a:rPr lang="nl-NL" b="0" baseline="0" dirty="0" err="1"/>
              <a:t>cognitive</a:t>
            </a:r>
            <a:r>
              <a:rPr lang="nl-NL" b="0" baseline="0" dirty="0"/>
              <a:t> load </a:t>
            </a:r>
            <a:r>
              <a:rPr lang="nl-NL" b="0" baseline="0" dirty="0" err="1"/>
              <a:t>theory</a:t>
            </a:r>
            <a:r>
              <a:rPr lang="nl-NL" b="0" baseline="0" dirty="0"/>
              <a:t> beschreven, die ingaat op die beperking van het werkgeheugen. Deze theorie bestaat uit een aantal assumpties, waar je ook duidelijk de assumpties van het cognitivisme in herkent. Het is dus duidelijk een </a:t>
            </a:r>
            <a:r>
              <a:rPr lang="nl-NL" b="0" baseline="0" dirty="0" err="1"/>
              <a:t>cognitivistische</a:t>
            </a:r>
            <a:r>
              <a:rPr lang="nl-NL" b="0" baseline="0" dirty="0"/>
              <a:t> theorie. </a:t>
            </a:r>
            <a:endParaRPr lang="nl-NL" b="0" dirty="0"/>
          </a:p>
          <a:p>
            <a:endParaRPr lang="nl-NL" b="0" dirty="0"/>
          </a:p>
          <a:p>
            <a:r>
              <a:rPr lang="nl-NL" b="0" dirty="0"/>
              <a:t>Denk aan het</a:t>
            </a:r>
            <a:r>
              <a:rPr lang="nl-NL" b="0" baseline="0" dirty="0"/>
              <a:t> schema van Chris, 11 september verjaardag en WTC. Op deze manier maak je één schema, waardoor de informatie is gestructureerd op datum. </a:t>
            </a:r>
          </a:p>
          <a:p>
            <a:r>
              <a:rPr lang="nl-NL" b="0" baseline="0" dirty="0"/>
              <a:t>Automatiseren schema’s: dus door iets heel vaak te oefenen, is het mogelijk om meer informatie te verwerken omdat schema’s sneller en minder bewust verwerkt hoeven worden. Bv. het oplossen van een wiskundesom op het begin kost dit veel moeite omdat je en de diverse handelingen die je achter elkaar uit moet oefenen moet onthouden en de tussenoplossingen, terwijl je na veelvuldig oefenen de stappen automatisch weet en je dat vrij wel geen moeite meer kost. Nu hoef je alleen de tussenoplossingen en de oplossing te onthouden. De stappen die je moet zetten zijn geautomatiseerd. </a:t>
            </a:r>
            <a:endParaRPr lang="nl-NL" b="0"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25</a:t>
            </a:fld>
            <a:endParaRPr lang="en-GB" dirty="0"/>
          </a:p>
        </p:txBody>
      </p:sp>
    </p:spTree>
    <p:extLst>
      <p:ext uri="{BB962C8B-B14F-4D97-AF65-F5344CB8AC3E}">
        <p14:creationId xmlns:p14="http://schemas.microsoft.com/office/powerpoint/2010/main" val="21087206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err="1"/>
              <a:t>Allereerst</a:t>
            </a:r>
            <a:r>
              <a:rPr lang="en-US" b="0" baseline="0" dirty="0"/>
              <a:t> de intrinsic cognitive load. </a:t>
            </a:r>
            <a:r>
              <a:rPr lang="en-US" b="0" baseline="0" dirty="0" err="1"/>
              <a:t>Dit</a:t>
            </a:r>
            <a:r>
              <a:rPr lang="en-US" b="0" baseline="0" dirty="0"/>
              <a:t> is de </a:t>
            </a:r>
            <a:r>
              <a:rPr lang="en-US" b="0" baseline="0" dirty="0" err="1"/>
              <a:t>belasting</a:t>
            </a:r>
            <a:r>
              <a:rPr lang="en-US" b="0" baseline="0" dirty="0"/>
              <a:t> die </a:t>
            </a:r>
            <a:r>
              <a:rPr lang="en-US" b="0" baseline="0" dirty="0" err="1"/>
              <a:t>samenhangt</a:t>
            </a:r>
            <a:r>
              <a:rPr lang="en-US" b="0" baseline="0" dirty="0"/>
              <a:t> met de </a:t>
            </a:r>
            <a:r>
              <a:rPr lang="en-US" b="0" baseline="0" dirty="0" err="1"/>
              <a:t>complexiteit</a:t>
            </a:r>
            <a:r>
              <a:rPr lang="en-US" b="0" baseline="0" dirty="0"/>
              <a:t> van de </a:t>
            </a:r>
            <a:r>
              <a:rPr lang="en-US" b="0" baseline="0" dirty="0" err="1"/>
              <a:t>informatie</a:t>
            </a:r>
            <a:r>
              <a:rPr lang="en-US" b="0" baseline="0" dirty="0"/>
              <a:t> </a:t>
            </a:r>
            <a:r>
              <a:rPr lang="en-US" b="0" baseline="0" dirty="0" err="1"/>
              <a:t>zelf</a:t>
            </a:r>
            <a:r>
              <a:rPr lang="en-US" b="0" baseline="0" dirty="0"/>
              <a:t>. </a:t>
            </a:r>
            <a:r>
              <a:rPr lang="en-US" b="0" baseline="0" dirty="0" err="1"/>
              <a:t>Deze</a:t>
            </a:r>
            <a:r>
              <a:rPr lang="en-US" b="0" baseline="0" dirty="0"/>
              <a:t> </a:t>
            </a:r>
            <a:r>
              <a:rPr lang="en-US" b="0" baseline="0" dirty="0" err="1"/>
              <a:t>vorm</a:t>
            </a:r>
            <a:r>
              <a:rPr lang="en-US" b="0" baseline="0" dirty="0"/>
              <a:t> van load is </a:t>
            </a:r>
            <a:r>
              <a:rPr lang="en-US" b="0" baseline="0" dirty="0" err="1"/>
              <a:t>dus</a:t>
            </a:r>
            <a:r>
              <a:rPr lang="en-US" b="0" baseline="0" dirty="0"/>
              <a:t> </a:t>
            </a:r>
            <a:r>
              <a:rPr lang="en-US" b="0" baseline="0" dirty="0" err="1"/>
              <a:t>niet</a:t>
            </a:r>
            <a:r>
              <a:rPr lang="en-US" b="0" baseline="0" dirty="0"/>
              <a:t> te </a:t>
            </a:r>
            <a:r>
              <a:rPr lang="en-US" b="0" baseline="0" dirty="0" err="1"/>
              <a:t>vermijden</a:t>
            </a:r>
            <a:r>
              <a:rPr lang="en-US" b="0" baseline="0" dirty="0"/>
              <a:t>! </a:t>
            </a:r>
          </a:p>
          <a:p>
            <a:r>
              <a:rPr lang="en-US" b="0" baseline="0" dirty="0"/>
              <a:t>De </a:t>
            </a:r>
            <a:r>
              <a:rPr lang="en-US" b="0" baseline="0" dirty="0" err="1"/>
              <a:t>complexiteit</a:t>
            </a:r>
            <a:r>
              <a:rPr lang="en-US" b="0" baseline="0" dirty="0"/>
              <a:t> van </a:t>
            </a:r>
            <a:r>
              <a:rPr lang="en-US" b="0" baseline="0" dirty="0" err="1"/>
              <a:t>informatie</a:t>
            </a:r>
            <a:r>
              <a:rPr lang="en-US" b="0" baseline="0" dirty="0"/>
              <a:t> </a:t>
            </a:r>
            <a:r>
              <a:rPr lang="en-US" b="0" baseline="0" dirty="0" err="1"/>
              <a:t>hangt</a:t>
            </a:r>
            <a:r>
              <a:rPr lang="en-US" b="0" baseline="0" dirty="0"/>
              <a:t> </a:t>
            </a:r>
            <a:r>
              <a:rPr lang="en-US" b="0" baseline="0" dirty="0" err="1"/>
              <a:t>af</a:t>
            </a:r>
            <a:r>
              <a:rPr lang="en-US" b="0" baseline="0" dirty="0"/>
              <a:t> van het </a:t>
            </a:r>
            <a:r>
              <a:rPr lang="en-US" b="0" baseline="0" dirty="0" err="1"/>
              <a:t>aantal</a:t>
            </a:r>
            <a:r>
              <a:rPr lang="en-US" b="0" baseline="0" dirty="0"/>
              <a:t> </a:t>
            </a:r>
            <a:r>
              <a:rPr lang="en-US" b="0" baseline="0" dirty="0" err="1"/>
              <a:t>informatie-elementen</a:t>
            </a:r>
            <a:r>
              <a:rPr lang="en-US" b="0" baseline="0" dirty="0"/>
              <a:t> en de </a:t>
            </a:r>
            <a:r>
              <a:rPr lang="en-US" b="0" baseline="0" dirty="0" err="1"/>
              <a:t>interactie</a:t>
            </a:r>
            <a:r>
              <a:rPr lang="en-US" b="0" baseline="0" dirty="0"/>
              <a:t> </a:t>
            </a:r>
            <a:r>
              <a:rPr lang="en-US" b="0" baseline="0" dirty="0" err="1"/>
              <a:t>tussen</a:t>
            </a:r>
            <a:r>
              <a:rPr lang="en-US" b="0" baseline="0" dirty="0"/>
              <a:t> </a:t>
            </a:r>
            <a:r>
              <a:rPr lang="en-US" b="0" baseline="0" dirty="0" err="1"/>
              <a:t>deze</a:t>
            </a:r>
            <a:r>
              <a:rPr lang="en-US" b="0" baseline="0" dirty="0"/>
              <a:t> </a:t>
            </a:r>
            <a:r>
              <a:rPr lang="en-US" b="0" baseline="0" dirty="0" err="1"/>
              <a:t>informatie</a:t>
            </a:r>
            <a:r>
              <a:rPr lang="en-US" b="0" baseline="0" dirty="0"/>
              <a:t> </a:t>
            </a:r>
            <a:r>
              <a:rPr lang="en-US" b="0" baseline="0" dirty="0" err="1"/>
              <a:t>elementen</a:t>
            </a:r>
            <a:r>
              <a:rPr lang="en-US" b="0" baseline="0" dirty="0"/>
              <a:t>. </a:t>
            </a:r>
          </a:p>
          <a:p>
            <a:r>
              <a:rPr lang="en-US" b="0" baseline="0" dirty="0" err="1"/>
              <a:t>Kijk</a:t>
            </a:r>
            <a:r>
              <a:rPr lang="en-US" b="0" baseline="0" dirty="0"/>
              <a:t> </a:t>
            </a:r>
            <a:r>
              <a:rPr lang="en-US" b="0" baseline="0" dirty="0" err="1"/>
              <a:t>bijv</a:t>
            </a:r>
            <a:r>
              <a:rPr lang="en-US" b="0" baseline="0" dirty="0"/>
              <a:t>. </a:t>
            </a:r>
            <a:r>
              <a:rPr lang="en-US" b="0" baseline="0" dirty="0" err="1"/>
              <a:t>Naar</a:t>
            </a:r>
            <a:r>
              <a:rPr lang="en-US" b="0" baseline="0" dirty="0"/>
              <a:t> </a:t>
            </a:r>
            <a:r>
              <a:rPr lang="en-US" b="0" baseline="0" dirty="0" err="1"/>
              <a:t>deze</a:t>
            </a:r>
            <a:r>
              <a:rPr lang="en-US" b="0" baseline="0" dirty="0"/>
              <a:t> twee </a:t>
            </a:r>
            <a:r>
              <a:rPr lang="en-US" b="0" baseline="0" dirty="0" err="1"/>
              <a:t>sommen</a:t>
            </a:r>
            <a:r>
              <a:rPr lang="en-US" b="0" baseline="0" dirty="0"/>
              <a:t>. De </a:t>
            </a:r>
            <a:r>
              <a:rPr lang="en-US" b="0" baseline="0" dirty="0" err="1"/>
              <a:t>eerste</a:t>
            </a:r>
            <a:r>
              <a:rPr lang="en-US" b="0" baseline="0" dirty="0"/>
              <a:t> is </a:t>
            </a:r>
            <a:r>
              <a:rPr lang="en-US" b="0" baseline="0" dirty="0" err="1"/>
              <a:t>veel</a:t>
            </a:r>
            <a:r>
              <a:rPr lang="en-US" b="0" baseline="0" dirty="0"/>
              <a:t> minder complex dan de </a:t>
            </a:r>
            <a:r>
              <a:rPr lang="en-US" b="0" baseline="0" dirty="0" err="1"/>
              <a:t>tweede</a:t>
            </a:r>
            <a:r>
              <a:rPr lang="en-US" b="0" baseline="0" dirty="0"/>
              <a:t>, en </a:t>
            </a:r>
            <a:r>
              <a:rPr lang="en-US" b="0" baseline="0" dirty="0" err="1"/>
              <a:t>vraagt</a:t>
            </a:r>
            <a:r>
              <a:rPr lang="en-US" b="0" baseline="0" dirty="0"/>
              <a:t> </a:t>
            </a:r>
            <a:r>
              <a:rPr lang="en-US" b="0" baseline="0" dirty="0" err="1"/>
              <a:t>dus</a:t>
            </a:r>
            <a:r>
              <a:rPr lang="en-US" b="0" baseline="0" dirty="0"/>
              <a:t> </a:t>
            </a:r>
            <a:r>
              <a:rPr lang="en-US" b="0" baseline="0" dirty="0" err="1"/>
              <a:t>ook</a:t>
            </a:r>
            <a:r>
              <a:rPr lang="en-US" b="0" baseline="0" dirty="0"/>
              <a:t> </a:t>
            </a:r>
            <a:r>
              <a:rPr lang="en-US" b="0" baseline="0" dirty="0" err="1"/>
              <a:t>veel</a:t>
            </a:r>
            <a:r>
              <a:rPr lang="en-US" b="0" baseline="0" dirty="0"/>
              <a:t> minder </a:t>
            </a:r>
            <a:r>
              <a:rPr lang="en-US" b="0" baseline="0" dirty="0" err="1"/>
              <a:t>belasting</a:t>
            </a:r>
            <a:r>
              <a:rPr lang="en-US" b="0" baseline="0" dirty="0"/>
              <a:t> van het </a:t>
            </a:r>
            <a:r>
              <a:rPr lang="en-US" b="0" baseline="0" dirty="0" err="1"/>
              <a:t>werkgeheugen</a:t>
            </a:r>
            <a:r>
              <a:rPr lang="en-US" b="0" baseline="0" dirty="0"/>
              <a:t>. </a:t>
            </a:r>
            <a:r>
              <a:rPr lang="en-US" b="0" baseline="0" dirty="0" err="1"/>
              <a:t>Een</a:t>
            </a:r>
            <a:r>
              <a:rPr lang="en-US" b="0" baseline="0" dirty="0"/>
              <a:t> </a:t>
            </a:r>
            <a:r>
              <a:rPr lang="en-US" b="0" baseline="0" dirty="0" err="1"/>
              <a:t>kleuter</a:t>
            </a:r>
            <a:r>
              <a:rPr lang="en-US" b="0" baseline="0" dirty="0"/>
              <a:t> </a:t>
            </a:r>
            <a:r>
              <a:rPr lang="en-US" b="0" baseline="0" dirty="0" err="1"/>
              <a:t>zou</a:t>
            </a:r>
            <a:r>
              <a:rPr lang="en-US" b="0" baseline="0" dirty="0"/>
              <a:t> </a:t>
            </a:r>
            <a:r>
              <a:rPr lang="en-US" b="0" baseline="0" dirty="0" err="1"/>
              <a:t>echter</a:t>
            </a:r>
            <a:r>
              <a:rPr lang="en-US" b="0" baseline="0" dirty="0"/>
              <a:t> al </a:t>
            </a:r>
            <a:r>
              <a:rPr lang="en-US" b="0" baseline="0" dirty="0" err="1"/>
              <a:t>veel</a:t>
            </a:r>
            <a:r>
              <a:rPr lang="en-US" b="0" baseline="0" dirty="0"/>
              <a:t> </a:t>
            </a:r>
            <a:r>
              <a:rPr lang="en-US" b="0" baseline="0" dirty="0" err="1"/>
              <a:t>belasting</a:t>
            </a:r>
            <a:r>
              <a:rPr lang="en-US" b="0" baseline="0" dirty="0"/>
              <a:t> </a:t>
            </a:r>
            <a:r>
              <a:rPr lang="en-US" b="0" baseline="0" dirty="0" err="1"/>
              <a:t>ervaren</a:t>
            </a:r>
            <a:r>
              <a:rPr lang="en-US" b="0" baseline="0" dirty="0"/>
              <a:t> </a:t>
            </a:r>
            <a:r>
              <a:rPr lang="en-US" b="0" baseline="0" dirty="0" err="1"/>
              <a:t>bij</a:t>
            </a:r>
            <a:r>
              <a:rPr lang="en-US" b="0" baseline="0" dirty="0"/>
              <a:t> 2+2 </a:t>
            </a:r>
            <a:r>
              <a:rPr lang="en-US" b="0" baseline="0" dirty="0" err="1"/>
              <a:t>omdat</a:t>
            </a:r>
            <a:r>
              <a:rPr lang="en-US" b="0" baseline="0" dirty="0"/>
              <a:t> </a:t>
            </a:r>
            <a:r>
              <a:rPr lang="en-US" b="0" baseline="0" dirty="0" err="1"/>
              <a:t>ook</a:t>
            </a:r>
            <a:r>
              <a:rPr lang="en-US" b="0" baseline="0" dirty="0"/>
              <a:t> </a:t>
            </a:r>
            <a:r>
              <a:rPr lang="en-US" b="0" baseline="0" dirty="0" err="1"/>
              <a:t>deze</a:t>
            </a:r>
            <a:r>
              <a:rPr lang="en-US" b="0" baseline="0" dirty="0"/>
              <a:t> </a:t>
            </a:r>
            <a:r>
              <a:rPr lang="en-US" b="0" baseline="0" dirty="0" err="1"/>
              <a:t>informatie</a:t>
            </a:r>
            <a:r>
              <a:rPr lang="en-US" b="0" baseline="0" dirty="0"/>
              <a:t> </a:t>
            </a:r>
            <a:r>
              <a:rPr lang="en-US" b="0" baseline="0" dirty="0" err="1"/>
              <a:t>voor</a:t>
            </a:r>
            <a:r>
              <a:rPr lang="en-US" b="0" baseline="0" dirty="0"/>
              <a:t> hem </a:t>
            </a:r>
            <a:r>
              <a:rPr lang="en-US" b="0" baseline="0" dirty="0" err="1"/>
              <a:t>geheel</a:t>
            </a:r>
            <a:r>
              <a:rPr lang="en-US" b="0" baseline="0" dirty="0"/>
              <a:t> </a:t>
            </a:r>
            <a:r>
              <a:rPr lang="en-US" b="0" baseline="0" dirty="0" err="1"/>
              <a:t>nieuw</a:t>
            </a:r>
            <a:r>
              <a:rPr lang="en-US" b="0" baseline="0" dirty="0"/>
              <a:t> is. </a:t>
            </a:r>
            <a:r>
              <a:rPr lang="en-US" b="0" baseline="0" dirty="0" err="1"/>
              <a:t>Hij</a:t>
            </a:r>
            <a:r>
              <a:rPr lang="en-US" b="0" baseline="0" dirty="0"/>
              <a:t> of </a:t>
            </a:r>
            <a:r>
              <a:rPr lang="en-US" b="0" baseline="0" dirty="0" err="1"/>
              <a:t>zij</a:t>
            </a:r>
            <a:r>
              <a:rPr lang="en-US" b="0" baseline="0" dirty="0"/>
              <a:t> </a:t>
            </a:r>
            <a:r>
              <a:rPr lang="en-US" b="0" baseline="0" dirty="0" err="1"/>
              <a:t>moeten</a:t>
            </a:r>
            <a:r>
              <a:rPr lang="en-US" b="0" baseline="0" dirty="0"/>
              <a:t> dan heel </a:t>
            </a:r>
            <a:r>
              <a:rPr lang="en-US" b="0" baseline="0" dirty="0" err="1"/>
              <a:t>veel</a:t>
            </a:r>
            <a:r>
              <a:rPr lang="en-US" b="0" baseline="0" dirty="0"/>
              <a:t> </a:t>
            </a:r>
            <a:r>
              <a:rPr lang="en-US" b="0" baseline="0" dirty="0" err="1"/>
              <a:t>kenniselementen</a:t>
            </a:r>
            <a:r>
              <a:rPr lang="en-US" b="0" baseline="0" dirty="0"/>
              <a:t> </a:t>
            </a:r>
            <a:r>
              <a:rPr lang="en-US" b="0" baseline="0" dirty="0" err="1"/>
              <a:t>tegelijkertijd</a:t>
            </a:r>
            <a:r>
              <a:rPr lang="en-US" b="0" baseline="0" dirty="0"/>
              <a:t> te </a:t>
            </a:r>
            <a:r>
              <a:rPr lang="en-US" b="0" baseline="0" dirty="0" err="1"/>
              <a:t>verwerken</a:t>
            </a:r>
            <a:r>
              <a:rPr lang="en-US" b="0" baseline="0" dirty="0"/>
              <a:t> en vast te </a:t>
            </a:r>
            <a:r>
              <a:rPr lang="en-US" b="0" baseline="0" dirty="0" err="1"/>
              <a:t>houden</a:t>
            </a:r>
            <a:r>
              <a:rPr lang="en-US" b="0" baseline="0" dirty="0"/>
              <a:t> in het </a:t>
            </a:r>
            <a:r>
              <a:rPr lang="en-US" b="0" baseline="0" dirty="0" err="1"/>
              <a:t>werkgeheugen</a:t>
            </a:r>
            <a:r>
              <a:rPr lang="en-US" b="0" baseline="0" dirty="0"/>
              <a:t>. </a:t>
            </a:r>
          </a:p>
          <a:p>
            <a:r>
              <a:rPr lang="en-US" b="0" baseline="0" dirty="0"/>
              <a:t>Je </a:t>
            </a:r>
            <a:r>
              <a:rPr lang="en-US" b="0" baseline="0" dirty="0" err="1"/>
              <a:t>kunt</a:t>
            </a:r>
            <a:r>
              <a:rPr lang="en-US" b="0" baseline="0" dirty="0"/>
              <a:t> de intrinsic cognitive load </a:t>
            </a:r>
            <a:r>
              <a:rPr lang="en-US" b="0" baseline="0" dirty="0" err="1"/>
              <a:t>dus</a:t>
            </a:r>
            <a:r>
              <a:rPr lang="en-US" b="0" baseline="0" dirty="0"/>
              <a:t> </a:t>
            </a:r>
            <a:r>
              <a:rPr lang="en-US" b="0" baseline="0" dirty="0" err="1"/>
              <a:t>niet</a:t>
            </a:r>
            <a:r>
              <a:rPr lang="en-US" b="0" baseline="0" dirty="0"/>
              <a:t> </a:t>
            </a:r>
            <a:r>
              <a:rPr lang="en-US" b="0" baseline="0" dirty="0" err="1"/>
              <a:t>veranderen</a:t>
            </a:r>
            <a:r>
              <a:rPr lang="en-US" b="0" baseline="0" dirty="0"/>
              <a:t>, maar </a:t>
            </a:r>
            <a:r>
              <a:rPr lang="en-US" b="0" baseline="0" dirty="0" err="1"/>
              <a:t>wel</a:t>
            </a:r>
            <a:r>
              <a:rPr lang="en-US" b="0" baseline="0" dirty="0"/>
              <a:t> </a:t>
            </a:r>
            <a:r>
              <a:rPr lang="en-US" b="0" baseline="0" dirty="0" err="1"/>
              <a:t>reduceren</a:t>
            </a:r>
            <a:r>
              <a:rPr lang="en-US" b="0" baseline="0" dirty="0"/>
              <a:t> door de </a:t>
            </a:r>
            <a:r>
              <a:rPr lang="en-US" b="0" baseline="0" dirty="0" err="1"/>
              <a:t>compleciteit</a:t>
            </a:r>
            <a:r>
              <a:rPr lang="en-US" b="0" baseline="0" dirty="0"/>
              <a:t> van de </a:t>
            </a:r>
            <a:r>
              <a:rPr lang="en-US" b="0" baseline="0" dirty="0" err="1"/>
              <a:t>informatie</a:t>
            </a:r>
            <a:r>
              <a:rPr lang="en-US" b="0" baseline="0" dirty="0"/>
              <a:t> te </a:t>
            </a:r>
            <a:r>
              <a:rPr lang="en-US" b="0" baseline="0" dirty="0" err="1"/>
              <a:t>verlagen</a:t>
            </a:r>
            <a:r>
              <a:rPr lang="en-US" b="0" baseline="0" dirty="0"/>
              <a:t>. Als de </a:t>
            </a:r>
            <a:r>
              <a:rPr lang="en-US" b="0" baseline="0" dirty="0" err="1"/>
              <a:t>kleuter</a:t>
            </a:r>
            <a:r>
              <a:rPr lang="en-US" b="0" baseline="0" dirty="0"/>
              <a:t> </a:t>
            </a:r>
            <a:r>
              <a:rPr lang="en-US" b="0" baseline="0" dirty="0" err="1"/>
              <a:t>bijv</a:t>
            </a:r>
            <a:r>
              <a:rPr lang="en-US" b="0" baseline="0" dirty="0"/>
              <a:t>. </a:t>
            </a:r>
            <a:r>
              <a:rPr lang="en-US" b="0" baseline="0" dirty="0" err="1"/>
              <a:t>Eerst</a:t>
            </a:r>
            <a:r>
              <a:rPr lang="en-US" b="0" baseline="0" dirty="0"/>
              <a:t> </a:t>
            </a:r>
            <a:r>
              <a:rPr lang="en-US" b="0" baseline="0" dirty="0" err="1"/>
              <a:t>weet</a:t>
            </a:r>
            <a:r>
              <a:rPr lang="en-US" b="0" baseline="0" dirty="0"/>
              <a:t> wat het + </a:t>
            </a:r>
            <a:r>
              <a:rPr lang="en-US" b="0" baseline="0" dirty="0" err="1"/>
              <a:t>teken</a:t>
            </a:r>
            <a:r>
              <a:rPr lang="en-US" b="0" baseline="0" dirty="0"/>
              <a:t> en = </a:t>
            </a:r>
            <a:r>
              <a:rPr lang="en-US" b="0" baseline="0" dirty="0" err="1"/>
              <a:t>teken</a:t>
            </a:r>
            <a:r>
              <a:rPr lang="en-US" b="0" baseline="0" dirty="0"/>
              <a:t> </a:t>
            </a:r>
            <a:r>
              <a:rPr lang="en-US" b="0" baseline="0" dirty="0" err="1"/>
              <a:t>betekent</a:t>
            </a:r>
            <a:r>
              <a:rPr lang="en-US" b="0" baseline="0" dirty="0"/>
              <a:t> </a:t>
            </a:r>
            <a:r>
              <a:rPr lang="en-US" b="0" baseline="0" dirty="0" err="1"/>
              <a:t>zal</a:t>
            </a:r>
            <a:r>
              <a:rPr lang="en-US" b="0" baseline="0" dirty="0"/>
              <a:t> </a:t>
            </a:r>
            <a:r>
              <a:rPr lang="en-US" b="0" baseline="0" dirty="0" err="1"/>
              <a:t>dit</a:t>
            </a:r>
            <a:r>
              <a:rPr lang="en-US" b="0" baseline="0" dirty="0"/>
              <a:t> al </a:t>
            </a:r>
            <a:r>
              <a:rPr lang="en-US" b="0" baseline="0" dirty="0" err="1"/>
              <a:t>weer</a:t>
            </a:r>
            <a:r>
              <a:rPr lang="en-US" b="0" baseline="0" dirty="0"/>
              <a:t> </a:t>
            </a:r>
            <a:r>
              <a:rPr lang="en-US" b="0" baseline="0" dirty="0" err="1"/>
              <a:t>voor</a:t>
            </a:r>
            <a:r>
              <a:rPr lang="en-US" b="0" baseline="0" dirty="0"/>
              <a:t> minder </a:t>
            </a:r>
            <a:r>
              <a:rPr lang="en-US" b="0" baseline="0" dirty="0" err="1"/>
              <a:t>complexiteit</a:t>
            </a:r>
            <a:r>
              <a:rPr lang="en-US" b="0" baseline="0" dirty="0"/>
              <a:t> </a:t>
            </a:r>
            <a:r>
              <a:rPr lang="en-US" b="0" baseline="0" dirty="0" err="1"/>
              <a:t>zorgen</a:t>
            </a:r>
            <a:r>
              <a:rPr lang="en-US" b="0" baseline="0" dirty="0"/>
              <a:t>. </a:t>
            </a:r>
          </a:p>
          <a:p>
            <a:endParaRPr lang="en-US" b="0" dirty="0"/>
          </a:p>
          <a:p>
            <a:r>
              <a:rPr lang="en-US" b="0" dirty="0" err="1"/>
              <a:t>Voorbeeld</a:t>
            </a:r>
            <a:r>
              <a:rPr lang="en-US" b="0" dirty="0"/>
              <a:t> </a:t>
            </a:r>
            <a:r>
              <a:rPr lang="en-US" b="0" dirty="0" err="1"/>
              <a:t>boek</a:t>
            </a:r>
            <a:r>
              <a:rPr lang="en-US" b="0" dirty="0"/>
              <a:t>: </a:t>
            </a:r>
          </a:p>
          <a:p>
            <a:r>
              <a:rPr lang="en-US" b="0" dirty="0" err="1"/>
              <a:t>Woordenschat</a:t>
            </a:r>
            <a:r>
              <a:rPr lang="en-US" b="0" dirty="0"/>
              <a:t> </a:t>
            </a:r>
            <a:r>
              <a:rPr lang="en-US" b="0" dirty="0" err="1"/>
              <a:t>leren</a:t>
            </a:r>
            <a:r>
              <a:rPr lang="en-US" b="0" baseline="0" dirty="0"/>
              <a:t> is </a:t>
            </a:r>
            <a:r>
              <a:rPr lang="en-US" b="0" baseline="0" dirty="0" err="1"/>
              <a:t>makkelijker</a:t>
            </a:r>
            <a:r>
              <a:rPr lang="en-US" b="0" baseline="0" dirty="0"/>
              <a:t> dan de </a:t>
            </a:r>
            <a:r>
              <a:rPr lang="en-US" b="0" baseline="0" dirty="0" err="1"/>
              <a:t>grammaticale</a:t>
            </a:r>
            <a:r>
              <a:rPr lang="en-US" b="0" baseline="0" dirty="0"/>
              <a:t> syntax. </a:t>
            </a:r>
            <a:r>
              <a:rPr lang="en-US" b="0" baseline="0" dirty="0" err="1"/>
              <a:t>Bij</a:t>
            </a:r>
            <a:r>
              <a:rPr lang="en-US" b="0" baseline="0" dirty="0"/>
              <a:t> </a:t>
            </a:r>
            <a:r>
              <a:rPr lang="en-US" b="0" baseline="0" dirty="0" err="1"/>
              <a:t>complexe</a:t>
            </a:r>
            <a:r>
              <a:rPr lang="en-US" b="0" baseline="0" dirty="0"/>
              <a:t> </a:t>
            </a:r>
            <a:r>
              <a:rPr lang="en-US" b="0" baseline="0" dirty="0" err="1"/>
              <a:t>informatie</a:t>
            </a:r>
            <a:r>
              <a:rPr lang="en-US" b="0" baseline="0" dirty="0"/>
              <a:t> </a:t>
            </a:r>
            <a:r>
              <a:rPr lang="en-US" b="0" baseline="0" dirty="0" err="1"/>
              <a:t>moeten</a:t>
            </a:r>
            <a:r>
              <a:rPr lang="en-US" b="0" baseline="0" dirty="0"/>
              <a:t> we </a:t>
            </a:r>
            <a:r>
              <a:rPr lang="en-US" b="0" baseline="0" dirty="0" err="1"/>
              <a:t>teveel</a:t>
            </a:r>
            <a:r>
              <a:rPr lang="en-US" b="0" baseline="0" dirty="0"/>
              <a:t> </a:t>
            </a:r>
            <a:r>
              <a:rPr lang="en-US" b="0" baseline="0" dirty="0" err="1"/>
              <a:t>kenniselementen</a:t>
            </a:r>
            <a:r>
              <a:rPr lang="en-US" b="0" baseline="0" dirty="0"/>
              <a:t> </a:t>
            </a:r>
            <a:r>
              <a:rPr lang="en-US" b="0" baseline="0" dirty="0" err="1"/>
              <a:t>tegelijkertijd</a:t>
            </a:r>
            <a:r>
              <a:rPr lang="en-US" b="0" baseline="0" dirty="0"/>
              <a:t> in het </a:t>
            </a:r>
            <a:r>
              <a:rPr lang="en-US" b="0" baseline="0" dirty="0" err="1"/>
              <a:t>werkgeheugen</a:t>
            </a:r>
            <a:r>
              <a:rPr lang="en-US" b="0" baseline="0" dirty="0"/>
              <a:t> </a:t>
            </a:r>
            <a:r>
              <a:rPr lang="en-US" b="0" baseline="0" dirty="0" err="1"/>
              <a:t>verwerken</a:t>
            </a:r>
            <a:r>
              <a:rPr lang="en-US" b="0" baseline="0" dirty="0"/>
              <a:t> en </a:t>
            </a:r>
            <a:r>
              <a:rPr lang="en-US" b="0" baseline="0" dirty="0" err="1"/>
              <a:t>vasthouden</a:t>
            </a:r>
            <a:r>
              <a:rPr lang="en-US" b="0" baseline="0" dirty="0"/>
              <a:t>. We </a:t>
            </a:r>
            <a:r>
              <a:rPr lang="en-US" b="0" baseline="0" dirty="0" err="1"/>
              <a:t>hebben</a:t>
            </a:r>
            <a:r>
              <a:rPr lang="en-US" b="0" baseline="0" dirty="0"/>
              <a:t> de </a:t>
            </a:r>
            <a:r>
              <a:rPr lang="en-US" b="0" baseline="0" dirty="0" err="1"/>
              <a:t>tijd</a:t>
            </a:r>
            <a:r>
              <a:rPr lang="en-US" b="0" baseline="0" dirty="0"/>
              <a:t> </a:t>
            </a:r>
            <a:r>
              <a:rPr lang="en-US" b="0" baseline="0" dirty="0" err="1"/>
              <a:t>niet</a:t>
            </a:r>
            <a:r>
              <a:rPr lang="en-US" b="0" baseline="0" dirty="0"/>
              <a:t> om de </a:t>
            </a:r>
            <a:r>
              <a:rPr lang="en-US" b="0" baseline="0" dirty="0" err="1"/>
              <a:t>nieuwe</a:t>
            </a:r>
            <a:r>
              <a:rPr lang="en-US" b="0" baseline="0" dirty="0"/>
              <a:t> </a:t>
            </a:r>
            <a:r>
              <a:rPr lang="en-US" b="0" baseline="0" dirty="0" err="1"/>
              <a:t>informatie</a:t>
            </a:r>
            <a:r>
              <a:rPr lang="en-US" b="0" baseline="0" dirty="0"/>
              <a:t> </a:t>
            </a:r>
            <a:r>
              <a:rPr lang="en-US" b="0" baseline="0" dirty="0" err="1"/>
              <a:t>grondig</a:t>
            </a:r>
            <a:r>
              <a:rPr lang="en-US" b="0" baseline="0" dirty="0"/>
              <a:t> op te </a:t>
            </a:r>
            <a:r>
              <a:rPr lang="en-US" b="0" baseline="0" dirty="0" err="1"/>
              <a:t>slaan</a:t>
            </a:r>
            <a:r>
              <a:rPr lang="en-US" b="0" baseline="0" dirty="0"/>
              <a:t> in het </a:t>
            </a:r>
            <a:r>
              <a:rPr lang="en-US" b="0" baseline="0" dirty="0" err="1"/>
              <a:t>lange</a:t>
            </a:r>
            <a:r>
              <a:rPr lang="en-US" b="0" baseline="0" dirty="0"/>
              <a:t> </a:t>
            </a:r>
            <a:r>
              <a:rPr lang="en-US" b="0" baseline="0" dirty="0" err="1"/>
              <a:t>termijngeheugen</a:t>
            </a:r>
            <a:r>
              <a:rPr lang="en-US" b="0" baseline="0" dirty="0"/>
              <a:t> in de </a:t>
            </a:r>
            <a:r>
              <a:rPr lang="en-US" b="0" baseline="0" dirty="0" err="1"/>
              <a:t>vorm</a:t>
            </a:r>
            <a:r>
              <a:rPr lang="en-US" b="0" baseline="0" dirty="0"/>
              <a:t> van schema’s. </a:t>
            </a:r>
          </a:p>
          <a:p>
            <a:endParaRPr lang="en-US" b="0" baseline="0" dirty="0"/>
          </a:p>
          <a:p>
            <a:endParaRPr lang="en-US" b="0"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26</a:t>
            </a:fld>
            <a:endParaRPr lang="en-GB" dirty="0"/>
          </a:p>
        </p:txBody>
      </p:sp>
    </p:spTree>
    <p:extLst>
      <p:ext uri="{BB962C8B-B14F-4D97-AF65-F5344CB8AC3E}">
        <p14:creationId xmlns:p14="http://schemas.microsoft.com/office/powerpoint/2010/main" val="27398350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27</a:t>
            </a:fld>
            <a:endParaRPr lang="en-GB" dirty="0"/>
          </a:p>
        </p:txBody>
      </p:sp>
    </p:spTree>
    <p:extLst>
      <p:ext uri="{BB962C8B-B14F-4D97-AF65-F5344CB8AC3E}">
        <p14:creationId xmlns:p14="http://schemas.microsoft.com/office/powerpoint/2010/main" val="24958806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Wat </a:t>
            </a:r>
            <a:r>
              <a:rPr lang="en-US" b="1" dirty="0" err="1"/>
              <a:t>ging</a:t>
            </a:r>
            <a:r>
              <a:rPr lang="en-US" b="1" dirty="0"/>
              <a:t> er nu </a:t>
            </a:r>
            <a:r>
              <a:rPr lang="en-US" b="1" dirty="0" err="1"/>
              <a:t>precies</a:t>
            </a:r>
            <a:r>
              <a:rPr lang="en-US" b="1" dirty="0"/>
              <a:t> mis in het </a:t>
            </a:r>
            <a:r>
              <a:rPr lang="en-US" b="1" dirty="0" err="1"/>
              <a:t>vorige</a:t>
            </a:r>
            <a:r>
              <a:rPr lang="en-US" b="1" dirty="0"/>
              <a:t> </a:t>
            </a:r>
            <a:r>
              <a:rPr lang="en-US" b="1" dirty="0" err="1"/>
              <a:t>voorbeeld</a:t>
            </a:r>
            <a:r>
              <a:rPr lang="en-US" b="1" dirty="0"/>
              <a:t>?</a:t>
            </a:r>
          </a:p>
          <a:p>
            <a:endParaRPr lang="en-US" b="0" dirty="0"/>
          </a:p>
          <a:p>
            <a:pPr marL="170318" indent="-170318">
              <a:buFontTx/>
              <a:buChar char="-"/>
            </a:pPr>
            <a:r>
              <a:rPr lang="en-US" b="0" dirty="0" err="1"/>
              <a:t>Onleesbaar</a:t>
            </a:r>
            <a:endParaRPr lang="en-US" b="0" dirty="0"/>
          </a:p>
          <a:p>
            <a:pPr marL="170318" indent="-170318">
              <a:buFontTx/>
              <a:buChar char="-"/>
            </a:pPr>
            <a:r>
              <a:rPr lang="en-US" b="0" dirty="0" err="1"/>
              <a:t>Slecht</a:t>
            </a:r>
            <a:r>
              <a:rPr lang="en-US" b="0" dirty="0"/>
              <a:t> </a:t>
            </a:r>
            <a:r>
              <a:rPr lang="en-US" b="0" dirty="0" err="1"/>
              <a:t>gebruik</a:t>
            </a:r>
            <a:r>
              <a:rPr lang="en-US" b="0" dirty="0"/>
              <a:t> </a:t>
            </a:r>
            <a:r>
              <a:rPr lang="en-US" b="0" dirty="0" err="1"/>
              <a:t>geluid</a:t>
            </a:r>
            <a:r>
              <a:rPr lang="en-US" b="0" dirty="0"/>
              <a:t> en </a:t>
            </a:r>
            <a:r>
              <a:rPr lang="en-US" b="0" dirty="0" err="1"/>
              <a:t>animaties</a:t>
            </a:r>
            <a:endParaRPr lang="en-US" b="0" dirty="0"/>
          </a:p>
          <a:p>
            <a:endParaRPr lang="en-US" b="0" dirty="0"/>
          </a:p>
          <a:p>
            <a:endParaRPr lang="en-US" b="0" dirty="0"/>
          </a:p>
          <a:p>
            <a:r>
              <a:rPr lang="en-US" b="0" dirty="0" err="1"/>
              <a:t>Vermijden</a:t>
            </a:r>
            <a:r>
              <a:rPr lang="en-US" b="0" dirty="0"/>
              <a:t>: er </a:t>
            </a:r>
            <a:r>
              <a:rPr lang="en-US" b="0" dirty="0" err="1"/>
              <a:t>zijn</a:t>
            </a:r>
            <a:r>
              <a:rPr lang="en-US" b="0" dirty="0"/>
              <a:t> </a:t>
            </a:r>
            <a:r>
              <a:rPr lang="en-US" b="0" dirty="0" err="1"/>
              <a:t>daarvoor</a:t>
            </a:r>
            <a:r>
              <a:rPr lang="en-US" b="0" dirty="0"/>
              <a:t> </a:t>
            </a:r>
            <a:r>
              <a:rPr lang="en-US" b="0" dirty="0" err="1"/>
              <a:t>principes</a:t>
            </a:r>
            <a:r>
              <a:rPr lang="en-US" b="0" dirty="0"/>
              <a:t> </a:t>
            </a:r>
            <a:r>
              <a:rPr lang="en-US" b="0" dirty="0" err="1"/>
              <a:t>opgesteld</a:t>
            </a:r>
            <a:r>
              <a:rPr lang="en-US" b="0" dirty="0"/>
              <a:t> die </a:t>
            </a:r>
            <a:r>
              <a:rPr lang="en-US" b="0" dirty="0" err="1"/>
              <a:t>helpen</a:t>
            </a:r>
            <a:r>
              <a:rPr lang="en-US" b="0" dirty="0"/>
              <a:t> om extraneous</a:t>
            </a:r>
            <a:r>
              <a:rPr lang="en-US" b="0" baseline="0" dirty="0"/>
              <a:t> cognitive load te </a:t>
            </a:r>
            <a:r>
              <a:rPr lang="en-US" b="0" baseline="0" dirty="0" err="1"/>
              <a:t>vermijden</a:t>
            </a:r>
            <a:r>
              <a:rPr lang="en-US" b="0" baseline="0" dirty="0"/>
              <a:t>. </a:t>
            </a:r>
            <a:endParaRPr lang="en-US" b="0" dirty="0"/>
          </a:p>
          <a:p>
            <a:pPr marL="170318" indent="-170318">
              <a:buFontTx/>
              <a:buChar char="-"/>
            </a:pPr>
            <a:endParaRPr lang="en-US" b="1"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28</a:t>
            </a:fld>
            <a:endParaRPr lang="en-GB" dirty="0"/>
          </a:p>
        </p:txBody>
      </p:sp>
    </p:spTree>
    <p:extLst>
      <p:ext uri="{BB962C8B-B14F-4D97-AF65-F5344CB8AC3E}">
        <p14:creationId xmlns:p14="http://schemas.microsoft.com/office/powerpoint/2010/main" val="37077528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b="1"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29</a:t>
            </a:fld>
            <a:endParaRPr lang="en-GB" dirty="0"/>
          </a:p>
        </p:txBody>
      </p:sp>
    </p:spTree>
    <p:extLst>
      <p:ext uri="{BB962C8B-B14F-4D97-AF65-F5344CB8AC3E}">
        <p14:creationId xmlns:p14="http://schemas.microsoft.com/office/powerpoint/2010/main" val="27902540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BE717-4A0C-B20D-60D5-FDB59DAE34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6901FA-78F5-ECDE-47AE-CE4F15A1A9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D4C7FF-D0CC-3DA2-64DA-1D8E241CAE6B}"/>
              </a:ext>
            </a:extLst>
          </p:cNvPr>
          <p:cNvSpPr>
            <a:spLocks noGrp="1"/>
          </p:cNvSpPr>
          <p:nvPr>
            <p:ph type="body" idx="1"/>
          </p:nvPr>
        </p:nvSpPr>
        <p:spPr/>
        <p:txBody>
          <a:bodyPr/>
          <a:lstStyle/>
          <a:p>
            <a:endParaRPr lang="nl-NL" b="0" dirty="0"/>
          </a:p>
        </p:txBody>
      </p:sp>
      <p:sp>
        <p:nvSpPr>
          <p:cNvPr id="4" name="Header Placeholder 3">
            <a:extLst>
              <a:ext uri="{FF2B5EF4-FFF2-40B4-BE49-F238E27FC236}">
                <a16:creationId xmlns:a16="http://schemas.microsoft.com/office/drawing/2014/main" id="{095A9A60-16EF-E902-95EE-1AC297EF9BED}"/>
              </a:ext>
            </a:extLst>
          </p:cNvPr>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a:extLst>
              <a:ext uri="{FF2B5EF4-FFF2-40B4-BE49-F238E27FC236}">
                <a16:creationId xmlns:a16="http://schemas.microsoft.com/office/drawing/2014/main" id="{635420BF-B6FC-43B1-CAA2-38E34C234CDA}"/>
              </a:ext>
            </a:extLst>
          </p:cNvPr>
          <p:cNvSpPr>
            <a:spLocks noGrp="1"/>
          </p:cNvSpPr>
          <p:nvPr>
            <p:ph type="sldNum" sz="quarter" idx="5"/>
          </p:nvPr>
        </p:nvSpPr>
        <p:spPr/>
        <p:txBody>
          <a:bodyPr/>
          <a:lstStyle/>
          <a:p>
            <a:fld id="{697381A9-0C9E-4D3A-A28B-AC4E168A57BC}" type="slidenum">
              <a:rPr lang="en-GB" smtClean="0"/>
              <a:pPr/>
              <a:t>30</a:t>
            </a:fld>
            <a:endParaRPr lang="en-GB" dirty="0"/>
          </a:p>
        </p:txBody>
      </p:sp>
    </p:spTree>
    <p:extLst>
      <p:ext uri="{BB962C8B-B14F-4D97-AF65-F5344CB8AC3E}">
        <p14:creationId xmlns:p14="http://schemas.microsoft.com/office/powerpoint/2010/main" val="33455424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L"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31</a:t>
            </a:fld>
            <a:endParaRPr lang="en-GB" dirty="0"/>
          </a:p>
        </p:txBody>
      </p:sp>
    </p:spTree>
    <p:extLst>
      <p:ext uri="{BB962C8B-B14F-4D97-AF65-F5344CB8AC3E}">
        <p14:creationId xmlns:p14="http://schemas.microsoft.com/office/powerpoint/2010/main" val="32408493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NL"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32</a:t>
            </a:fld>
            <a:endParaRPr lang="en-GB" dirty="0"/>
          </a:p>
        </p:txBody>
      </p:sp>
    </p:spTree>
    <p:extLst>
      <p:ext uri="{BB962C8B-B14F-4D97-AF65-F5344CB8AC3E}">
        <p14:creationId xmlns:p14="http://schemas.microsoft.com/office/powerpoint/2010/main" val="33511627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nl-NL" dirty="0"/>
              <a:t>Exogeen constructivisme: leren: reconstrueren van de werkelijkheid; kennisconstructie</a:t>
            </a:r>
            <a:r>
              <a:rPr lang="nl-NL" baseline="0" dirty="0"/>
              <a:t> leidt tot kennis die een reconstructie is  (afspiegeling) van de fysische werkelijkheid. Deze externe wereld (met experts, leerkrachten) beïnvloedt onze ervaringen, opvattingen. Kennis is correct als ze de externe werkelijkheid representeert. </a:t>
            </a:r>
          </a:p>
          <a:p>
            <a:r>
              <a:rPr lang="nl-NL" baseline="0" dirty="0"/>
              <a:t>Endogeen constructivisme: leren: vooral interne mentale processen; kennis is afgeleid van eerder verworven kennis en dus niet bepaald door directe interactie met de omgeving. Kennis is geen spiegel </a:t>
            </a:r>
            <a:r>
              <a:rPr lang="nl-NL" baseline="0" dirty="0" err="1"/>
              <a:t>vd</a:t>
            </a:r>
            <a:r>
              <a:rPr lang="nl-NL" baseline="0" dirty="0"/>
              <a:t> werkelijkheid maar ontwikkelt zich door cognitieve abstractie. Voorbeeld Piaget: jongen leert begrip van het getal vijf door stenen te manipuleren, tellen van links naar rechts, rechts naar links, in een cirkel, steeds hetzelfde getal. Mensen hebben al bestaande schema’s waarin door ervaring kennis wordt opgedaan.</a:t>
            </a:r>
          </a:p>
          <a:p>
            <a:r>
              <a:rPr lang="nl-NL" baseline="0" dirty="0"/>
              <a:t>Dialectisch constructivisme: Kennis ontstaat door de interactie tussen mens en omgeving.</a:t>
            </a:r>
            <a:endParaRPr lang="nl-NL"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33</a:t>
            </a:fld>
            <a:endParaRPr lang="en-GB" dirty="0"/>
          </a:p>
        </p:txBody>
      </p:sp>
    </p:spTree>
    <p:extLst>
      <p:ext uri="{BB962C8B-B14F-4D97-AF65-F5344CB8AC3E}">
        <p14:creationId xmlns:p14="http://schemas.microsoft.com/office/powerpoint/2010/main" val="4695887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nl-NL" dirty="0"/>
          </a:p>
        </p:txBody>
      </p:sp>
      <p:sp>
        <p:nvSpPr>
          <p:cNvPr id="4" name="Header Placeholder 3"/>
          <p:cNvSpPr>
            <a:spLocks noGrp="1"/>
          </p:cNvSpPr>
          <p:nvPr>
            <p:ph type="hdr" sz="quarter"/>
          </p:nvPr>
        </p:nvSpPr>
        <p:spPr/>
        <p:txBody>
          <a:bodyPr/>
          <a:lstStyle/>
          <a:p>
            <a:r>
              <a:rPr lang="en-GB">
                <a:latin typeface="Open Sans Regular" panose="020B0606030504020204" pitchFamily="34" charset="0"/>
              </a:rPr>
              <a:t>[Faculteit en/of opleiding max. 2 regels</a:t>
            </a:r>
          </a:p>
          <a:p>
            <a:r>
              <a:rPr lang="en-GB">
                <a:latin typeface="Open Sans Regular" panose="020B0606030504020204" pitchFamily="34" charset="0"/>
              </a:rPr>
              <a:t>
</a:t>
            </a:r>
            <a:endParaRPr lang="en-GB" dirty="0">
              <a:latin typeface="Open Sans Regular" panose="020B0606030504020204" pitchFamily="34" charset="0"/>
            </a:endParaRPr>
          </a:p>
        </p:txBody>
      </p:sp>
      <p:sp>
        <p:nvSpPr>
          <p:cNvPr id="5" name="Slide Number Placeholder 4"/>
          <p:cNvSpPr>
            <a:spLocks noGrp="1"/>
          </p:cNvSpPr>
          <p:nvPr>
            <p:ph type="sldNum" sz="quarter" idx="5"/>
          </p:nvPr>
        </p:nvSpPr>
        <p:spPr/>
        <p:txBody>
          <a:bodyPr/>
          <a:lstStyle/>
          <a:p>
            <a:fld id="{697381A9-0C9E-4D3A-A28B-AC4E168A57BC}" type="slidenum">
              <a:rPr lang="en-GB" smtClean="0"/>
              <a:pPr/>
              <a:t>34</a:t>
            </a:fld>
            <a:endParaRPr lang="en-GB" dirty="0"/>
          </a:p>
        </p:txBody>
      </p:sp>
    </p:spTree>
    <p:extLst>
      <p:ext uri="{BB962C8B-B14F-4D97-AF65-F5344CB8AC3E}">
        <p14:creationId xmlns:p14="http://schemas.microsoft.com/office/powerpoint/2010/main" val="1486886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basisbeeld">
    <p:bg bwMode="gray">
      <p:bgRef idx="1001">
        <a:schemeClr val="bg1"/>
      </p:bgRef>
    </p:bg>
    <p:spTree>
      <p:nvGrpSpPr>
        <p:cNvPr id="1" name=""/>
        <p:cNvGrpSpPr/>
        <p:nvPr/>
      </p:nvGrpSpPr>
      <p:grpSpPr>
        <a:xfrm>
          <a:off x="0" y="0"/>
          <a:ext cx="0" cy="0"/>
          <a:chOff x="0" y="0"/>
          <a:chExt cx="0" cy="0"/>
        </a:xfrm>
      </p:grpSpPr>
      <p:sp>
        <p:nvSpPr>
          <p:cNvPr id="76" name="Rechthoek 75">
            <a:extLst>
              <a:ext uri="{FF2B5EF4-FFF2-40B4-BE49-F238E27FC236}">
                <a16:creationId xmlns:a16="http://schemas.microsoft.com/office/drawing/2014/main" id="{758C37AB-AC0B-7346-B19E-E97A0249779D}"/>
              </a:ext>
            </a:extLst>
          </p:cNvPr>
          <p:cNvSpPr/>
          <p:nvPr userDrawn="1"/>
        </p:nvSpPr>
        <p:spPr>
          <a:xfrm>
            <a:off x="8261221" y="1121935"/>
            <a:ext cx="3930561" cy="5043370"/>
          </a:xfrm>
          <a:prstGeom prst="rect">
            <a:avLst/>
          </a:prstGeom>
          <a:solidFill>
            <a:srgbClr val="FFC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Open Sans Regular" panose="020B0606030504020204" pitchFamily="34" charset="0"/>
            </a:endParaRPr>
          </a:p>
        </p:txBody>
      </p:sp>
      <p:sp>
        <p:nvSpPr>
          <p:cNvPr id="2" name="Titel 1"/>
          <p:cNvSpPr>
            <a:spLocks noGrp="1"/>
          </p:cNvSpPr>
          <p:nvPr>
            <p:ph type="ctrTitle"/>
          </p:nvPr>
        </p:nvSpPr>
        <p:spPr>
          <a:xfrm>
            <a:off x="8621261" y="2522020"/>
            <a:ext cx="3096344" cy="2448272"/>
          </a:xfrm>
        </p:spPr>
        <p:txBody>
          <a:bodyPr anchor="t" anchorCtr="0"/>
          <a:lstStyle>
            <a:lvl1pPr algn="l">
              <a:defRPr sz="4200" b="0" i="0">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GB" dirty="0"/>
          </a:p>
        </p:txBody>
      </p:sp>
      <p:sp>
        <p:nvSpPr>
          <p:cNvPr id="77" name="Rechthoek 76">
            <a:extLst>
              <a:ext uri="{FF2B5EF4-FFF2-40B4-BE49-F238E27FC236}">
                <a16:creationId xmlns:a16="http://schemas.microsoft.com/office/drawing/2014/main" id="{FD4FB8DB-31F5-4645-A828-3DD4D37FB707}"/>
              </a:ext>
            </a:extLst>
          </p:cNvPr>
          <p:cNvSpPr/>
          <p:nvPr userDrawn="1"/>
        </p:nvSpPr>
        <p:spPr>
          <a:xfrm>
            <a:off x="-3393" y="2234"/>
            <a:ext cx="12198568" cy="11945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Open Sans Regular" panose="020B0606030504020204" pitchFamily="34" charset="0"/>
            </a:endParaRPr>
          </a:p>
        </p:txBody>
      </p:sp>
      <p:sp>
        <p:nvSpPr>
          <p:cNvPr id="17" name="Rechthoek 16">
            <a:extLst>
              <a:ext uri="{FF2B5EF4-FFF2-40B4-BE49-F238E27FC236}">
                <a16:creationId xmlns:a16="http://schemas.microsoft.com/office/drawing/2014/main" id="{74E964C8-3CA5-B54D-984E-308E0E51E2AD}"/>
              </a:ext>
            </a:extLst>
          </p:cNvPr>
          <p:cNvSpPr/>
          <p:nvPr userDrawn="1"/>
        </p:nvSpPr>
        <p:spPr>
          <a:xfrm>
            <a:off x="8261221" y="-4819"/>
            <a:ext cx="3937347" cy="1201570"/>
          </a:xfrm>
          <a:prstGeom prst="rect">
            <a:avLst/>
          </a:prstGeom>
          <a:solidFill>
            <a:srgbClr val="FFC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Open Sans Regular" panose="020B0606030504020204" pitchFamily="34" charset="0"/>
            </a:endParaRPr>
          </a:p>
        </p:txBody>
      </p:sp>
      <p:sp>
        <p:nvSpPr>
          <p:cNvPr id="18" name="Rechthoek 17">
            <a:extLst>
              <a:ext uri="{FF2B5EF4-FFF2-40B4-BE49-F238E27FC236}">
                <a16:creationId xmlns:a16="http://schemas.microsoft.com/office/drawing/2014/main" id="{D03340C3-45CD-4343-9BAD-8F8743FBFED9}"/>
              </a:ext>
            </a:extLst>
          </p:cNvPr>
          <p:cNvSpPr/>
          <p:nvPr userDrawn="1"/>
        </p:nvSpPr>
        <p:spPr>
          <a:xfrm>
            <a:off x="8261221" y="6165304"/>
            <a:ext cx="3930560" cy="692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Open Sans Regular" panose="020B0606030504020204" pitchFamily="34" charset="0"/>
            </a:endParaRPr>
          </a:p>
        </p:txBody>
      </p:sp>
      <p:pic>
        <p:nvPicPr>
          <p:cNvPr id="19" name="Afbeelding 18">
            <a:extLst>
              <a:ext uri="{FF2B5EF4-FFF2-40B4-BE49-F238E27FC236}">
                <a16:creationId xmlns:a16="http://schemas.microsoft.com/office/drawing/2014/main" id="{7F2D3C96-BE80-1F45-9BF5-BAE2549834EB}"/>
              </a:ext>
            </a:extLst>
          </p:cNvPr>
          <p:cNvPicPr>
            <a:picLocks noChangeAspect="1"/>
          </p:cNvPicPr>
          <p:nvPr userDrawn="1"/>
        </p:nvPicPr>
        <p:blipFill>
          <a:blip r:embed="rId2"/>
          <a:stretch>
            <a:fillRect/>
          </a:stretch>
        </p:blipFill>
        <p:spPr>
          <a:xfrm>
            <a:off x="8473851" y="6198151"/>
            <a:ext cx="2950173" cy="615225"/>
          </a:xfrm>
          <a:prstGeom prst="rect">
            <a:avLst/>
          </a:prstGeom>
        </p:spPr>
      </p:pic>
      <p:pic>
        <p:nvPicPr>
          <p:cNvPr id="13" name="Afbeelding 12">
            <a:extLst>
              <a:ext uri="{FF2B5EF4-FFF2-40B4-BE49-F238E27FC236}">
                <a16:creationId xmlns:a16="http://schemas.microsoft.com/office/drawing/2014/main" id="{F328E016-F033-BC46-BE4E-2E0CCDE6B07B}"/>
              </a:ext>
            </a:extLst>
          </p:cNvPr>
          <p:cNvPicPr>
            <a:picLocks noChangeAspect="1"/>
          </p:cNvPicPr>
          <p:nvPr userDrawn="1"/>
        </p:nvPicPr>
        <p:blipFill>
          <a:blip r:embed="rId3"/>
          <a:stretch>
            <a:fillRect/>
          </a:stretch>
        </p:blipFill>
        <p:spPr>
          <a:xfrm>
            <a:off x="-3393" y="4671"/>
            <a:ext cx="3031828" cy="1192081"/>
          </a:xfrm>
          <a:prstGeom prst="rect">
            <a:avLst/>
          </a:prstGeom>
        </p:spPr>
      </p:pic>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9AE85-F2D3-4DA4-850B-891449744201}"/>
              </a:ext>
            </a:extLst>
          </p:cNvPr>
          <p:cNvSpPr>
            <a:spLocks noGrp="1"/>
          </p:cNvSpPr>
          <p:nvPr>
            <p:ph type="title"/>
          </p:nvPr>
        </p:nvSpPr>
        <p:spPr/>
        <p:txBody>
          <a:bodyPr/>
          <a:lstStyle/>
          <a:p>
            <a:r>
              <a:rPr lang="en-US"/>
              <a:t>Click to edit Master title style</a:t>
            </a:r>
            <a:endParaRPr lang="nl-NL"/>
          </a:p>
        </p:txBody>
      </p:sp>
      <p:sp>
        <p:nvSpPr>
          <p:cNvPr id="3" name="Footer Placeholder 2">
            <a:extLst>
              <a:ext uri="{FF2B5EF4-FFF2-40B4-BE49-F238E27FC236}">
                <a16:creationId xmlns:a16="http://schemas.microsoft.com/office/drawing/2014/main" id="{B71ECE2D-5C36-49A4-9F54-6238603A6DC6}"/>
              </a:ext>
            </a:extLst>
          </p:cNvPr>
          <p:cNvSpPr>
            <a:spLocks noGrp="1"/>
          </p:cNvSpPr>
          <p:nvPr>
            <p:ph type="ftr" sz="quarter" idx="10"/>
          </p:nvPr>
        </p:nvSpPr>
        <p:spPr/>
        <p:txBody>
          <a:bodyPr/>
          <a:lstStyle/>
          <a:p>
            <a:r>
              <a:rPr lang="nl-NL"/>
              <a:t>Bachelor Onderwijswetenschappen, Universiteit Utrecht</a:t>
            </a:r>
            <a:endParaRPr lang="nl-NL" dirty="0"/>
          </a:p>
        </p:txBody>
      </p:sp>
    </p:spTree>
    <p:extLst>
      <p:ext uri="{BB962C8B-B14F-4D97-AF65-F5344CB8AC3E}">
        <p14:creationId xmlns:p14="http://schemas.microsoft.com/office/powerpoint/2010/main" val="300263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endParaRPr lang="nl-NL" noProof="0" dirty="0"/>
          </a:p>
        </p:txBody>
      </p:sp>
      <p:sp>
        <p:nvSpPr>
          <p:cNvPr id="9" name="Tijdelijke aanduiding voor voettekst 8">
            <a:extLst>
              <a:ext uri="{FF2B5EF4-FFF2-40B4-BE49-F238E27FC236}">
                <a16:creationId xmlns:a16="http://schemas.microsoft.com/office/drawing/2014/main" id="{F86B395A-9A82-1F41-A279-70039F3AFFEC}"/>
              </a:ext>
            </a:extLst>
          </p:cNvPr>
          <p:cNvSpPr>
            <a:spLocks noGrp="1"/>
          </p:cNvSpPr>
          <p:nvPr>
            <p:ph type="ftr" sz="quarter" idx="10"/>
          </p:nvPr>
        </p:nvSpPr>
        <p:spPr/>
        <p:txBody>
          <a:bodyPr/>
          <a:lstStyle>
            <a:lvl1pPr>
              <a:defRPr/>
            </a:lvl1pPr>
          </a:lstStyle>
          <a:p>
            <a:r>
              <a:rPr lang="nl-NL" dirty="0"/>
              <a:t>Bachelor Onderwijswetenschappen, Universiteit Utrecht</a:t>
            </a:r>
          </a:p>
        </p:txBody>
      </p:sp>
      <p:sp>
        <p:nvSpPr>
          <p:cNvPr id="4" name="TextBox 3">
            <a:extLst>
              <a:ext uri="{FF2B5EF4-FFF2-40B4-BE49-F238E27FC236}">
                <a16:creationId xmlns:a16="http://schemas.microsoft.com/office/drawing/2014/main" id="{6F1121F7-BEF1-42B2-A3D8-D3135143EB37}"/>
              </a:ext>
            </a:extLst>
          </p:cNvPr>
          <p:cNvSpPr txBox="1"/>
          <p:nvPr userDrawn="1"/>
        </p:nvSpPr>
        <p:spPr>
          <a:xfrm>
            <a:off x="1173163" y="2348880"/>
            <a:ext cx="9964983" cy="276999"/>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dirty="0">
                <a:latin typeface="Gill Sans MT" panose="020B0502020104020203" pitchFamily="34" charset="0"/>
              </a:rPr>
              <a:t>….</a:t>
            </a:r>
            <a:endParaRPr lang="nl-NL" dirty="0">
              <a:latin typeface="Gill Sans MT" panose="020B0502020104020203"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Enumeration">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1173164" y="1628800"/>
            <a:ext cx="7264400" cy="4075088"/>
          </a:xfrm>
        </p:spPr>
        <p:txBody>
          <a:bodyPr/>
          <a:lstStyle>
            <a:lvl1pPr marL="0" indent="0">
              <a:lnSpc>
                <a:spcPct val="110000"/>
              </a:lnSpc>
              <a:buFont typeface="Verdana" pitchFamily="34" charset="0"/>
              <a:buNone/>
              <a:defRPr/>
            </a:lvl1pPr>
            <a:lvl2pPr marL="270000" indent="-270000">
              <a:lnSpc>
                <a:spcPct val="110000"/>
              </a:lnSpc>
              <a:spcBef>
                <a:spcPts val="2100"/>
              </a:spcBef>
              <a:buFont typeface="Verdana" pitchFamily="34" charset="0"/>
              <a:buChar char="•"/>
              <a:defRPr/>
            </a:lvl2pPr>
            <a:lvl3pPr marL="540000">
              <a:lnSpc>
                <a:spcPct val="110000"/>
              </a:lnSpc>
              <a:defRPr/>
            </a:lvl3pPr>
            <a:lvl4pPr marL="810000">
              <a:lnSpc>
                <a:spcPct val="110000"/>
              </a:lnSpc>
              <a:defRPr/>
            </a:lvl4pPr>
            <a:lvl5pPr marL="1080000">
              <a:lnSpc>
                <a:spcPct val="110000"/>
              </a:lnSpc>
              <a:defRPr/>
            </a:lvl5pPr>
          </a:lstStyle>
          <a:p>
            <a:pPr lvl="0"/>
            <a:endParaRPr lang="en-GB" dirty="0"/>
          </a:p>
        </p:txBody>
      </p:sp>
      <p:sp>
        <p:nvSpPr>
          <p:cNvPr id="2" name="Tijdelijke aanduiding voor voettekst 1">
            <a:extLst>
              <a:ext uri="{FF2B5EF4-FFF2-40B4-BE49-F238E27FC236}">
                <a16:creationId xmlns:a16="http://schemas.microsoft.com/office/drawing/2014/main" id="{5CEA5EA0-35B7-2F45-BFC7-A183CE37222D}"/>
              </a:ext>
            </a:extLst>
          </p:cNvPr>
          <p:cNvSpPr>
            <a:spLocks noGrp="1"/>
          </p:cNvSpPr>
          <p:nvPr>
            <p:ph type="ftr" sz="quarter" idx="10"/>
          </p:nvPr>
        </p:nvSpPr>
        <p:spPr/>
        <p:txBody>
          <a:bodyPr/>
          <a:lstStyle/>
          <a:p>
            <a:r>
              <a:rPr lang="nl-NL"/>
              <a:t>[Faculteit en/of opleiding max. 2 regels]</a:t>
            </a:r>
            <a:endParaRPr lang="nl-NL"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left, photo right">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1173164" y="1634400"/>
            <a:ext cx="4564061" cy="4069488"/>
          </a:xfrm>
        </p:spPr>
        <p:txBody>
          <a:bodyPr/>
          <a:lstStyle/>
          <a:p>
            <a:pPr lvl="0"/>
            <a:endParaRPr lang="en-GB" dirty="0"/>
          </a:p>
        </p:txBody>
      </p:sp>
      <p:sp>
        <p:nvSpPr>
          <p:cNvPr id="9" name="Tijdelijke aanduiding voor afbeelding 8"/>
          <p:cNvSpPr>
            <a:spLocks noGrp="1"/>
          </p:cNvSpPr>
          <p:nvPr>
            <p:ph type="pic" sz="quarter" idx="13"/>
          </p:nvPr>
        </p:nvSpPr>
        <p:spPr>
          <a:xfrm>
            <a:off x="5995988" y="1634401"/>
            <a:ext cx="4562475" cy="3415438"/>
          </a:xfrm>
        </p:spPr>
        <p:txBody>
          <a:bodyPr/>
          <a:lstStyle>
            <a:lvl1pPr>
              <a:defRPr/>
            </a:lvl1pPr>
          </a:lstStyle>
          <a:p>
            <a:endParaRPr lang="en-GB" dirty="0"/>
          </a:p>
        </p:txBody>
      </p:sp>
      <p:sp>
        <p:nvSpPr>
          <p:cNvPr id="11" name="Tijdelijke aanduiding voor tekst 10"/>
          <p:cNvSpPr>
            <a:spLocks noGrp="1"/>
          </p:cNvSpPr>
          <p:nvPr>
            <p:ph type="body" sz="quarter" idx="14"/>
          </p:nvPr>
        </p:nvSpPr>
        <p:spPr>
          <a:xfrm>
            <a:off x="5995988" y="5139228"/>
            <a:ext cx="4562475" cy="564660"/>
          </a:xfrm>
        </p:spPr>
        <p:txBody>
          <a:bodyPr/>
          <a:lstStyle>
            <a:lvl1pPr>
              <a:defRPr sz="1300" b="0"/>
            </a:lvl1pPr>
          </a:lstStyle>
          <a:p>
            <a:pPr lvl="0"/>
            <a:endParaRPr lang="en-GB" dirty="0"/>
          </a:p>
        </p:txBody>
      </p:sp>
      <p:sp>
        <p:nvSpPr>
          <p:cNvPr id="2" name="Tijdelijke aanduiding voor voettekst 1">
            <a:extLst>
              <a:ext uri="{FF2B5EF4-FFF2-40B4-BE49-F238E27FC236}">
                <a16:creationId xmlns:a16="http://schemas.microsoft.com/office/drawing/2014/main" id="{F598F113-8059-6043-A183-1E62FD9519EC}"/>
              </a:ext>
            </a:extLst>
          </p:cNvPr>
          <p:cNvSpPr>
            <a:spLocks noGrp="1"/>
          </p:cNvSpPr>
          <p:nvPr>
            <p:ph type="ftr" sz="quarter" idx="15"/>
          </p:nvPr>
        </p:nvSpPr>
        <p:spPr/>
        <p:txBody>
          <a:bodyPr/>
          <a:lstStyle/>
          <a:p>
            <a:r>
              <a:rPr lang="nl-NL"/>
              <a:t>[Faculteit en/of opleiding max. 2 regels]</a:t>
            </a:r>
            <a:endParaRPr lang="nl-N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 photos">
    <p:spTree>
      <p:nvGrpSpPr>
        <p:cNvPr id="1" name=""/>
        <p:cNvGrpSpPr/>
        <p:nvPr/>
      </p:nvGrpSpPr>
      <p:grpSpPr>
        <a:xfrm>
          <a:off x="0" y="0"/>
          <a:ext cx="0" cy="0"/>
          <a:chOff x="0" y="0"/>
          <a:chExt cx="0" cy="0"/>
        </a:xfrm>
      </p:grpSpPr>
      <p:sp>
        <p:nvSpPr>
          <p:cNvPr id="9" name="Tijdelijke aanduiding voor afbeelding 8"/>
          <p:cNvSpPr>
            <a:spLocks noGrp="1"/>
          </p:cNvSpPr>
          <p:nvPr>
            <p:ph type="pic" sz="quarter" idx="13"/>
          </p:nvPr>
        </p:nvSpPr>
        <p:spPr>
          <a:xfrm>
            <a:off x="5995988" y="1632288"/>
            <a:ext cx="4562475" cy="3417549"/>
          </a:xfrm>
        </p:spPr>
        <p:txBody>
          <a:bodyPr/>
          <a:lstStyle/>
          <a:p>
            <a:endParaRPr lang="en-GB" dirty="0"/>
          </a:p>
        </p:txBody>
      </p:sp>
      <p:sp>
        <p:nvSpPr>
          <p:cNvPr id="7" name="Tijdelijke aanduiding voor afbeelding 8"/>
          <p:cNvSpPr>
            <a:spLocks noGrp="1"/>
          </p:cNvSpPr>
          <p:nvPr>
            <p:ph type="pic" sz="quarter" idx="14"/>
          </p:nvPr>
        </p:nvSpPr>
        <p:spPr>
          <a:xfrm>
            <a:off x="1173163" y="1632289"/>
            <a:ext cx="4564063" cy="3417550"/>
          </a:xfrm>
        </p:spPr>
        <p:txBody>
          <a:bodyPr/>
          <a:lstStyle/>
          <a:p>
            <a:endParaRPr lang="en-GB" dirty="0"/>
          </a:p>
        </p:txBody>
      </p:sp>
      <p:sp>
        <p:nvSpPr>
          <p:cNvPr id="8" name="Tijdelijke aanduiding voor tekst 10"/>
          <p:cNvSpPr>
            <a:spLocks noGrp="1"/>
          </p:cNvSpPr>
          <p:nvPr>
            <p:ph type="body" sz="quarter" idx="15"/>
          </p:nvPr>
        </p:nvSpPr>
        <p:spPr>
          <a:xfrm>
            <a:off x="5995988" y="5140800"/>
            <a:ext cx="4562475" cy="565200"/>
          </a:xfrm>
        </p:spPr>
        <p:txBody>
          <a:bodyPr/>
          <a:lstStyle>
            <a:lvl1pPr>
              <a:defRPr sz="1300" b="0"/>
            </a:lvl1pPr>
          </a:lstStyle>
          <a:p>
            <a:pPr lvl="0"/>
            <a:endParaRPr lang="en-GB" dirty="0"/>
          </a:p>
        </p:txBody>
      </p:sp>
      <p:sp>
        <p:nvSpPr>
          <p:cNvPr id="10" name="Tijdelijke aanduiding voor tekst 10"/>
          <p:cNvSpPr>
            <a:spLocks noGrp="1"/>
          </p:cNvSpPr>
          <p:nvPr>
            <p:ph type="body" sz="quarter" idx="16"/>
          </p:nvPr>
        </p:nvSpPr>
        <p:spPr>
          <a:xfrm>
            <a:off x="1173163" y="5138688"/>
            <a:ext cx="4564062" cy="565200"/>
          </a:xfrm>
        </p:spPr>
        <p:txBody>
          <a:bodyPr/>
          <a:lstStyle>
            <a:lvl1pPr>
              <a:defRPr sz="1300" b="0"/>
            </a:lvl1pPr>
          </a:lstStyle>
          <a:p>
            <a:pPr lvl="0"/>
            <a:endParaRPr lang="en-GB" dirty="0"/>
          </a:p>
        </p:txBody>
      </p:sp>
      <p:sp>
        <p:nvSpPr>
          <p:cNvPr id="2" name="Tijdelijke aanduiding voor voettekst 1">
            <a:extLst>
              <a:ext uri="{FF2B5EF4-FFF2-40B4-BE49-F238E27FC236}">
                <a16:creationId xmlns:a16="http://schemas.microsoft.com/office/drawing/2014/main" id="{4ABB81A9-12A0-6849-9857-AE94FF0373E6}"/>
              </a:ext>
            </a:extLst>
          </p:cNvPr>
          <p:cNvSpPr>
            <a:spLocks noGrp="1"/>
          </p:cNvSpPr>
          <p:nvPr>
            <p:ph type="ftr" sz="quarter" idx="17"/>
          </p:nvPr>
        </p:nvSpPr>
        <p:spPr/>
        <p:txBody>
          <a:bodyPr/>
          <a:lstStyle/>
          <a:p>
            <a:r>
              <a:rPr lang="nl-NL"/>
              <a:t>[Faculteit en/of opleiding max. 2 regels]</a:t>
            </a:r>
            <a:endParaRPr lang="nl-NL"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large">
    <p:spTree>
      <p:nvGrpSpPr>
        <p:cNvPr id="1" name=""/>
        <p:cNvGrpSpPr/>
        <p:nvPr/>
      </p:nvGrpSpPr>
      <p:grpSpPr>
        <a:xfrm>
          <a:off x="0" y="0"/>
          <a:ext cx="0" cy="0"/>
          <a:chOff x="0" y="0"/>
          <a:chExt cx="0" cy="0"/>
        </a:xfrm>
      </p:grpSpPr>
      <p:sp>
        <p:nvSpPr>
          <p:cNvPr id="6" name="Tijdelijke aanduiding voor afbeelding 5"/>
          <p:cNvSpPr>
            <a:spLocks noGrp="1"/>
          </p:cNvSpPr>
          <p:nvPr>
            <p:ph type="pic" sz="quarter" idx="13"/>
          </p:nvPr>
        </p:nvSpPr>
        <p:spPr>
          <a:xfrm>
            <a:off x="0" y="1196752"/>
            <a:ext cx="12196800" cy="5662686"/>
          </a:xfrm>
        </p:spPr>
        <p:txBody>
          <a:bodyPr/>
          <a:lstStyle/>
          <a:p>
            <a:endParaRPr lang="en-GB"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914638" y="2130426"/>
            <a:ext cx="10365899" cy="1470025"/>
          </a:xfrm>
        </p:spPr>
        <p:txBody>
          <a:bodyPr/>
          <a:lstStyle/>
          <a:p>
            <a:r>
              <a:rPr lang="nl-NL"/>
              <a:t>Klik om de stijl te bewerken</a:t>
            </a:r>
          </a:p>
        </p:txBody>
      </p:sp>
      <p:sp>
        <p:nvSpPr>
          <p:cNvPr id="3" name="Ondertitel 2"/>
          <p:cNvSpPr>
            <a:spLocks noGrp="1"/>
          </p:cNvSpPr>
          <p:nvPr>
            <p:ph type="subTitle" idx="1"/>
          </p:nvPr>
        </p:nvSpPr>
        <p:spPr>
          <a:xfrm>
            <a:off x="1829276" y="3886200"/>
            <a:ext cx="8536623"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om de ondertitelstijl van het model te bewerken</a:t>
            </a:r>
          </a:p>
        </p:txBody>
      </p:sp>
      <p:sp>
        <p:nvSpPr>
          <p:cNvPr id="4" name="Tijdelijke aanduiding voor datum 3"/>
          <p:cNvSpPr>
            <a:spLocks noGrp="1"/>
          </p:cNvSpPr>
          <p:nvPr>
            <p:ph type="dt" sz="half" idx="10"/>
          </p:nvPr>
        </p:nvSpPr>
        <p:spPr/>
        <p:txBody>
          <a:bodyPr/>
          <a:lstStyle/>
          <a:p>
            <a:fld id="{A18BEC53-7DDA-4329-924A-431C8DC59982}" type="datetimeFigureOut">
              <a:rPr lang="nl-NL" smtClean="0"/>
              <a:t>16-9-2025</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B182E3B6-54BA-43B4-B437-F5C614B0D59B}" type="slidenum">
              <a:rPr lang="nl-NL" smtClean="0"/>
              <a:t>‹nr.›</a:t>
            </a:fld>
            <a:endParaRPr lang="nl-NL"/>
          </a:p>
        </p:txBody>
      </p:sp>
    </p:spTree>
    <p:extLst>
      <p:ext uri="{BB962C8B-B14F-4D97-AF65-F5344CB8AC3E}">
        <p14:creationId xmlns:p14="http://schemas.microsoft.com/office/powerpoint/2010/main" val="968493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basisbeeld">
    <p:bg bwMode="gray">
      <p:bgRef idx="1001">
        <a:schemeClr val="bg1"/>
      </p:bgRef>
    </p:bg>
    <p:spTree>
      <p:nvGrpSpPr>
        <p:cNvPr id="1" name=""/>
        <p:cNvGrpSpPr/>
        <p:nvPr/>
      </p:nvGrpSpPr>
      <p:grpSpPr>
        <a:xfrm>
          <a:off x="0" y="0"/>
          <a:ext cx="0" cy="0"/>
          <a:chOff x="0" y="0"/>
          <a:chExt cx="0" cy="0"/>
        </a:xfrm>
      </p:grpSpPr>
      <p:sp>
        <p:nvSpPr>
          <p:cNvPr id="76" name="Rechthoek 75">
            <a:extLst>
              <a:ext uri="{FF2B5EF4-FFF2-40B4-BE49-F238E27FC236}">
                <a16:creationId xmlns:a16="http://schemas.microsoft.com/office/drawing/2014/main" id="{758C37AB-AC0B-7346-B19E-E97A0249779D}"/>
              </a:ext>
            </a:extLst>
          </p:cNvPr>
          <p:cNvSpPr/>
          <p:nvPr userDrawn="1"/>
        </p:nvSpPr>
        <p:spPr>
          <a:xfrm>
            <a:off x="8261221" y="1121935"/>
            <a:ext cx="3930561" cy="5043370"/>
          </a:xfrm>
          <a:prstGeom prst="rect">
            <a:avLst/>
          </a:prstGeom>
          <a:solidFill>
            <a:srgbClr val="FFC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Open Sans Regular" panose="020B0606030504020204" pitchFamily="34" charset="0"/>
            </a:endParaRPr>
          </a:p>
        </p:txBody>
      </p:sp>
      <p:sp>
        <p:nvSpPr>
          <p:cNvPr id="2" name="Titel 1"/>
          <p:cNvSpPr>
            <a:spLocks noGrp="1"/>
          </p:cNvSpPr>
          <p:nvPr>
            <p:ph type="ctrTitle"/>
          </p:nvPr>
        </p:nvSpPr>
        <p:spPr>
          <a:xfrm>
            <a:off x="8621261" y="2522020"/>
            <a:ext cx="3096344" cy="2448272"/>
          </a:xfrm>
          <a:prstGeom prst="rect">
            <a:avLst/>
          </a:prstGeom>
        </p:spPr>
        <p:txBody>
          <a:bodyPr anchor="t" anchorCtr="0"/>
          <a:lstStyle>
            <a:lvl1pPr algn="l">
              <a:defRPr sz="4200" b="0" i="0">
                <a:latin typeface="Open Sans Light" panose="020B0306030504020204" pitchFamily="34" charset="0"/>
                <a:ea typeface="Open Sans Light" panose="020B0306030504020204" pitchFamily="34" charset="0"/>
                <a:cs typeface="Open Sans Light" panose="020B0306030504020204" pitchFamily="34" charset="0"/>
              </a:defRPr>
            </a:lvl1pPr>
          </a:lstStyle>
          <a:p>
            <a:endParaRPr lang="en-GB" dirty="0"/>
          </a:p>
        </p:txBody>
      </p:sp>
      <p:sp>
        <p:nvSpPr>
          <p:cNvPr id="77" name="Rechthoek 76">
            <a:extLst>
              <a:ext uri="{FF2B5EF4-FFF2-40B4-BE49-F238E27FC236}">
                <a16:creationId xmlns:a16="http://schemas.microsoft.com/office/drawing/2014/main" id="{FD4FB8DB-31F5-4645-A828-3DD4D37FB707}"/>
              </a:ext>
            </a:extLst>
          </p:cNvPr>
          <p:cNvSpPr/>
          <p:nvPr userDrawn="1"/>
        </p:nvSpPr>
        <p:spPr>
          <a:xfrm>
            <a:off x="-3393" y="2234"/>
            <a:ext cx="12198568" cy="11945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Open Sans Regular" panose="020B0606030504020204" pitchFamily="34" charset="0"/>
            </a:endParaRPr>
          </a:p>
        </p:txBody>
      </p:sp>
      <p:sp>
        <p:nvSpPr>
          <p:cNvPr id="17" name="Rechthoek 16">
            <a:extLst>
              <a:ext uri="{FF2B5EF4-FFF2-40B4-BE49-F238E27FC236}">
                <a16:creationId xmlns:a16="http://schemas.microsoft.com/office/drawing/2014/main" id="{74E964C8-3CA5-B54D-984E-308E0E51E2AD}"/>
              </a:ext>
            </a:extLst>
          </p:cNvPr>
          <p:cNvSpPr/>
          <p:nvPr userDrawn="1"/>
        </p:nvSpPr>
        <p:spPr>
          <a:xfrm>
            <a:off x="8261221" y="-4819"/>
            <a:ext cx="3937347" cy="1201570"/>
          </a:xfrm>
          <a:prstGeom prst="rect">
            <a:avLst/>
          </a:prstGeom>
          <a:solidFill>
            <a:srgbClr val="FFC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Open Sans Regular" panose="020B0606030504020204" pitchFamily="34" charset="0"/>
            </a:endParaRPr>
          </a:p>
        </p:txBody>
      </p:sp>
      <p:sp>
        <p:nvSpPr>
          <p:cNvPr id="18" name="Rechthoek 17">
            <a:extLst>
              <a:ext uri="{FF2B5EF4-FFF2-40B4-BE49-F238E27FC236}">
                <a16:creationId xmlns:a16="http://schemas.microsoft.com/office/drawing/2014/main" id="{D03340C3-45CD-4343-9BAD-8F8743FBFED9}"/>
              </a:ext>
            </a:extLst>
          </p:cNvPr>
          <p:cNvSpPr/>
          <p:nvPr userDrawn="1"/>
        </p:nvSpPr>
        <p:spPr>
          <a:xfrm>
            <a:off x="8261221" y="6165304"/>
            <a:ext cx="3930560" cy="69269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Open Sans Regular" panose="020B0606030504020204" pitchFamily="34" charset="0"/>
            </a:endParaRPr>
          </a:p>
        </p:txBody>
      </p:sp>
      <p:pic>
        <p:nvPicPr>
          <p:cNvPr id="19" name="Afbeelding 18">
            <a:extLst>
              <a:ext uri="{FF2B5EF4-FFF2-40B4-BE49-F238E27FC236}">
                <a16:creationId xmlns:a16="http://schemas.microsoft.com/office/drawing/2014/main" id="{7F2D3C96-BE80-1F45-9BF5-BAE2549834EB}"/>
              </a:ext>
            </a:extLst>
          </p:cNvPr>
          <p:cNvPicPr>
            <a:picLocks noChangeAspect="1"/>
          </p:cNvPicPr>
          <p:nvPr userDrawn="1"/>
        </p:nvPicPr>
        <p:blipFill>
          <a:blip r:embed="rId2"/>
          <a:stretch>
            <a:fillRect/>
          </a:stretch>
        </p:blipFill>
        <p:spPr>
          <a:xfrm>
            <a:off x="8473851" y="6198151"/>
            <a:ext cx="2950173" cy="615225"/>
          </a:xfrm>
          <a:prstGeom prst="rect">
            <a:avLst/>
          </a:prstGeom>
        </p:spPr>
      </p:pic>
      <p:pic>
        <p:nvPicPr>
          <p:cNvPr id="13" name="Afbeelding 12">
            <a:extLst>
              <a:ext uri="{FF2B5EF4-FFF2-40B4-BE49-F238E27FC236}">
                <a16:creationId xmlns:a16="http://schemas.microsoft.com/office/drawing/2014/main" id="{F328E016-F033-BC46-BE4E-2E0CCDE6B07B}"/>
              </a:ext>
            </a:extLst>
          </p:cNvPr>
          <p:cNvPicPr>
            <a:picLocks noChangeAspect="1"/>
          </p:cNvPicPr>
          <p:nvPr userDrawn="1"/>
        </p:nvPicPr>
        <p:blipFill>
          <a:blip r:embed="rId3"/>
          <a:stretch>
            <a:fillRect/>
          </a:stretch>
        </p:blipFill>
        <p:spPr>
          <a:xfrm>
            <a:off x="-3393" y="4671"/>
            <a:ext cx="3031828" cy="1192081"/>
          </a:xfrm>
          <a:prstGeom prst="rect">
            <a:avLst/>
          </a:prstGeom>
        </p:spPr>
      </p:pic>
    </p:spTree>
    <p:extLst>
      <p:ext uri="{BB962C8B-B14F-4D97-AF65-F5344CB8AC3E}">
        <p14:creationId xmlns:p14="http://schemas.microsoft.com/office/powerpoint/2010/main" val="3679336923"/>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9AE85-F2D3-4DA4-850B-891449744201}"/>
              </a:ext>
            </a:extLst>
          </p:cNvPr>
          <p:cNvSpPr>
            <a:spLocks noGrp="1"/>
          </p:cNvSpPr>
          <p:nvPr>
            <p:ph type="title"/>
          </p:nvPr>
        </p:nvSpPr>
        <p:spPr>
          <a:xfrm>
            <a:off x="1173163" y="1560015"/>
            <a:ext cx="9964983" cy="572841"/>
          </a:xfrm>
          <a:prstGeom prst="rect">
            <a:avLst/>
          </a:prstGeom>
        </p:spPr>
        <p:txBody>
          <a:bodyPr/>
          <a:lstStyle/>
          <a:p>
            <a:r>
              <a:rPr lang="en-US"/>
              <a:t>Click to edit Master title style</a:t>
            </a:r>
            <a:endParaRPr lang="nl-NL"/>
          </a:p>
        </p:txBody>
      </p:sp>
      <p:sp>
        <p:nvSpPr>
          <p:cNvPr id="3" name="Footer Placeholder 2">
            <a:extLst>
              <a:ext uri="{FF2B5EF4-FFF2-40B4-BE49-F238E27FC236}">
                <a16:creationId xmlns:a16="http://schemas.microsoft.com/office/drawing/2014/main" id="{B71ECE2D-5C36-49A4-9F54-6238603A6DC6}"/>
              </a:ext>
            </a:extLst>
          </p:cNvPr>
          <p:cNvSpPr>
            <a:spLocks noGrp="1"/>
          </p:cNvSpPr>
          <p:nvPr>
            <p:ph type="ftr" sz="quarter" idx="10"/>
          </p:nvPr>
        </p:nvSpPr>
        <p:spPr>
          <a:xfrm>
            <a:off x="3782987" y="432000"/>
            <a:ext cx="4114800" cy="365125"/>
          </a:xfrm>
          <a:prstGeom prst="rect">
            <a:avLst/>
          </a:prstGeom>
        </p:spPr>
        <p:txBody>
          <a:bodyPr/>
          <a:lstStyle/>
          <a:p>
            <a:r>
              <a:rPr lang="nl-NL"/>
              <a:t>Bachelor Onderwijswetenschappen, Universiteit Utrecht</a:t>
            </a:r>
            <a:endParaRPr lang="nl-NL" dirty="0"/>
          </a:p>
        </p:txBody>
      </p:sp>
    </p:spTree>
    <p:extLst>
      <p:ext uri="{BB962C8B-B14F-4D97-AF65-F5344CB8AC3E}">
        <p14:creationId xmlns:p14="http://schemas.microsoft.com/office/powerpoint/2010/main" val="2112396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object">
    <p:spTree>
      <p:nvGrpSpPr>
        <p:cNvPr id="1" name=""/>
        <p:cNvGrpSpPr/>
        <p:nvPr/>
      </p:nvGrpSpPr>
      <p:grpSpPr>
        <a:xfrm>
          <a:off x="0" y="0"/>
          <a:ext cx="0" cy="0"/>
          <a:chOff x="0" y="0"/>
          <a:chExt cx="0" cy="0"/>
        </a:xfrm>
      </p:grpSpPr>
      <p:sp>
        <p:nvSpPr>
          <p:cNvPr id="2" name="Titel 1"/>
          <p:cNvSpPr>
            <a:spLocks noGrp="1"/>
          </p:cNvSpPr>
          <p:nvPr>
            <p:ph type="title"/>
          </p:nvPr>
        </p:nvSpPr>
        <p:spPr>
          <a:xfrm>
            <a:off x="1173163" y="1560015"/>
            <a:ext cx="9964983" cy="572841"/>
          </a:xfrm>
          <a:prstGeom prst="rect">
            <a:avLst/>
          </a:prstGeom>
        </p:spPr>
        <p:txBody>
          <a:bodyPr/>
          <a:lstStyle>
            <a:lvl1pPr>
              <a:defRPr/>
            </a:lvl1pPr>
          </a:lstStyle>
          <a:p>
            <a:endParaRPr lang="nl-NL" noProof="0" dirty="0"/>
          </a:p>
        </p:txBody>
      </p:sp>
      <p:sp>
        <p:nvSpPr>
          <p:cNvPr id="9" name="Tijdelijke aanduiding voor voettekst 8">
            <a:extLst>
              <a:ext uri="{FF2B5EF4-FFF2-40B4-BE49-F238E27FC236}">
                <a16:creationId xmlns:a16="http://schemas.microsoft.com/office/drawing/2014/main" id="{F86B395A-9A82-1F41-A279-70039F3AFFEC}"/>
              </a:ext>
            </a:extLst>
          </p:cNvPr>
          <p:cNvSpPr>
            <a:spLocks noGrp="1"/>
          </p:cNvSpPr>
          <p:nvPr>
            <p:ph type="ftr" sz="quarter" idx="10"/>
          </p:nvPr>
        </p:nvSpPr>
        <p:spPr>
          <a:xfrm>
            <a:off x="3782987" y="432000"/>
            <a:ext cx="4114800" cy="365125"/>
          </a:xfrm>
          <a:prstGeom prst="rect">
            <a:avLst/>
          </a:prstGeom>
        </p:spPr>
        <p:txBody>
          <a:bodyPr/>
          <a:lstStyle>
            <a:lvl1pPr>
              <a:defRPr/>
            </a:lvl1pPr>
          </a:lstStyle>
          <a:p>
            <a:r>
              <a:rPr lang="nl-NL" dirty="0"/>
              <a:t>Bachelor Onderwijswetenschappen, Universiteit Utrecht</a:t>
            </a:r>
          </a:p>
        </p:txBody>
      </p:sp>
      <p:sp>
        <p:nvSpPr>
          <p:cNvPr id="4" name="TextBox 3">
            <a:extLst>
              <a:ext uri="{FF2B5EF4-FFF2-40B4-BE49-F238E27FC236}">
                <a16:creationId xmlns:a16="http://schemas.microsoft.com/office/drawing/2014/main" id="{6F1121F7-BEF1-42B2-A3D8-D3135143EB37}"/>
              </a:ext>
            </a:extLst>
          </p:cNvPr>
          <p:cNvSpPr txBox="1"/>
          <p:nvPr userDrawn="1"/>
        </p:nvSpPr>
        <p:spPr>
          <a:xfrm>
            <a:off x="1173163" y="2348880"/>
            <a:ext cx="9964983" cy="276999"/>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dirty="0">
                <a:latin typeface="Gill Sans MT" panose="020B0502020104020203" pitchFamily="34" charset="0"/>
              </a:rPr>
              <a:t>….</a:t>
            </a:r>
            <a:endParaRPr lang="nl-NL" dirty="0">
              <a:latin typeface="Gill Sans MT" panose="020B0502020104020203" pitchFamily="34" charset="0"/>
            </a:endParaRPr>
          </a:p>
        </p:txBody>
      </p:sp>
    </p:spTree>
    <p:extLst>
      <p:ext uri="{BB962C8B-B14F-4D97-AF65-F5344CB8AC3E}">
        <p14:creationId xmlns:p14="http://schemas.microsoft.com/office/powerpoint/2010/main" val="296829957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numeration">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1173164" y="1628800"/>
            <a:ext cx="7264400" cy="4075088"/>
          </a:xfrm>
          <a:prstGeom prst="rect">
            <a:avLst/>
          </a:prstGeom>
        </p:spPr>
        <p:txBody>
          <a:bodyPr/>
          <a:lstStyle>
            <a:lvl1pPr marL="0" indent="0">
              <a:lnSpc>
                <a:spcPct val="110000"/>
              </a:lnSpc>
              <a:buFont typeface="Verdana" pitchFamily="34" charset="0"/>
              <a:buNone/>
              <a:defRPr/>
            </a:lvl1pPr>
            <a:lvl2pPr marL="270000" indent="-270000">
              <a:lnSpc>
                <a:spcPct val="110000"/>
              </a:lnSpc>
              <a:spcBef>
                <a:spcPts val="2100"/>
              </a:spcBef>
              <a:buFont typeface="Verdana" pitchFamily="34" charset="0"/>
              <a:buChar char="•"/>
              <a:defRPr/>
            </a:lvl2pPr>
            <a:lvl3pPr marL="540000">
              <a:lnSpc>
                <a:spcPct val="110000"/>
              </a:lnSpc>
              <a:defRPr/>
            </a:lvl3pPr>
            <a:lvl4pPr marL="810000">
              <a:lnSpc>
                <a:spcPct val="110000"/>
              </a:lnSpc>
              <a:defRPr/>
            </a:lvl4pPr>
            <a:lvl5pPr marL="1080000">
              <a:lnSpc>
                <a:spcPct val="110000"/>
              </a:lnSpc>
              <a:defRPr/>
            </a:lvl5pPr>
          </a:lstStyle>
          <a:p>
            <a:pPr lvl="0"/>
            <a:endParaRPr lang="en-GB" dirty="0"/>
          </a:p>
        </p:txBody>
      </p:sp>
      <p:sp>
        <p:nvSpPr>
          <p:cNvPr id="2" name="Tijdelijke aanduiding voor voettekst 1">
            <a:extLst>
              <a:ext uri="{FF2B5EF4-FFF2-40B4-BE49-F238E27FC236}">
                <a16:creationId xmlns:a16="http://schemas.microsoft.com/office/drawing/2014/main" id="{5CEA5EA0-35B7-2F45-BFC7-A183CE37222D}"/>
              </a:ext>
            </a:extLst>
          </p:cNvPr>
          <p:cNvSpPr>
            <a:spLocks noGrp="1"/>
          </p:cNvSpPr>
          <p:nvPr>
            <p:ph type="ftr" sz="quarter" idx="10"/>
          </p:nvPr>
        </p:nvSpPr>
        <p:spPr>
          <a:xfrm>
            <a:off x="3782987" y="432000"/>
            <a:ext cx="4114800" cy="365125"/>
          </a:xfrm>
          <a:prstGeom prst="rect">
            <a:avLst/>
          </a:prstGeom>
        </p:spPr>
        <p:txBody>
          <a:bodyPr/>
          <a:lstStyle/>
          <a:p>
            <a:r>
              <a:rPr lang="nl-NL"/>
              <a:t>[Faculteit en/of opleiding max. 2 regels]</a:t>
            </a:r>
            <a:endParaRPr lang="nl-NL" dirty="0"/>
          </a:p>
        </p:txBody>
      </p:sp>
    </p:spTree>
    <p:extLst>
      <p:ext uri="{BB962C8B-B14F-4D97-AF65-F5344CB8AC3E}">
        <p14:creationId xmlns:p14="http://schemas.microsoft.com/office/powerpoint/2010/main" val="39415531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left, photo right">
    <p:spTree>
      <p:nvGrpSpPr>
        <p:cNvPr id="1" name=""/>
        <p:cNvGrpSpPr/>
        <p:nvPr/>
      </p:nvGrpSpPr>
      <p:grpSpPr>
        <a:xfrm>
          <a:off x="0" y="0"/>
          <a:ext cx="0" cy="0"/>
          <a:chOff x="0" y="0"/>
          <a:chExt cx="0" cy="0"/>
        </a:xfrm>
      </p:grpSpPr>
      <p:sp>
        <p:nvSpPr>
          <p:cNvPr id="3" name="Tijdelijke aanduiding voor inhoud 2"/>
          <p:cNvSpPr>
            <a:spLocks noGrp="1"/>
          </p:cNvSpPr>
          <p:nvPr>
            <p:ph idx="1"/>
          </p:nvPr>
        </p:nvSpPr>
        <p:spPr>
          <a:xfrm>
            <a:off x="1173164" y="1634400"/>
            <a:ext cx="4564061" cy="4069488"/>
          </a:xfrm>
          <a:prstGeom prst="rect">
            <a:avLst/>
          </a:prstGeom>
        </p:spPr>
        <p:txBody>
          <a:bodyPr/>
          <a:lstStyle/>
          <a:p>
            <a:pPr lvl="0"/>
            <a:endParaRPr lang="en-GB" dirty="0"/>
          </a:p>
        </p:txBody>
      </p:sp>
      <p:sp>
        <p:nvSpPr>
          <p:cNvPr id="9" name="Tijdelijke aanduiding voor afbeelding 8"/>
          <p:cNvSpPr>
            <a:spLocks noGrp="1"/>
          </p:cNvSpPr>
          <p:nvPr>
            <p:ph type="pic" sz="quarter" idx="13"/>
          </p:nvPr>
        </p:nvSpPr>
        <p:spPr>
          <a:xfrm>
            <a:off x="5995988" y="1634401"/>
            <a:ext cx="4562475" cy="3415438"/>
          </a:xfrm>
          <a:prstGeom prst="rect">
            <a:avLst/>
          </a:prstGeom>
        </p:spPr>
        <p:txBody>
          <a:bodyPr/>
          <a:lstStyle>
            <a:lvl1pPr>
              <a:defRPr/>
            </a:lvl1pPr>
          </a:lstStyle>
          <a:p>
            <a:endParaRPr lang="en-GB" dirty="0"/>
          </a:p>
        </p:txBody>
      </p:sp>
      <p:sp>
        <p:nvSpPr>
          <p:cNvPr id="11" name="Tijdelijke aanduiding voor tekst 10"/>
          <p:cNvSpPr>
            <a:spLocks noGrp="1"/>
          </p:cNvSpPr>
          <p:nvPr>
            <p:ph type="body" sz="quarter" idx="14"/>
          </p:nvPr>
        </p:nvSpPr>
        <p:spPr>
          <a:xfrm>
            <a:off x="5995988" y="5139228"/>
            <a:ext cx="4562475" cy="564660"/>
          </a:xfrm>
          <a:prstGeom prst="rect">
            <a:avLst/>
          </a:prstGeom>
        </p:spPr>
        <p:txBody>
          <a:bodyPr/>
          <a:lstStyle>
            <a:lvl1pPr>
              <a:defRPr sz="1300" b="0"/>
            </a:lvl1pPr>
          </a:lstStyle>
          <a:p>
            <a:pPr lvl="0"/>
            <a:endParaRPr lang="en-GB" dirty="0"/>
          </a:p>
        </p:txBody>
      </p:sp>
      <p:sp>
        <p:nvSpPr>
          <p:cNvPr id="2" name="Tijdelijke aanduiding voor voettekst 1">
            <a:extLst>
              <a:ext uri="{FF2B5EF4-FFF2-40B4-BE49-F238E27FC236}">
                <a16:creationId xmlns:a16="http://schemas.microsoft.com/office/drawing/2014/main" id="{F598F113-8059-6043-A183-1E62FD9519EC}"/>
              </a:ext>
            </a:extLst>
          </p:cNvPr>
          <p:cNvSpPr>
            <a:spLocks noGrp="1"/>
          </p:cNvSpPr>
          <p:nvPr>
            <p:ph type="ftr" sz="quarter" idx="15"/>
          </p:nvPr>
        </p:nvSpPr>
        <p:spPr>
          <a:xfrm>
            <a:off x="3782987" y="432000"/>
            <a:ext cx="4114800" cy="365125"/>
          </a:xfrm>
          <a:prstGeom prst="rect">
            <a:avLst/>
          </a:prstGeom>
        </p:spPr>
        <p:txBody>
          <a:bodyPr/>
          <a:lstStyle/>
          <a:p>
            <a:r>
              <a:rPr lang="nl-NL"/>
              <a:t>[Faculteit en/of opleiding max. 2 regels]</a:t>
            </a:r>
            <a:endParaRPr lang="nl-NL" dirty="0"/>
          </a:p>
        </p:txBody>
      </p:sp>
    </p:spTree>
    <p:extLst>
      <p:ext uri="{BB962C8B-B14F-4D97-AF65-F5344CB8AC3E}">
        <p14:creationId xmlns:p14="http://schemas.microsoft.com/office/powerpoint/2010/main" val="35348665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photos">
    <p:spTree>
      <p:nvGrpSpPr>
        <p:cNvPr id="1" name=""/>
        <p:cNvGrpSpPr/>
        <p:nvPr/>
      </p:nvGrpSpPr>
      <p:grpSpPr>
        <a:xfrm>
          <a:off x="0" y="0"/>
          <a:ext cx="0" cy="0"/>
          <a:chOff x="0" y="0"/>
          <a:chExt cx="0" cy="0"/>
        </a:xfrm>
      </p:grpSpPr>
      <p:sp>
        <p:nvSpPr>
          <p:cNvPr id="9" name="Tijdelijke aanduiding voor afbeelding 8"/>
          <p:cNvSpPr>
            <a:spLocks noGrp="1"/>
          </p:cNvSpPr>
          <p:nvPr>
            <p:ph type="pic" sz="quarter" idx="13"/>
          </p:nvPr>
        </p:nvSpPr>
        <p:spPr>
          <a:xfrm>
            <a:off x="5995988" y="1632288"/>
            <a:ext cx="4562475" cy="3417549"/>
          </a:xfrm>
          <a:prstGeom prst="rect">
            <a:avLst/>
          </a:prstGeom>
        </p:spPr>
        <p:txBody>
          <a:bodyPr/>
          <a:lstStyle/>
          <a:p>
            <a:endParaRPr lang="en-GB" dirty="0"/>
          </a:p>
        </p:txBody>
      </p:sp>
      <p:sp>
        <p:nvSpPr>
          <p:cNvPr id="7" name="Tijdelijke aanduiding voor afbeelding 8"/>
          <p:cNvSpPr>
            <a:spLocks noGrp="1"/>
          </p:cNvSpPr>
          <p:nvPr>
            <p:ph type="pic" sz="quarter" idx="14"/>
          </p:nvPr>
        </p:nvSpPr>
        <p:spPr>
          <a:xfrm>
            <a:off x="1173163" y="1632289"/>
            <a:ext cx="4564063" cy="3417550"/>
          </a:xfrm>
          <a:prstGeom prst="rect">
            <a:avLst/>
          </a:prstGeom>
        </p:spPr>
        <p:txBody>
          <a:bodyPr/>
          <a:lstStyle/>
          <a:p>
            <a:endParaRPr lang="en-GB" dirty="0"/>
          </a:p>
        </p:txBody>
      </p:sp>
      <p:sp>
        <p:nvSpPr>
          <p:cNvPr id="8" name="Tijdelijke aanduiding voor tekst 10"/>
          <p:cNvSpPr>
            <a:spLocks noGrp="1"/>
          </p:cNvSpPr>
          <p:nvPr>
            <p:ph type="body" sz="quarter" idx="15"/>
          </p:nvPr>
        </p:nvSpPr>
        <p:spPr>
          <a:xfrm>
            <a:off x="5995988" y="5140800"/>
            <a:ext cx="4562475" cy="565200"/>
          </a:xfrm>
          <a:prstGeom prst="rect">
            <a:avLst/>
          </a:prstGeom>
        </p:spPr>
        <p:txBody>
          <a:bodyPr/>
          <a:lstStyle>
            <a:lvl1pPr>
              <a:defRPr sz="1300" b="0"/>
            </a:lvl1pPr>
          </a:lstStyle>
          <a:p>
            <a:pPr lvl="0"/>
            <a:endParaRPr lang="en-GB" dirty="0"/>
          </a:p>
        </p:txBody>
      </p:sp>
      <p:sp>
        <p:nvSpPr>
          <p:cNvPr id="10" name="Tijdelijke aanduiding voor tekst 10"/>
          <p:cNvSpPr>
            <a:spLocks noGrp="1"/>
          </p:cNvSpPr>
          <p:nvPr>
            <p:ph type="body" sz="quarter" idx="16"/>
          </p:nvPr>
        </p:nvSpPr>
        <p:spPr>
          <a:xfrm>
            <a:off x="1173163" y="5138688"/>
            <a:ext cx="4564062" cy="565200"/>
          </a:xfrm>
          <a:prstGeom prst="rect">
            <a:avLst/>
          </a:prstGeom>
        </p:spPr>
        <p:txBody>
          <a:bodyPr/>
          <a:lstStyle>
            <a:lvl1pPr>
              <a:defRPr sz="1300" b="0"/>
            </a:lvl1pPr>
          </a:lstStyle>
          <a:p>
            <a:pPr lvl="0"/>
            <a:endParaRPr lang="en-GB" dirty="0"/>
          </a:p>
        </p:txBody>
      </p:sp>
      <p:sp>
        <p:nvSpPr>
          <p:cNvPr id="2" name="Tijdelijke aanduiding voor voettekst 1">
            <a:extLst>
              <a:ext uri="{FF2B5EF4-FFF2-40B4-BE49-F238E27FC236}">
                <a16:creationId xmlns:a16="http://schemas.microsoft.com/office/drawing/2014/main" id="{4ABB81A9-12A0-6849-9857-AE94FF0373E6}"/>
              </a:ext>
            </a:extLst>
          </p:cNvPr>
          <p:cNvSpPr>
            <a:spLocks noGrp="1"/>
          </p:cNvSpPr>
          <p:nvPr>
            <p:ph type="ftr" sz="quarter" idx="17"/>
          </p:nvPr>
        </p:nvSpPr>
        <p:spPr>
          <a:xfrm>
            <a:off x="3782987" y="432000"/>
            <a:ext cx="4114800" cy="365125"/>
          </a:xfrm>
          <a:prstGeom prst="rect">
            <a:avLst/>
          </a:prstGeom>
        </p:spPr>
        <p:txBody>
          <a:bodyPr/>
          <a:lstStyle/>
          <a:p>
            <a:r>
              <a:rPr lang="nl-NL"/>
              <a:t>[Faculteit en/of opleiding max. 2 regels]</a:t>
            </a:r>
            <a:endParaRPr lang="nl-NL" dirty="0"/>
          </a:p>
        </p:txBody>
      </p:sp>
    </p:spTree>
    <p:extLst>
      <p:ext uri="{BB962C8B-B14F-4D97-AF65-F5344CB8AC3E}">
        <p14:creationId xmlns:p14="http://schemas.microsoft.com/office/powerpoint/2010/main" val="40998039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icture large">
    <p:spTree>
      <p:nvGrpSpPr>
        <p:cNvPr id="1" name=""/>
        <p:cNvGrpSpPr/>
        <p:nvPr/>
      </p:nvGrpSpPr>
      <p:grpSpPr>
        <a:xfrm>
          <a:off x="0" y="0"/>
          <a:ext cx="0" cy="0"/>
          <a:chOff x="0" y="0"/>
          <a:chExt cx="0" cy="0"/>
        </a:xfrm>
      </p:grpSpPr>
      <p:sp>
        <p:nvSpPr>
          <p:cNvPr id="6" name="Tijdelijke aanduiding voor afbeelding 5"/>
          <p:cNvSpPr>
            <a:spLocks noGrp="1"/>
          </p:cNvSpPr>
          <p:nvPr>
            <p:ph type="pic" sz="quarter" idx="13"/>
          </p:nvPr>
        </p:nvSpPr>
        <p:spPr>
          <a:xfrm>
            <a:off x="0" y="1196752"/>
            <a:ext cx="12196800" cy="5662686"/>
          </a:xfrm>
          <a:prstGeom prst="rect">
            <a:avLst/>
          </a:prstGeom>
        </p:spPr>
        <p:txBody>
          <a:bodyPr/>
          <a:lstStyle/>
          <a:p>
            <a:endParaRPr lang="en-GB" dirty="0"/>
          </a:p>
        </p:txBody>
      </p:sp>
    </p:spTree>
    <p:extLst>
      <p:ext uri="{BB962C8B-B14F-4D97-AF65-F5344CB8AC3E}">
        <p14:creationId xmlns:p14="http://schemas.microsoft.com/office/powerpoint/2010/main" val="33318792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Rechthoek 8">
            <a:extLst>
              <a:ext uri="{FF2B5EF4-FFF2-40B4-BE49-F238E27FC236}">
                <a16:creationId xmlns:a16="http://schemas.microsoft.com/office/drawing/2014/main" id="{B0E1730F-3146-4D76-B6D1-8B7E5646F672}"/>
              </a:ext>
            </a:extLst>
          </p:cNvPr>
          <p:cNvSpPr/>
          <p:nvPr userDrawn="1"/>
        </p:nvSpPr>
        <p:spPr>
          <a:xfrm>
            <a:off x="8261221" y="-4819"/>
            <a:ext cx="3937347" cy="1201570"/>
          </a:xfrm>
          <a:prstGeom prst="rect">
            <a:avLst/>
          </a:prstGeom>
          <a:solidFill>
            <a:srgbClr val="FFC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Open Sans Regular" panose="020B0606030504020204" pitchFamily="34" charset="0"/>
            </a:endParaRPr>
          </a:p>
        </p:txBody>
      </p:sp>
      <p:sp>
        <p:nvSpPr>
          <p:cNvPr id="3" name="Rectangle 2">
            <a:extLst>
              <a:ext uri="{FF2B5EF4-FFF2-40B4-BE49-F238E27FC236}">
                <a16:creationId xmlns:a16="http://schemas.microsoft.com/office/drawing/2014/main" id="{4AAEB206-47CF-90C0-13F4-D03CA75AED0D}"/>
              </a:ext>
            </a:extLst>
          </p:cNvPr>
          <p:cNvSpPr/>
          <p:nvPr userDrawn="1"/>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5465925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1"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914638" y="2130426"/>
            <a:ext cx="10365899" cy="1470025"/>
          </a:xfrm>
        </p:spPr>
        <p:txBody>
          <a:bodyPr/>
          <a:lstStyle/>
          <a:p>
            <a:r>
              <a:rPr lang="nl-NL"/>
              <a:t>Klik om de stijl te bewerken</a:t>
            </a:r>
          </a:p>
        </p:txBody>
      </p:sp>
      <p:sp>
        <p:nvSpPr>
          <p:cNvPr id="3" name="Ondertitel 2"/>
          <p:cNvSpPr>
            <a:spLocks noGrp="1"/>
          </p:cNvSpPr>
          <p:nvPr>
            <p:ph type="subTitle" idx="1"/>
          </p:nvPr>
        </p:nvSpPr>
        <p:spPr>
          <a:xfrm>
            <a:off x="1829276" y="3886200"/>
            <a:ext cx="8536623"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om de ondertitelstijl van het model te bewerken</a:t>
            </a:r>
          </a:p>
        </p:txBody>
      </p:sp>
      <p:sp>
        <p:nvSpPr>
          <p:cNvPr id="4" name="Tijdelijke aanduiding voor datum 3"/>
          <p:cNvSpPr>
            <a:spLocks noGrp="1"/>
          </p:cNvSpPr>
          <p:nvPr>
            <p:ph type="dt" sz="half" idx="10"/>
          </p:nvPr>
        </p:nvSpPr>
        <p:spPr/>
        <p:txBody>
          <a:bodyPr/>
          <a:lstStyle/>
          <a:p>
            <a:fld id="{A18BEC53-7DDA-4329-924A-431C8DC59982}" type="datetimeFigureOut">
              <a:rPr lang="nl-NL" smtClean="0"/>
              <a:t>16-9-2025</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B182E3B6-54BA-43B4-B437-F5C614B0D59B}" type="slidenum">
              <a:rPr lang="nl-NL" smtClean="0"/>
              <a:t>‹nr.›</a:t>
            </a:fld>
            <a:endParaRPr lang="nl-NL"/>
          </a:p>
        </p:txBody>
      </p:sp>
    </p:spTree>
    <p:extLst>
      <p:ext uri="{BB962C8B-B14F-4D97-AF65-F5344CB8AC3E}">
        <p14:creationId xmlns:p14="http://schemas.microsoft.com/office/powerpoint/2010/main" val="5440235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914638" y="2130426"/>
            <a:ext cx="10365899" cy="1470025"/>
          </a:xfrm>
        </p:spPr>
        <p:txBody>
          <a:bodyPr/>
          <a:lstStyle/>
          <a:p>
            <a:r>
              <a:rPr lang="nl-NL"/>
              <a:t>Klik om de stijl te bewerken</a:t>
            </a:r>
          </a:p>
        </p:txBody>
      </p:sp>
      <p:sp>
        <p:nvSpPr>
          <p:cNvPr id="3" name="Ondertitel 2"/>
          <p:cNvSpPr>
            <a:spLocks noGrp="1"/>
          </p:cNvSpPr>
          <p:nvPr>
            <p:ph type="subTitle" idx="1"/>
          </p:nvPr>
        </p:nvSpPr>
        <p:spPr>
          <a:xfrm>
            <a:off x="1829276" y="3886200"/>
            <a:ext cx="8536623"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l-NL"/>
              <a:t>Klik om de ondertitelstijl van het model te bewerken</a:t>
            </a:r>
          </a:p>
        </p:txBody>
      </p:sp>
      <p:sp>
        <p:nvSpPr>
          <p:cNvPr id="4" name="Tijdelijke aanduiding voor datum 3"/>
          <p:cNvSpPr>
            <a:spLocks noGrp="1"/>
          </p:cNvSpPr>
          <p:nvPr>
            <p:ph type="dt" sz="half" idx="10"/>
          </p:nvPr>
        </p:nvSpPr>
        <p:spPr/>
        <p:txBody>
          <a:bodyPr/>
          <a:lstStyle/>
          <a:p>
            <a:fld id="{A18BEC53-7DDA-4329-924A-431C8DC59982}" type="datetimeFigureOut">
              <a:rPr lang="nl-NL" smtClean="0"/>
              <a:t>16-9-2025</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B182E3B6-54BA-43B4-B437-F5C614B0D59B}" type="slidenum">
              <a:rPr lang="nl-NL" smtClean="0"/>
              <a:t>‹nr.›</a:t>
            </a:fld>
            <a:endParaRPr lang="nl-NL"/>
          </a:p>
        </p:txBody>
      </p:sp>
    </p:spTree>
    <p:extLst>
      <p:ext uri="{BB962C8B-B14F-4D97-AF65-F5344CB8AC3E}">
        <p14:creationId xmlns:p14="http://schemas.microsoft.com/office/powerpoint/2010/main" val="31514390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idx="1"/>
          </p:nvPr>
        </p:nvSpPr>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p>
            <a:fld id="{6FF3FA02-90B5-49F2-9A69-44848A822514}" type="datetimeFigureOut">
              <a:rPr lang="nl-NL" smtClean="0"/>
              <a:t>16-9-2025</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E216F8F1-2701-42FE-B877-984B18ECD5EC}" type="slidenum">
              <a:rPr lang="nl-NL" smtClean="0"/>
              <a:t>‹nr.›</a:t>
            </a:fld>
            <a:endParaRPr lang="nl-NL"/>
          </a:p>
        </p:txBody>
      </p:sp>
    </p:spTree>
    <p:extLst>
      <p:ext uri="{BB962C8B-B14F-4D97-AF65-F5344CB8AC3E}">
        <p14:creationId xmlns:p14="http://schemas.microsoft.com/office/powerpoint/2010/main" val="524821092"/>
      </p:ext>
    </p:extLst>
  </p:cSld>
  <p:clrMapOvr>
    <a:masterClrMapping/>
  </p:clrMapOvr>
  <p:hf sldNum="0" hd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963335" y="4406901"/>
            <a:ext cx="10365899" cy="1362075"/>
          </a:xfrm>
        </p:spPr>
        <p:txBody>
          <a:bodyPr anchor="t"/>
          <a:lstStyle>
            <a:lvl1pPr algn="l">
              <a:defRPr sz="4000" b="1" cap="all"/>
            </a:lvl1pPr>
          </a:lstStyle>
          <a:p>
            <a:r>
              <a:rPr lang="nl-NL"/>
              <a:t>Klik om de stijl te bewerken</a:t>
            </a:r>
          </a:p>
        </p:txBody>
      </p:sp>
      <p:sp>
        <p:nvSpPr>
          <p:cNvPr id="3" name="Tijdelijke aanduiding voor tekst 2"/>
          <p:cNvSpPr>
            <a:spLocks noGrp="1"/>
          </p:cNvSpPr>
          <p:nvPr>
            <p:ph type="body" idx="1"/>
          </p:nvPr>
        </p:nvSpPr>
        <p:spPr>
          <a:xfrm>
            <a:off x="963335" y="2906713"/>
            <a:ext cx="10365899"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l-NL"/>
              <a:t>Klik om de modelstijlen te bewerken</a:t>
            </a:r>
          </a:p>
        </p:txBody>
      </p:sp>
      <p:sp>
        <p:nvSpPr>
          <p:cNvPr id="4" name="Tijdelijke aanduiding voor datum 3"/>
          <p:cNvSpPr>
            <a:spLocks noGrp="1"/>
          </p:cNvSpPr>
          <p:nvPr>
            <p:ph type="dt" sz="half" idx="10"/>
          </p:nvPr>
        </p:nvSpPr>
        <p:spPr/>
        <p:txBody>
          <a:bodyPr/>
          <a:lstStyle/>
          <a:p>
            <a:fld id="{6FF3FA02-90B5-49F2-9A69-44848A822514}" type="datetimeFigureOut">
              <a:rPr lang="nl-NL" smtClean="0"/>
              <a:t>16-9-2025</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E216F8F1-2701-42FE-B877-984B18ECD5EC}" type="slidenum">
              <a:rPr lang="nl-NL" smtClean="0"/>
              <a:t>‹nr.›</a:t>
            </a:fld>
            <a:endParaRPr lang="nl-NL"/>
          </a:p>
        </p:txBody>
      </p:sp>
    </p:spTree>
    <p:extLst>
      <p:ext uri="{BB962C8B-B14F-4D97-AF65-F5344CB8AC3E}">
        <p14:creationId xmlns:p14="http://schemas.microsoft.com/office/powerpoint/2010/main" val="3609496520"/>
      </p:ext>
    </p:extLst>
  </p:cSld>
  <p:clrMapOvr>
    <a:masterClrMapping/>
  </p:clrMapOvr>
  <p:hf sldNum="0" hd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sz="half" idx="1"/>
          </p:nvPr>
        </p:nvSpPr>
        <p:spPr>
          <a:xfrm>
            <a:off x="609759" y="1600201"/>
            <a:ext cx="538620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p:cNvSpPr>
            <a:spLocks noGrp="1"/>
          </p:cNvSpPr>
          <p:nvPr>
            <p:ph sz="half" idx="2"/>
          </p:nvPr>
        </p:nvSpPr>
        <p:spPr>
          <a:xfrm>
            <a:off x="6199214" y="1600201"/>
            <a:ext cx="538620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p:cNvSpPr>
            <a:spLocks noGrp="1"/>
          </p:cNvSpPr>
          <p:nvPr>
            <p:ph type="dt" sz="half" idx="10"/>
          </p:nvPr>
        </p:nvSpPr>
        <p:spPr/>
        <p:txBody>
          <a:bodyPr/>
          <a:lstStyle/>
          <a:p>
            <a:fld id="{6FF3FA02-90B5-49F2-9A69-44848A822514}" type="datetimeFigureOut">
              <a:rPr lang="nl-NL" smtClean="0"/>
              <a:t>16-9-2025</a:t>
            </a:fld>
            <a:endParaRPr lang="nl-NL"/>
          </a:p>
        </p:txBody>
      </p:sp>
      <p:sp>
        <p:nvSpPr>
          <p:cNvPr id="6" name="Tijdelijke aanduiding voor voettekst 5"/>
          <p:cNvSpPr>
            <a:spLocks noGrp="1"/>
          </p:cNvSpPr>
          <p:nvPr>
            <p:ph type="ftr" sz="quarter" idx="11"/>
          </p:nvPr>
        </p:nvSpPr>
        <p:spPr/>
        <p:txBody>
          <a:bodyPr/>
          <a:lstStyle/>
          <a:p>
            <a:endParaRPr lang="nl-NL"/>
          </a:p>
        </p:txBody>
      </p:sp>
      <p:sp>
        <p:nvSpPr>
          <p:cNvPr id="7" name="Tijdelijke aanduiding voor dianummer 6"/>
          <p:cNvSpPr>
            <a:spLocks noGrp="1"/>
          </p:cNvSpPr>
          <p:nvPr>
            <p:ph type="sldNum" sz="quarter" idx="12"/>
          </p:nvPr>
        </p:nvSpPr>
        <p:spPr/>
        <p:txBody>
          <a:bodyPr/>
          <a:lstStyle/>
          <a:p>
            <a:fld id="{E216F8F1-2701-42FE-B877-984B18ECD5EC}" type="slidenum">
              <a:rPr lang="nl-NL" smtClean="0"/>
              <a:t>‹nr.›</a:t>
            </a:fld>
            <a:endParaRPr lang="nl-NL"/>
          </a:p>
        </p:txBody>
      </p:sp>
    </p:spTree>
    <p:extLst>
      <p:ext uri="{BB962C8B-B14F-4D97-AF65-F5344CB8AC3E}">
        <p14:creationId xmlns:p14="http://schemas.microsoft.com/office/powerpoint/2010/main" val="1598426479"/>
      </p:ext>
    </p:extLst>
  </p:cSld>
  <p:clrMapOvr>
    <a:masterClrMapping/>
  </p:clrMapOvr>
  <p:hf sldNum="0" hd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a:t>Klik om de stijl te bewerken</a:t>
            </a:r>
          </a:p>
        </p:txBody>
      </p:sp>
      <p:sp>
        <p:nvSpPr>
          <p:cNvPr id="3" name="Tijdelijke aanduiding voor tekst 2"/>
          <p:cNvSpPr>
            <a:spLocks noGrp="1"/>
          </p:cNvSpPr>
          <p:nvPr>
            <p:ph type="body" idx="1"/>
          </p:nvPr>
        </p:nvSpPr>
        <p:spPr>
          <a:xfrm>
            <a:off x="609759" y="1535113"/>
            <a:ext cx="538832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4" name="Tijdelijke aanduiding voor inhoud 3"/>
          <p:cNvSpPr>
            <a:spLocks noGrp="1"/>
          </p:cNvSpPr>
          <p:nvPr>
            <p:ph sz="half" idx="2"/>
          </p:nvPr>
        </p:nvSpPr>
        <p:spPr>
          <a:xfrm>
            <a:off x="609759" y="2174875"/>
            <a:ext cx="538832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p:cNvSpPr>
            <a:spLocks noGrp="1"/>
          </p:cNvSpPr>
          <p:nvPr>
            <p:ph type="body" sz="quarter" idx="3"/>
          </p:nvPr>
        </p:nvSpPr>
        <p:spPr>
          <a:xfrm>
            <a:off x="6194980" y="1535113"/>
            <a:ext cx="539043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 om de modelstijlen te bewerken</a:t>
            </a:r>
          </a:p>
        </p:txBody>
      </p:sp>
      <p:sp>
        <p:nvSpPr>
          <p:cNvPr id="6" name="Tijdelijke aanduiding voor inhoud 5"/>
          <p:cNvSpPr>
            <a:spLocks noGrp="1"/>
          </p:cNvSpPr>
          <p:nvPr>
            <p:ph sz="quarter" idx="4"/>
          </p:nvPr>
        </p:nvSpPr>
        <p:spPr>
          <a:xfrm>
            <a:off x="6194980" y="2174875"/>
            <a:ext cx="539043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p:cNvSpPr>
            <a:spLocks noGrp="1"/>
          </p:cNvSpPr>
          <p:nvPr>
            <p:ph type="dt" sz="half" idx="10"/>
          </p:nvPr>
        </p:nvSpPr>
        <p:spPr/>
        <p:txBody>
          <a:bodyPr/>
          <a:lstStyle/>
          <a:p>
            <a:fld id="{6FF3FA02-90B5-49F2-9A69-44848A822514}" type="datetimeFigureOut">
              <a:rPr lang="nl-NL" smtClean="0"/>
              <a:t>16-9-2025</a:t>
            </a:fld>
            <a:endParaRPr lang="nl-NL"/>
          </a:p>
        </p:txBody>
      </p:sp>
      <p:sp>
        <p:nvSpPr>
          <p:cNvPr id="8" name="Tijdelijke aanduiding voor voettekst 7"/>
          <p:cNvSpPr>
            <a:spLocks noGrp="1"/>
          </p:cNvSpPr>
          <p:nvPr>
            <p:ph type="ftr" sz="quarter" idx="11"/>
          </p:nvPr>
        </p:nvSpPr>
        <p:spPr/>
        <p:txBody>
          <a:bodyPr/>
          <a:lstStyle/>
          <a:p>
            <a:endParaRPr lang="nl-NL"/>
          </a:p>
        </p:txBody>
      </p:sp>
      <p:sp>
        <p:nvSpPr>
          <p:cNvPr id="9" name="Tijdelijke aanduiding voor dianummer 8"/>
          <p:cNvSpPr>
            <a:spLocks noGrp="1"/>
          </p:cNvSpPr>
          <p:nvPr>
            <p:ph type="sldNum" sz="quarter" idx="12"/>
          </p:nvPr>
        </p:nvSpPr>
        <p:spPr/>
        <p:txBody>
          <a:bodyPr/>
          <a:lstStyle/>
          <a:p>
            <a:fld id="{E216F8F1-2701-42FE-B877-984B18ECD5EC}" type="slidenum">
              <a:rPr lang="nl-NL" smtClean="0"/>
              <a:t>‹nr.›</a:t>
            </a:fld>
            <a:endParaRPr lang="nl-NL"/>
          </a:p>
        </p:txBody>
      </p:sp>
    </p:spTree>
    <p:extLst>
      <p:ext uri="{BB962C8B-B14F-4D97-AF65-F5344CB8AC3E}">
        <p14:creationId xmlns:p14="http://schemas.microsoft.com/office/powerpoint/2010/main" val="3253279718"/>
      </p:ext>
    </p:extLst>
  </p:cSld>
  <p:clrMapOvr>
    <a:masterClrMapping/>
  </p:clrMapOvr>
  <p:hf sldNum="0" hd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datum 2"/>
          <p:cNvSpPr>
            <a:spLocks noGrp="1"/>
          </p:cNvSpPr>
          <p:nvPr>
            <p:ph type="dt" sz="half" idx="10"/>
          </p:nvPr>
        </p:nvSpPr>
        <p:spPr/>
        <p:txBody>
          <a:bodyPr/>
          <a:lstStyle/>
          <a:p>
            <a:fld id="{6FF3FA02-90B5-49F2-9A69-44848A822514}" type="datetimeFigureOut">
              <a:rPr lang="nl-NL" smtClean="0"/>
              <a:t>16-9-2025</a:t>
            </a:fld>
            <a:endParaRPr lang="nl-NL"/>
          </a:p>
        </p:txBody>
      </p:sp>
      <p:sp>
        <p:nvSpPr>
          <p:cNvPr id="4" name="Tijdelijke aanduiding voor voettekst 3"/>
          <p:cNvSpPr>
            <a:spLocks noGrp="1"/>
          </p:cNvSpPr>
          <p:nvPr>
            <p:ph type="ftr" sz="quarter" idx="11"/>
          </p:nvPr>
        </p:nvSpPr>
        <p:spPr/>
        <p:txBody>
          <a:bodyPr/>
          <a:lstStyle/>
          <a:p>
            <a:endParaRPr lang="nl-NL"/>
          </a:p>
        </p:txBody>
      </p:sp>
      <p:sp>
        <p:nvSpPr>
          <p:cNvPr id="5" name="Tijdelijke aanduiding voor dianummer 4"/>
          <p:cNvSpPr>
            <a:spLocks noGrp="1"/>
          </p:cNvSpPr>
          <p:nvPr>
            <p:ph type="sldNum" sz="quarter" idx="12"/>
          </p:nvPr>
        </p:nvSpPr>
        <p:spPr/>
        <p:txBody>
          <a:bodyPr/>
          <a:lstStyle/>
          <a:p>
            <a:fld id="{E216F8F1-2701-42FE-B877-984B18ECD5EC}" type="slidenum">
              <a:rPr lang="nl-NL" smtClean="0"/>
              <a:t>‹nr.›</a:t>
            </a:fld>
            <a:endParaRPr lang="nl-NL"/>
          </a:p>
        </p:txBody>
      </p:sp>
    </p:spTree>
    <p:extLst>
      <p:ext uri="{BB962C8B-B14F-4D97-AF65-F5344CB8AC3E}">
        <p14:creationId xmlns:p14="http://schemas.microsoft.com/office/powerpoint/2010/main" val="2328707907"/>
      </p:ext>
    </p:extLst>
  </p:cSld>
  <p:clrMapOvr>
    <a:masterClrMapping/>
  </p:clrMapOvr>
  <p:hf sldNum="0" hd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6FF3FA02-90B5-49F2-9A69-44848A822514}" type="datetimeFigureOut">
              <a:rPr lang="nl-NL" smtClean="0"/>
              <a:t>16-9-2025</a:t>
            </a:fld>
            <a:endParaRPr lang="nl-NL"/>
          </a:p>
        </p:txBody>
      </p:sp>
      <p:sp>
        <p:nvSpPr>
          <p:cNvPr id="3" name="Tijdelijke aanduiding voor voettekst 2"/>
          <p:cNvSpPr>
            <a:spLocks noGrp="1"/>
          </p:cNvSpPr>
          <p:nvPr>
            <p:ph type="ftr" sz="quarter" idx="11"/>
          </p:nvPr>
        </p:nvSpPr>
        <p:spPr/>
        <p:txBody>
          <a:bodyPr/>
          <a:lstStyle/>
          <a:p>
            <a:endParaRPr lang="nl-NL"/>
          </a:p>
        </p:txBody>
      </p:sp>
      <p:sp>
        <p:nvSpPr>
          <p:cNvPr id="4" name="Tijdelijke aanduiding voor dianummer 3"/>
          <p:cNvSpPr>
            <a:spLocks noGrp="1"/>
          </p:cNvSpPr>
          <p:nvPr>
            <p:ph type="sldNum" sz="quarter" idx="12"/>
          </p:nvPr>
        </p:nvSpPr>
        <p:spPr/>
        <p:txBody>
          <a:bodyPr/>
          <a:lstStyle/>
          <a:p>
            <a:fld id="{E216F8F1-2701-42FE-B877-984B18ECD5EC}" type="slidenum">
              <a:rPr lang="nl-NL" smtClean="0"/>
              <a:t>‹nr.›</a:t>
            </a:fld>
            <a:endParaRPr lang="nl-NL"/>
          </a:p>
        </p:txBody>
      </p:sp>
    </p:spTree>
    <p:extLst>
      <p:ext uri="{BB962C8B-B14F-4D97-AF65-F5344CB8AC3E}">
        <p14:creationId xmlns:p14="http://schemas.microsoft.com/office/powerpoint/2010/main" val="21844765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609759" y="273050"/>
            <a:ext cx="4012129" cy="1162050"/>
          </a:xfrm>
        </p:spPr>
        <p:txBody>
          <a:bodyPr anchor="b"/>
          <a:lstStyle>
            <a:lvl1pPr algn="l">
              <a:defRPr sz="2000" b="1"/>
            </a:lvl1pPr>
          </a:lstStyle>
          <a:p>
            <a:r>
              <a:rPr lang="nl-NL"/>
              <a:t>Klik om de stijl te bewerken</a:t>
            </a:r>
          </a:p>
        </p:txBody>
      </p:sp>
      <p:sp>
        <p:nvSpPr>
          <p:cNvPr id="3" name="Tijdelijke aanduiding voor inhoud 2"/>
          <p:cNvSpPr>
            <a:spLocks noGrp="1"/>
          </p:cNvSpPr>
          <p:nvPr>
            <p:ph idx="1"/>
          </p:nvPr>
        </p:nvSpPr>
        <p:spPr>
          <a:xfrm>
            <a:off x="4767974" y="273051"/>
            <a:ext cx="681744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p:cNvSpPr>
            <a:spLocks noGrp="1"/>
          </p:cNvSpPr>
          <p:nvPr>
            <p:ph type="body" sz="half" idx="2"/>
          </p:nvPr>
        </p:nvSpPr>
        <p:spPr>
          <a:xfrm>
            <a:off x="609759" y="1435101"/>
            <a:ext cx="401212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modelstijlen te bewerken</a:t>
            </a:r>
          </a:p>
        </p:txBody>
      </p:sp>
      <p:sp>
        <p:nvSpPr>
          <p:cNvPr id="5" name="Tijdelijke aanduiding voor datum 4"/>
          <p:cNvSpPr>
            <a:spLocks noGrp="1"/>
          </p:cNvSpPr>
          <p:nvPr>
            <p:ph type="dt" sz="half" idx="10"/>
          </p:nvPr>
        </p:nvSpPr>
        <p:spPr/>
        <p:txBody>
          <a:bodyPr/>
          <a:lstStyle/>
          <a:p>
            <a:fld id="{6FF3FA02-90B5-49F2-9A69-44848A822514}" type="datetimeFigureOut">
              <a:rPr lang="nl-NL" smtClean="0"/>
              <a:t>16-9-2025</a:t>
            </a:fld>
            <a:endParaRPr lang="nl-NL"/>
          </a:p>
        </p:txBody>
      </p:sp>
      <p:sp>
        <p:nvSpPr>
          <p:cNvPr id="6" name="Tijdelijke aanduiding voor voettekst 5"/>
          <p:cNvSpPr>
            <a:spLocks noGrp="1"/>
          </p:cNvSpPr>
          <p:nvPr>
            <p:ph type="ftr" sz="quarter" idx="11"/>
          </p:nvPr>
        </p:nvSpPr>
        <p:spPr/>
        <p:txBody>
          <a:bodyPr/>
          <a:lstStyle/>
          <a:p>
            <a:endParaRPr lang="nl-NL"/>
          </a:p>
        </p:txBody>
      </p:sp>
      <p:sp>
        <p:nvSpPr>
          <p:cNvPr id="7" name="Tijdelijke aanduiding voor dianummer 6"/>
          <p:cNvSpPr>
            <a:spLocks noGrp="1"/>
          </p:cNvSpPr>
          <p:nvPr>
            <p:ph type="sldNum" sz="quarter" idx="12"/>
          </p:nvPr>
        </p:nvSpPr>
        <p:spPr/>
        <p:txBody>
          <a:bodyPr/>
          <a:lstStyle/>
          <a:p>
            <a:fld id="{E216F8F1-2701-42FE-B877-984B18ECD5EC}" type="slidenum">
              <a:rPr lang="nl-NL" smtClean="0"/>
              <a:t>‹nr.›</a:t>
            </a:fld>
            <a:endParaRPr lang="nl-NL"/>
          </a:p>
        </p:txBody>
      </p:sp>
    </p:spTree>
    <p:extLst>
      <p:ext uri="{BB962C8B-B14F-4D97-AF65-F5344CB8AC3E}">
        <p14:creationId xmlns:p14="http://schemas.microsoft.com/office/powerpoint/2010/main" val="1457826184"/>
      </p:ext>
    </p:extLst>
  </p:cSld>
  <p:clrMapOvr>
    <a:masterClrMapping/>
  </p:clrMapOvr>
  <p:hf sldNum="0" hd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2390340" y="4800600"/>
            <a:ext cx="7317105" cy="566738"/>
          </a:xfrm>
        </p:spPr>
        <p:txBody>
          <a:bodyPr anchor="b"/>
          <a:lstStyle>
            <a:lvl1pPr algn="l">
              <a:defRPr sz="2000" b="1"/>
            </a:lvl1pPr>
          </a:lstStyle>
          <a:p>
            <a:r>
              <a:rPr lang="nl-NL"/>
              <a:t>Klik om de stijl te bewerken</a:t>
            </a:r>
          </a:p>
        </p:txBody>
      </p:sp>
      <p:sp>
        <p:nvSpPr>
          <p:cNvPr id="3" name="Tijdelijke aanduiding voor afbeelding 2"/>
          <p:cNvSpPr>
            <a:spLocks noGrp="1"/>
          </p:cNvSpPr>
          <p:nvPr>
            <p:ph type="pic" idx="1"/>
          </p:nvPr>
        </p:nvSpPr>
        <p:spPr>
          <a:xfrm>
            <a:off x="2390340" y="612775"/>
            <a:ext cx="731710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p:cNvSpPr>
            <a:spLocks noGrp="1"/>
          </p:cNvSpPr>
          <p:nvPr>
            <p:ph type="body" sz="half" idx="2"/>
          </p:nvPr>
        </p:nvSpPr>
        <p:spPr>
          <a:xfrm>
            <a:off x="2390340" y="5367338"/>
            <a:ext cx="731710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l-NL"/>
              <a:t>Klik om de modelstijlen te bewerken</a:t>
            </a:r>
          </a:p>
        </p:txBody>
      </p:sp>
      <p:sp>
        <p:nvSpPr>
          <p:cNvPr id="5" name="Tijdelijke aanduiding voor datum 4"/>
          <p:cNvSpPr>
            <a:spLocks noGrp="1"/>
          </p:cNvSpPr>
          <p:nvPr>
            <p:ph type="dt" sz="half" idx="10"/>
          </p:nvPr>
        </p:nvSpPr>
        <p:spPr/>
        <p:txBody>
          <a:bodyPr/>
          <a:lstStyle/>
          <a:p>
            <a:fld id="{6FF3FA02-90B5-49F2-9A69-44848A822514}" type="datetimeFigureOut">
              <a:rPr lang="nl-NL" smtClean="0"/>
              <a:t>16-9-2025</a:t>
            </a:fld>
            <a:endParaRPr lang="nl-NL"/>
          </a:p>
        </p:txBody>
      </p:sp>
      <p:sp>
        <p:nvSpPr>
          <p:cNvPr id="6" name="Tijdelijke aanduiding voor voettekst 5"/>
          <p:cNvSpPr>
            <a:spLocks noGrp="1"/>
          </p:cNvSpPr>
          <p:nvPr>
            <p:ph type="ftr" sz="quarter" idx="11"/>
          </p:nvPr>
        </p:nvSpPr>
        <p:spPr/>
        <p:txBody>
          <a:bodyPr/>
          <a:lstStyle/>
          <a:p>
            <a:endParaRPr lang="nl-NL"/>
          </a:p>
        </p:txBody>
      </p:sp>
      <p:sp>
        <p:nvSpPr>
          <p:cNvPr id="7" name="Tijdelijke aanduiding voor dianummer 6"/>
          <p:cNvSpPr>
            <a:spLocks noGrp="1"/>
          </p:cNvSpPr>
          <p:nvPr>
            <p:ph type="sldNum" sz="quarter" idx="12"/>
          </p:nvPr>
        </p:nvSpPr>
        <p:spPr/>
        <p:txBody>
          <a:bodyPr/>
          <a:lstStyle/>
          <a:p>
            <a:fld id="{E216F8F1-2701-42FE-B877-984B18ECD5EC}" type="slidenum">
              <a:rPr lang="nl-NL" smtClean="0"/>
              <a:t>‹nr.›</a:t>
            </a:fld>
            <a:endParaRPr lang="nl-NL"/>
          </a:p>
        </p:txBody>
      </p:sp>
    </p:spTree>
    <p:extLst>
      <p:ext uri="{BB962C8B-B14F-4D97-AF65-F5344CB8AC3E}">
        <p14:creationId xmlns:p14="http://schemas.microsoft.com/office/powerpoint/2010/main" val="3133013023"/>
      </p:ext>
    </p:extLst>
  </p:cSld>
  <p:clrMapOvr>
    <a:masterClrMapping/>
  </p:clrMapOvr>
  <p:hf sldNum="0"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verticale tekst 2"/>
          <p:cNvSpPr>
            <a:spLocks noGrp="1"/>
          </p:cNvSpPr>
          <p:nvPr>
            <p:ph type="body" orient="vert" idx="1"/>
          </p:nvPr>
        </p:nvSpPr>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p>
            <a:fld id="{6FF3FA02-90B5-49F2-9A69-44848A822514}" type="datetimeFigureOut">
              <a:rPr lang="nl-NL" smtClean="0"/>
              <a:t>16-9-2025</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E216F8F1-2701-42FE-B877-984B18ECD5EC}" type="slidenum">
              <a:rPr lang="nl-NL" smtClean="0"/>
              <a:t>‹nr.›</a:t>
            </a:fld>
            <a:endParaRPr lang="nl-NL"/>
          </a:p>
        </p:txBody>
      </p:sp>
    </p:spTree>
    <p:extLst>
      <p:ext uri="{BB962C8B-B14F-4D97-AF65-F5344CB8AC3E}">
        <p14:creationId xmlns:p14="http://schemas.microsoft.com/office/powerpoint/2010/main" val="538492692"/>
      </p:ext>
    </p:extLst>
  </p:cSld>
  <p:clrMapOvr>
    <a:masterClrMapping/>
  </p:clrMapOvr>
  <p:hf sldNum="0" hd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841502" y="274639"/>
            <a:ext cx="2743914" cy="5851525"/>
          </a:xfrm>
        </p:spPr>
        <p:txBody>
          <a:bodyPr vert="eaVert"/>
          <a:lstStyle/>
          <a:p>
            <a:r>
              <a:rPr lang="nl-NL"/>
              <a:t>Klik om de stijl te bewerken</a:t>
            </a:r>
          </a:p>
        </p:txBody>
      </p:sp>
      <p:sp>
        <p:nvSpPr>
          <p:cNvPr id="3" name="Tijdelijke aanduiding voor verticale tekst 2"/>
          <p:cNvSpPr>
            <a:spLocks noGrp="1"/>
          </p:cNvSpPr>
          <p:nvPr>
            <p:ph type="body" orient="vert" idx="1"/>
          </p:nvPr>
        </p:nvSpPr>
        <p:spPr>
          <a:xfrm>
            <a:off x="609759" y="274639"/>
            <a:ext cx="8028490" cy="5851525"/>
          </a:xfrm>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p>
            <a:fld id="{6FF3FA02-90B5-49F2-9A69-44848A822514}" type="datetimeFigureOut">
              <a:rPr lang="nl-NL" smtClean="0"/>
              <a:t>16-9-2025</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E216F8F1-2701-42FE-B877-984B18ECD5EC}" type="slidenum">
              <a:rPr lang="nl-NL" smtClean="0"/>
              <a:t>‹nr.›</a:t>
            </a:fld>
            <a:endParaRPr lang="nl-NL"/>
          </a:p>
        </p:txBody>
      </p:sp>
    </p:spTree>
    <p:extLst>
      <p:ext uri="{BB962C8B-B14F-4D97-AF65-F5344CB8AC3E}">
        <p14:creationId xmlns:p14="http://schemas.microsoft.com/office/powerpoint/2010/main" val="3003922455"/>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10" Type="http://schemas.openxmlformats.org/officeDocument/2006/relationships/theme" Target="../theme/theme2.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1173163" y="1560015"/>
            <a:ext cx="9964983" cy="572841"/>
          </a:xfrm>
          <a:prstGeom prst="rect">
            <a:avLst/>
          </a:prstGeom>
        </p:spPr>
        <p:txBody>
          <a:bodyPr vert="horz" lIns="0" tIns="0" rIns="0" bIns="0" rtlCol="0" anchor="t" anchorCtr="0">
            <a:noAutofit/>
          </a:bodyPr>
          <a:lstStyle/>
          <a:p>
            <a:r>
              <a:rPr lang="en-GB" noProof="0" dirty="0" err="1"/>
              <a:t>Klik</a:t>
            </a:r>
            <a:r>
              <a:rPr lang="en-GB" noProof="0" dirty="0"/>
              <a:t> om de </a:t>
            </a:r>
            <a:r>
              <a:rPr lang="en-GB" noProof="0" dirty="0" err="1"/>
              <a:t>stijl</a:t>
            </a:r>
            <a:r>
              <a:rPr lang="en-GB" noProof="0" dirty="0"/>
              <a:t> </a:t>
            </a:r>
            <a:r>
              <a:rPr lang="en-GB" noProof="0" dirty="0" err="1"/>
              <a:t>te</a:t>
            </a:r>
            <a:r>
              <a:rPr lang="en-GB" noProof="0" dirty="0"/>
              <a:t> </a:t>
            </a:r>
            <a:r>
              <a:rPr lang="en-GB" noProof="0" dirty="0" err="1"/>
              <a:t>bewerken</a:t>
            </a:r>
            <a:endParaRPr lang="en-GB" noProof="0" dirty="0"/>
          </a:p>
        </p:txBody>
      </p:sp>
      <p:sp>
        <p:nvSpPr>
          <p:cNvPr id="3" name="Tijdelijke aanduiding voor tekst 2"/>
          <p:cNvSpPr>
            <a:spLocks noGrp="1"/>
          </p:cNvSpPr>
          <p:nvPr>
            <p:ph type="body" idx="1"/>
          </p:nvPr>
        </p:nvSpPr>
        <p:spPr>
          <a:xfrm>
            <a:off x="1173164" y="2204864"/>
            <a:ext cx="9964982" cy="3114389"/>
          </a:xfrm>
          <a:prstGeom prst="rect">
            <a:avLst/>
          </a:prstGeom>
        </p:spPr>
        <p:txBody>
          <a:bodyPr vert="horz" lIns="0" tIns="0" rIns="0" bIns="0" rtlCol="0">
            <a:noAutofit/>
          </a:bodyPr>
          <a:lstStyle/>
          <a:p>
            <a:pPr lvl="0"/>
            <a:r>
              <a:rPr lang="en-GB" noProof="0" dirty="0" err="1"/>
              <a:t>Klik</a:t>
            </a:r>
            <a:r>
              <a:rPr lang="en-GB" noProof="0" dirty="0"/>
              <a:t> om de </a:t>
            </a:r>
            <a:r>
              <a:rPr lang="en-GB" noProof="0" dirty="0" err="1"/>
              <a:t>modelstijlen</a:t>
            </a:r>
            <a:r>
              <a:rPr lang="en-GB" noProof="0" dirty="0"/>
              <a:t> </a:t>
            </a:r>
            <a:r>
              <a:rPr lang="en-GB" noProof="0" dirty="0" err="1"/>
              <a:t>te</a:t>
            </a:r>
            <a:r>
              <a:rPr lang="en-GB" noProof="0" dirty="0"/>
              <a:t> </a:t>
            </a:r>
            <a:r>
              <a:rPr lang="en-GB" noProof="0" dirty="0" err="1"/>
              <a:t>bewerken</a:t>
            </a:r>
            <a:endParaRPr lang="en-GB" noProof="0" dirty="0"/>
          </a:p>
          <a:p>
            <a:pPr lvl="1"/>
            <a:r>
              <a:rPr lang="en-GB" noProof="0" dirty="0" err="1"/>
              <a:t>Tweede</a:t>
            </a:r>
            <a:r>
              <a:rPr lang="en-GB" noProof="0" dirty="0"/>
              <a:t> </a:t>
            </a:r>
            <a:r>
              <a:rPr lang="en-GB" noProof="0" dirty="0" err="1"/>
              <a:t>niveau</a:t>
            </a:r>
            <a:endParaRPr lang="en-GB" noProof="0" dirty="0"/>
          </a:p>
          <a:p>
            <a:pPr lvl="2"/>
            <a:r>
              <a:rPr lang="en-GB" noProof="0" dirty="0" err="1"/>
              <a:t>Derde</a:t>
            </a:r>
            <a:r>
              <a:rPr lang="en-GB" noProof="0" dirty="0"/>
              <a:t> </a:t>
            </a:r>
            <a:r>
              <a:rPr lang="en-GB" noProof="0" dirty="0" err="1"/>
              <a:t>niveau</a:t>
            </a:r>
            <a:endParaRPr lang="en-GB" noProof="0" dirty="0"/>
          </a:p>
          <a:p>
            <a:pPr lvl="3"/>
            <a:r>
              <a:rPr lang="en-GB" noProof="0" dirty="0" err="1"/>
              <a:t>Vierde</a:t>
            </a:r>
            <a:r>
              <a:rPr lang="en-GB" noProof="0" dirty="0"/>
              <a:t> </a:t>
            </a:r>
            <a:r>
              <a:rPr lang="en-GB" noProof="0" dirty="0" err="1"/>
              <a:t>niveau</a:t>
            </a:r>
            <a:endParaRPr lang="en-GB" noProof="0" dirty="0"/>
          </a:p>
          <a:p>
            <a:pPr lvl="4"/>
            <a:r>
              <a:rPr lang="en-GB" noProof="0" dirty="0" err="1"/>
              <a:t>Vijfde</a:t>
            </a:r>
            <a:r>
              <a:rPr lang="en-GB" noProof="0" dirty="0"/>
              <a:t> </a:t>
            </a:r>
            <a:r>
              <a:rPr lang="en-GB" noProof="0" dirty="0" err="1"/>
              <a:t>niveau</a:t>
            </a:r>
            <a:endParaRPr lang="en-GB" noProof="0" dirty="0"/>
          </a:p>
        </p:txBody>
      </p:sp>
      <p:pic>
        <p:nvPicPr>
          <p:cNvPr id="75" name="Afbeelding 74">
            <a:extLst>
              <a:ext uri="{FF2B5EF4-FFF2-40B4-BE49-F238E27FC236}">
                <a16:creationId xmlns:a16="http://schemas.microsoft.com/office/drawing/2014/main" id="{772B7356-7C42-9849-A202-AA4C0C54472E}"/>
              </a:ext>
            </a:extLst>
          </p:cNvPr>
          <p:cNvPicPr>
            <a:picLocks noChangeAspect="1"/>
          </p:cNvPicPr>
          <p:nvPr userDrawn="1"/>
        </p:nvPicPr>
        <p:blipFill>
          <a:blip r:embed="rId10"/>
          <a:stretch>
            <a:fillRect/>
          </a:stretch>
        </p:blipFill>
        <p:spPr>
          <a:xfrm>
            <a:off x="-3393" y="4671"/>
            <a:ext cx="3031828" cy="1192081"/>
          </a:xfrm>
          <a:prstGeom prst="rect">
            <a:avLst/>
          </a:prstGeom>
        </p:spPr>
      </p:pic>
      <p:sp>
        <p:nvSpPr>
          <p:cNvPr id="10" name="Tijdelijke aanduiding voor voettekst 9">
            <a:extLst>
              <a:ext uri="{FF2B5EF4-FFF2-40B4-BE49-F238E27FC236}">
                <a16:creationId xmlns:a16="http://schemas.microsoft.com/office/drawing/2014/main" id="{44885C4E-898B-824E-8257-67DF59EE6E64}"/>
              </a:ext>
            </a:extLst>
          </p:cNvPr>
          <p:cNvSpPr>
            <a:spLocks noGrp="1"/>
          </p:cNvSpPr>
          <p:nvPr>
            <p:ph type="ftr" sz="quarter" idx="3"/>
          </p:nvPr>
        </p:nvSpPr>
        <p:spPr>
          <a:xfrm>
            <a:off x="3782987" y="432000"/>
            <a:ext cx="4114800" cy="365125"/>
          </a:xfrm>
          <a:prstGeom prst="rect">
            <a:avLst/>
          </a:prstGeom>
        </p:spPr>
        <p:txBody>
          <a:bodyPr vert="horz" lIns="91440" tIns="45720" rIns="91440" bIns="45720" rtlCol="0" anchor="ctr"/>
          <a:lstStyle>
            <a:lvl1pPr algn="r">
              <a:defRPr sz="1050" b="0" i="0">
                <a:solidFill>
                  <a:schemeClr val="tx1"/>
                </a:solidFill>
                <a:latin typeface="Gill Sans MT" panose="020B0502020104020203" pitchFamily="34" charset="0"/>
              </a:defRPr>
            </a:lvl1pPr>
          </a:lstStyle>
          <a:p>
            <a:r>
              <a:rPr lang="nl-NL" dirty="0"/>
              <a:t>Bachelor Onderwijswetenschappen, Universiteit Utrecht</a:t>
            </a:r>
          </a:p>
        </p:txBody>
      </p:sp>
      <p:sp>
        <p:nvSpPr>
          <p:cNvPr id="9" name="Rechthoek 8">
            <a:extLst>
              <a:ext uri="{FF2B5EF4-FFF2-40B4-BE49-F238E27FC236}">
                <a16:creationId xmlns:a16="http://schemas.microsoft.com/office/drawing/2014/main" id="{364D3273-4EA5-D94D-9189-C14A04949A97}"/>
              </a:ext>
            </a:extLst>
          </p:cNvPr>
          <p:cNvSpPr/>
          <p:nvPr userDrawn="1"/>
        </p:nvSpPr>
        <p:spPr>
          <a:xfrm>
            <a:off x="8261221" y="-4819"/>
            <a:ext cx="3937347" cy="1201570"/>
          </a:xfrm>
          <a:prstGeom prst="rect">
            <a:avLst/>
          </a:prstGeom>
          <a:solidFill>
            <a:srgbClr val="FFCD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0" i="0" dirty="0">
              <a:latin typeface="Open Sans Regular" panose="020B0606030504020204" pitchFamily="34" charset="0"/>
            </a:endParaRPr>
          </a:p>
        </p:txBody>
      </p:sp>
      <p:sp>
        <p:nvSpPr>
          <p:cNvPr id="4" name="Rectangle 3">
            <a:extLst>
              <a:ext uri="{FF2B5EF4-FFF2-40B4-BE49-F238E27FC236}">
                <a16:creationId xmlns:a16="http://schemas.microsoft.com/office/drawing/2014/main" id="{9B075D13-7D17-B2BA-C08B-C9910BF96E8F}"/>
              </a:ext>
            </a:extLst>
          </p:cNvPr>
          <p:cNvSpPr/>
          <p:nvPr userDrawn="1"/>
        </p:nvSpPr>
        <p:spPr>
          <a:xfrm>
            <a:off x="8167688" y="-712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 bg1="lt1" tx1="dk1" bg2="lt2" tx2="dk2" accent1="accent1" accent2="accent2" accent3="accent3" accent4="accent4" accent5="accent5" accent6="accent6" hlink="hlink" folHlink="folHlink"/>
  <p:sldLayoutIdLst>
    <p:sldLayoutId id="2147483649" r:id="rId1"/>
    <p:sldLayoutId id="2147483671" r:id="rId2"/>
    <p:sldLayoutId id="2147483650" r:id="rId3"/>
    <p:sldLayoutId id="2147483667" r:id="rId4"/>
    <p:sldLayoutId id="2147483668" r:id="rId5"/>
    <p:sldLayoutId id="2147483669" r:id="rId6"/>
    <p:sldLayoutId id="2147483670" r:id="rId7"/>
    <p:sldLayoutId id="2147483685" r:id="rId8"/>
  </p:sldLayoutIdLst>
  <p:hf sldNum="0" hdr="0" dt="0"/>
  <p:txStyles>
    <p:title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p:titleStyle>
    <p:bodyStyle>
      <a:lvl1pPr marL="0" indent="0" algn="l" defTabSz="914400" rtl="0" eaLnBrk="1" latinLnBrk="0" hangingPunct="1">
        <a:lnSpc>
          <a:spcPct val="110000"/>
        </a:lnSpc>
        <a:spcBef>
          <a:spcPts val="0"/>
        </a:spcBef>
        <a:buFont typeface="Arial" pitchFamily="34" charset="0"/>
        <a:buNone/>
        <a:defRPr sz="1800" b="0" i="0" kern="1200">
          <a:solidFill>
            <a:schemeClr val="tx1"/>
          </a:solidFill>
          <a:latin typeface="Gill Sans MT" panose="020B0502020104020203" pitchFamily="34" charset="0"/>
          <a:ea typeface="+mn-ea"/>
          <a:cs typeface="+mn-cs"/>
        </a:defRPr>
      </a:lvl1pPr>
      <a:lvl2pPr marL="0" indent="0" algn="l" defTabSz="914400" rtl="0" eaLnBrk="1" latinLnBrk="0" hangingPunct="1">
        <a:lnSpc>
          <a:spcPct val="110000"/>
        </a:lnSpc>
        <a:spcBef>
          <a:spcPts val="0"/>
        </a:spcBef>
        <a:buFont typeface="Arial" pitchFamily="34" charset="0"/>
        <a:buNone/>
        <a:defRPr sz="1800" b="0" i="0" kern="1200">
          <a:solidFill>
            <a:schemeClr val="tx1"/>
          </a:solidFill>
          <a:latin typeface="Gill Sans MT" panose="020B0502020104020203" pitchFamily="34" charset="0"/>
          <a:ea typeface="+mn-ea"/>
          <a:cs typeface="+mn-cs"/>
        </a:defRPr>
      </a:lvl2pPr>
      <a:lvl3pPr marL="270000" indent="-270000" algn="l" defTabSz="914400" rtl="0" eaLnBrk="1" latinLnBrk="0" hangingPunct="1">
        <a:lnSpc>
          <a:spcPct val="110000"/>
        </a:lnSpc>
        <a:spcBef>
          <a:spcPts val="2100"/>
        </a:spcBef>
        <a:buFont typeface="Verdana" pitchFamily="34" charset="0"/>
        <a:buChar char="•"/>
        <a:defRPr sz="1800" b="0" i="0" kern="1200">
          <a:solidFill>
            <a:schemeClr val="tx1"/>
          </a:solidFill>
          <a:latin typeface="Gill Sans MT" panose="020B0502020104020203" pitchFamily="34" charset="0"/>
          <a:ea typeface="+mn-ea"/>
          <a:cs typeface="+mn-cs"/>
        </a:defRPr>
      </a:lvl3pPr>
      <a:lvl4pPr marL="270000" indent="-270000" algn="l" defTabSz="914400" rtl="0" eaLnBrk="1" latinLnBrk="0" hangingPunct="1">
        <a:lnSpc>
          <a:spcPct val="110000"/>
        </a:lnSpc>
        <a:spcBef>
          <a:spcPts val="2100"/>
        </a:spcBef>
        <a:buFont typeface="Verdana" pitchFamily="34" charset="0"/>
        <a:buChar char="•"/>
        <a:defRPr sz="1800" b="0" i="0" kern="1200">
          <a:solidFill>
            <a:schemeClr val="tx1"/>
          </a:solidFill>
          <a:latin typeface="Gill Sans MT" panose="020B0502020104020203" pitchFamily="34" charset="0"/>
          <a:ea typeface="+mn-ea"/>
          <a:cs typeface="+mn-cs"/>
        </a:defRPr>
      </a:lvl4pPr>
      <a:lvl5pPr marL="810000" indent="-270000" algn="l" defTabSz="914400" rtl="0" eaLnBrk="1" latinLnBrk="0" hangingPunct="1">
        <a:lnSpc>
          <a:spcPct val="110000"/>
        </a:lnSpc>
        <a:spcBef>
          <a:spcPts val="0"/>
        </a:spcBef>
        <a:buFont typeface="Verdana" pitchFamily="34" charset="0"/>
        <a:buChar char="–"/>
        <a:defRPr sz="1800" b="0" i="0" kern="1200">
          <a:solidFill>
            <a:schemeClr val="tx1"/>
          </a:solidFill>
          <a:latin typeface="Gill Sans MT" panose="020B0502020104020203"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489743"/>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4" r:id="rId9"/>
  </p:sldLayoutIdLst>
  <p:hf sldNum="0" hdr="0" dt="0"/>
  <p:txStyles>
    <p:title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p:titleStyle>
    <p:bodyStyle>
      <a:lvl1pPr marL="0" indent="0" algn="l" defTabSz="914400" rtl="0" eaLnBrk="1" latinLnBrk="0" hangingPunct="1">
        <a:lnSpc>
          <a:spcPct val="110000"/>
        </a:lnSpc>
        <a:spcBef>
          <a:spcPts val="0"/>
        </a:spcBef>
        <a:buFont typeface="Arial" pitchFamily="34" charset="0"/>
        <a:buNone/>
        <a:defRPr sz="1800" b="0" i="0" kern="1200">
          <a:solidFill>
            <a:schemeClr val="tx1"/>
          </a:solidFill>
          <a:latin typeface="Gill Sans MT" panose="020B0502020104020203" pitchFamily="34" charset="0"/>
          <a:ea typeface="+mn-ea"/>
          <a:cs typeface="+mn-cs"/>
        </a:defRPr>
      </a:lvl1pPr>
      <a:lvl2pPr marL="0" indent="0" algn="l" defTabSz="914400" rtl="0" eaLnBrk="1" latinLnBrk="0" hangingPunct="1">
        <a:lnSpc>
          <a:spcPct val="110000"/>
        </a:lnSpc>
        <a:spcBef>
          <a:spcPts val="0"/>
        </a:spcBef>
        <a:buFont typeface="Arial" pitchFamily="34" charset="0"/>
        <a:buNone/>
        <a:defRPr sz="1800" b="0" i="0" kern="1200">
          <a:solidFill>
            <a:schemeClr val="tx1"/>
          </a:solidFill>
          <a:latin typeface="Gill Sans MT" panose="020B0502020104020203" pitchFamily="34" charset="0"/>
          <a:ea typeface="+mn-ea"/>
          <a:cs typeface="+mn-cs"/>
        </a:defRPr>
      </a:lvl2pPr>
      <a:lvl3pPr marL="270000" indent="-270000" algn="l" defTabSz="914400" rtl="0" eaLnBrk="1" latinLnBrk="0" hangingPunct="1">
        <a:lnSpc>
          <a:spcPct val="110000"/>
        </a:lnSpc>
        <a:spcBef>
          <a:spcPts val="2100"/>
        </a:spcBef>
        <a:buFont typeface="Verdana" pitchFamily="34" charset="0"/>
        <a:buChar char="•"/>
        <a:defRPr sz="1800" b="0" i="0" kern="1200">
          <a:solidFill>
            <a:schemeClr val="tx1"/>
          </a:solidFill>
          <a:latin typeface="Gill Sans MT" panose="020B0502020104020203" pitchFamily="34" charset="0"/>
          <a:ea typeface="+mn-ea"/>
          <a:cs typeface="+mn-cs"/>
        </a:defRPr>
      </a:lvl3pPr>
      <a:lvl4pPr marL="270000" indent="-270000" algn="l" defTabSz="914400" rtl="0" eaLnBrk="1" latinLnBrk="0" hangingPunct="1">
        <a:lnSpc>
          <a:spcPct val="110000"/>
        </a:lnSpc>
        <a:spcBef>
          <a:spcPts val="2100"/>
        </a:spcBef>
        <a:buFont typeface="Verdana" pitchFamily="34" charset="0"/>
        <a:buChar char="•"/>
        <a:defRPr sz="1800" b="0" i="0" kern="1200">
          <a:solidFill>
            <a:schemeClr val="tx1"/>
          </a:solidFill>
          <a:latin typeface="Gill Sans MT" panose="020B0502020104020203" pitchFamily="34" charset="0"/>
          <a:ea typeface="+mn-ea"/>
          <a:cs typeface="+mn-cs"/>
        </a:defRPr>
      </a:lvl4pPr>
      <a:lvl5pPr marL="810000" indent="-270000" algn="l" defTabSz="914400" rtl="0" eaLnBrk="1" latinLnBrk="0" hangingPunct="1">
        <a:lnSpc>
          <a:spcPct val="110000"/>
        </a:lnSpc>
        <a:spcBef>
          <a:spcPts val="0"/>
        </a:spcBef>
        <a:buFont typeface="Verdana" pitchFamily="34" charset="0"/>
        <a:buChar char="–"/>
        <a:defRPr sz="1800" b="0" i="0" kern="1200">
          <a:solidFill>
            <a:schemeClr val="tx1"/>
          </a:solidFill>
          <a:latin typeface="Gill Sans MT" panose="020B0502020104020203"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609759" y="274638"/>
            <a:ext cx="10975658" cy="1143000"/>
          </a:xfrm>
          <a:prstGeom prst="rect">
            <a:avLst/>
          </a:prstGeom>
        </p:spPr>
        <p:txBody>
          <a:bodyPr vert="horz" lIns="91440" tIns="45720" rIns="91440" bIns="45720" rtlCol="0" anchor="ctr">
            <a:normAutofit/>
          </a:bodyPr>
          <a:lstStyle/>
          <a:p>
            <a:r>
              <a:rPr lang="nl-NL"/>
              <a:t>Klik om de stijl te bewerken</a:t>
            </a:r>
          </a:p>
        </p:txBody>
      </p:sp>
      <p:sp>
        <p:nvSpPr>
          <p:cNvPr id="3" name="Tijdelijke aanduiding voor tekst 2"/>
          <p:cNvSpPr>
            <a:spLocks noGrp="1"/>
          </p:cNvSpPr>
          <p:nvPr>
            <p:ph type="body" idx="1"/>
          </p:nvPr>
        </p:nvSpPr>
        <p:spPr>
          <a:xfrm>
            <a:off x="609759" y="1600201"/>
            <a:ext cx="10975658" cy="4525963"/>
          </a:xfrm>
          <a:prstGeom prst="rect">
            <a:avLst/>
          </a:prstGeom>
        </p:spPr>
        <p:txBody>
          <a:bodyPr vert="horz" lIns="91440" tIns="45720" rIns="91440" bIns="45720" rtlCol="0">
            <a:normAutofit/>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2"/>
          </p:nvPr>
        </p:nvSpPr>
        <p:spPr>
          <a:xfrm>
            <a:off x="609759" y="6356351"/>
            <a:ext cx="284554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F3FA02-90B5-49F2-9A69-44848A822514}" type="datetimeFigureOut">
              <a:rPr lang="nl-NL" smtClean="0"/>
              <a:t>16-9-2025</a:t>
            </a:fld>
            <a:endParaRPr lang="nl-NL"/>
          </a:p>
        </p:txBody>
      </p:sp>
      <p:sp>
        <p:nvSpPr>
          <p:cNvPr id="5" name="Tijdelijke aanduiding voor voettekst 4"/>
          <p:cNvSpPr>
            <a:spLocks noGrp="1"/>
          </p:cNvSpPr>
          <p:nvPr>
            <p:ph type="ftr" sz="quarter" idx="3"/>
          </p:nvPr>
        </p:nvSpPr>
        <p:spPr>
          <a:xfrm>
            <a:off x="4166685" y="6356351"/>
            <a:ext cx="386180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nl-NL"/>
              <a:t>Bachelor Onderwijswetenschappen, Universiteit Utrecht</a:t>
            </a:r>
            <a:endParaRPr lang="nl-NL" dirty="0"/>
          </a:p>
        </p:txBody>
      </p:sp>
      <p:sp>
        <p:nvSpPr>
          <p:cNvPr id="6" name="Tijdelijke aanduiding voor dianummer 5"/>
          <p:cNvSpPr>
            <a:spLocks noGrp="1"/>
          </p:cNvSpPr>
          <p:nvPr>
            <p:ph type="sldNum" sz="quarter" idx="4"/>
          </p:nvPr>
        </p:nvSpPr>
        <p:spPr>
          <a:xfrm>
            <a:off x="8739875" y="6356351"/>
            <a:ext cx="2845541"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16F8F1-2701-42FE-B877-984B18ECD5EC}" type="slidenum">
              <a:rPr lang="nl-NL" smtClean="0"/>
              <a:t>‹nr.›</a:t>
            </a:fld>
            <a:endParaRPr lang="nl-NL"/>
          </a:p>
        </p:txBody>
      </p:sp>
    </p:spTree>
    <p:extLst>
      <p:ext uri="{BB962C8B-B14F-4D97-AF65-F5344CB8AC3E}">
        <p14:creationId xmlns:p14="http://schemas.microsoft.com/office/powerpoint/2010/main" val="229978101"/>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14.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5.gif"/><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16.xml"/><Relationship Id="rId5" Type="http://schemas.openxmlformats.org/officeDocument/2006/relationships/image" Target="../media/image18.jpeg"/><Relationship Id="rId4" Type="http://schemas.openxmlformats.org/officeDocument/2006/relationships/image" Target="../media/image17.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7.xml"/><Relationship Id="rId1" Type="http://schemas.openxmlformats.org/officeDocument/2006/relationships/themeOverride" Target="../theme/themeOverride1.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itle 43"/>
          <p:cNvSpPr>
            <a:spLocks noGrp="1"/>
          </p:cNvSpPr>
          <p:nvPr>
            <p:ph type="ctrTitle"/>
          </p:nvPr>
        </p:nvSpPr>
        <p:spPr>
          <a:xfrm>
            <a:off x="8621261" y="2522020"/>
            <a:ext cx="3236966" cy="2448272"/>
          </a:xfrm>
        </p:spPr>
        <p:txBody>
          <a:bodyPr/>
          <a:lstStyle/>
          <a:p>
            <a:br>
              <a:rPr lang="nl-NL" altLang="nl-NL" sz="4000" dirty="0">
                <a:latin typeface="Open Sans Light"/>
              </a:rPr>
            </a:br>
            <a:br>
              <a:rPr lang="nl-NL" altLang="nl-NL" sz="1600" dirty="0">
                <a:latin typeface="Open Sans Light"/>
              </a:rPr>
            </a:br>
            <a:r>
              <a:rPr lang="nl-NL" altLang="nl-NL" sz="3200" dirty="0">
                <a:latin typeface="Open Sans Light"/>
              </a:rPr>
              <a:t>Inleiding</a:t>
            </a:r>
            <a:br>
              <a:rPr lang="nl-NL" altLang="nl-NL" sz="3200" dirty="0">
                <a:latin typeface="Open Sans Light"/>
              </a:rPr>
            </a:br>
            <a:r>
              <a:rPr lang="nl-NL" altLang="nl-NL" sz="3200" dirty="0" err="1">
                <a:latin typeface="Open Sans Light"/>
              </a:rPr>
              <a:t>Onderwijs-wetenschappen</a:t>
            </a:r>
            <a:endParaRPr lang="nl-NL" altLang="nl-NL" sz="3600" dirty="0">
              <a:latin typeface="Open Sans Light"/>
            </a:endParaRPr>
          </a:p>
        </p:txBody>
      </p:sp>
      <p:sp>
        <p:nvSpPr>
          <p:cNvPr id="4" name="Rechthoek 3">
            <a:extLst>
              <a:ext uri="{FF2B5EF4-FFF2-40B4-BE49-F238E27FC236}">
                <a16:creationId xmlns:a16="http://schemas.microsoft.com/office/drawing/2014/main" id="{5088194C-F4B7-3C46-8CE9-69F0FBEAB12B}"/>
              </a:ext>
            </a:extLst>
          </p:cNvPr>
          <p:cNvSpPr/>
          <p:nvPr/>
        </p:nvSpPr>
        <p:spPr>
          <a:xfrm>
            <a:off x="8617867" y="5517232"/>
            <a:ext cx="3024336" cy="523220"/>
          </a:xfrm>
          <a:prstGeom prst="rect">
            <a:avLst/>
          </a:prstGeom>
        </p:spPr>
        <p:txBody>
          <a:bodyPr wrap="square">
            <a:spAutoFit/>
          </a:bodyPr>
          <a:lstStyle/>
          <a:p>
            <a:r>
              <a:rPr lang="en-US" altLang="nl-NL" sz="1400" dirty="0">
                <a:latin typeface="Open Sans" panose="020B0606030504020204" pitchFamily="34" charset="0"/>
                <a:ea typeface="Open Sans" panose="020B0606030504020204" pitchFamily="34" charset="0"/>
                <a:cs typeface="Open Sans" panose="020B0606030504020204" pitchFamily="34" charset="0"/>
              </a:rPr>
              <a:t>15 </a:t>
            </a:r>
            <a:r>
              <a:rPr lang="en-US" altLang="nl-NL" sz="1400" dirty="0" err="1">
                <a:latin typeface="Open Sans" panose="020B0606030504020204" pitchFamily="34" charset="0"/>
                <a:ea typeface="Open Sans" panose="020B0606030504020204" pitchFamily="34" charset="0"/>
                <a:cs typeface="Open Sans" panose="020B0606030504020204" pitchFamily="34" charset="0"/>
              </a:rPr>
              <a:t>september</a:t>
            </a:r>
            <a:r>
              <a:rPr lang="en-US" altLang="nl-NL" sz="1400" dirty="0">
                <a:latin typeface="Open Sans" panose="020B0606030504020204" pitchFamily="34" charset="0"/>
                <a:ea typeface="Open Sans" panose="020B0606030504020204" pitchFamily="34" charset="0"/>
                <a:cs typeface="Open Sans" panose="020B0606030504020204" pitchFamily="34" charset="0"/>
              </a:rPr>
              <a:t> 2025</a:t>
            </a:r>
          </a:p>
          <a:p>
            <a:r>
              <a:rPr lang="en-US" sz="1400" dirty="0">
                <a:latin typeface="Open Sans" panose="020B0606030504020204" pitchFamily="34" charset="0"/>
                <a:ea typeface="Open Sans" panose="020B0606030504020204" pitchFamily="34" charset="0"/>
                <a:cs typeface="Open Sans" panose="020B0606030504020204" pitchFamily="34" charset="0"/>
              </a:rPr>
              <a:t>Prof. dr. Jeroen Janssen</a:t>
            </a:r>
            <a:endParaRPr lang="en-GB" sz="1400" dirty="0">
              <a:latin typeface="Open Sans" panose="020B0606030504020204" pitchFamily="34" charset="0"/>
              <a:ea typeface="Open Sans" panose="020B0606030504020204" pitchFamily="34" charset="0"/>
              <a:cs typeface="Open Sans" panose="020B0606030504020204" pitchFamily="34" charset="0"/>
            </a:endParaRPr>
          </a:p>
        </p:txBody>
      </p:sp>
      <p:sp>
        <p:nvSpPr>
          <p:cNvPr id="5" name="TextBox 4">
            <a:extLst>
              <a:ext uri="{FF2B5EF4-FFF2-40B4-BE49-F238E27FC236}">
                <a16:creationId xmlns:a16="http://schemas.microsoft.com/office/drawing/2014/main" id="{2F5C6732-FC8C-4B6E-860D-8CF1E9330BAD}"/>
              </a:ext>
            </a:extLst>
          </p:cNvPr>
          <p:cNvSpPr txBox="1"/>
          <p:nvPr/>
        </p:nvSpPr>
        <p:spPr>
          <a:xfrm>
            <a:off x="624979" y="4869160"/>
            <a:ext cx="5040560" cy="1107996"/>
          </a:xfrm>
          <a:prstGeom prst="rect">
            <a:avLst/>
          </a:prstGeom>
          <a:noFill/>
        </p:spPr>
        <p:txBody>
          <a:bodyPr wrap="square" lIns="0" tIns="0" rIns="0" bIns="0" rtlCol="0">
            <a:spAutoFit/>
          </a:bodyPr>
          <a:lstStyle/>
          <a:p>
            <a:pPr marL="342900" indent="-342900">
              <a:buFont typeface="Arial" panose="020B0604020202020204" pitchFamily="34" charset="0"/>
              <a:buChar char="•"/>
            </a:pPr>
            <a:endParaRPr lang="en-US" sz="2400" dirty="0">
              <a:latin typeface="Open Sans Light"/>
            </a:endParaRPr>
          </a:p>
          <a:p>
            <a:r>
              <a:rPr lang="en-US" sz="2400" b="1" dirty="0" err="1">
                <a:solidFill>
                  <a:srgbClr val="C00000"/>
                </a:solidFill>
                <a:latin typeface="Open Sans Light"/>
              </a:rPr>
              <a:t>Hoorcollege</a:t>
            </a:r>
            <a:r>
              <a:rPr lang="en-US" sz="2400" b="1" dirty="0">
                <a:solidFill>
                  <a:srgbClr val="C00000"/>
                </a:solidFill>
                <a:latin typeface="Open Sans Light"/>
              </a:rPr>
              <a:t> 2</a:t>
            </a:r>
          </a:p>
          <a:p>
            <a:r>
              <a:rPr lang="en-US" sz="2400" b="1" dirty="0" err="1">
                <a:latin typeface="Open Sans Light"/>
              </a:rPr>
              <a:t>Leren</a:t>
            </a:r>
            <a:r>
              <a:rPr lang="en-US" sz="2400" b="1" dirty="0">
                <a:latin typeface="Open Sans Light"/>
              </a:rPr>
              <a:t> en </a:t>
            </a:r>
            <a:r>
              <a:rPr lang="en-US" sz="2400" b="1" dirty="0" err="1">
                <a:latin typeface="Open Sans Light"/>
              </a:rPr>
              <a:t>instructie</a:t>
            </a:r>
            <a:endParaRPr lang="en-US" sz="2400" dirty="0">
              <a:latin typeface="Open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6FD29AE-6484-4B4C-9BD3-E9F7B0E7792B}"/>
              </a:ext>
            </a:extLst>
          </p:cNvPr>
          <p:cNvPicPr>
            <a:picLocks noChangeAspect="1"/>
          </p:cNvPicPr>
          <p:nvPr/>
        </p:nvPicPr>
        <p:blipFill>
          <a:blip r:embed="rId3"/>
          <a:stretch>
            <a:fillRect/>
          </a:stretch>
        </p:blipFill>
        <p:spPr>
          <a:xfrm>
            <a:off x="644599" y="0"/>
            <a:ext cx="7854802" cy="6858000"/>
          </a:xfrm>
          <a:prstGeom prst="rect">
            <a:avLst/>
          </a:prstGeom>
        </p:spPr>
      </p:pic>
      <p:pic>
        <p:nvPicPr>
          <p:cNvPr id="10" name="Afbeelding 2">
            <a:extLst>
              <a:ext uri="{FF2B5EF4-FFF2-40B4-BE49-F238E27FC236}">
                <a16:creationId xmlns:a16="http://schemas.microsoft.com/office/drawing/2014/main" id="{9E10D339-765A-47A8-9921-71A6F9DC4F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0617099">
            <a:off x="7499199" y="4908573"/>
            <a:ext cx="1527244" cy="1573525"/>
          </a:xfrm>
          <a:prstGeom prst="rect">
            <a:avLst/>
          </a:prstGeom>
        </p:spPr>
      </p:pic>
      <p:sp>
        <p:nvSpPr>
          <p:cNvPr id="11" name="Tekstvak 3">
            <a:extLst>
              <a:ext uri="{FF2B5EF4-FFF2-40B4-BE49-F238E27FC236}">
                <a16:creationId xmlns:a16="http://schemas.microsoft.com/office/drawing/2014/main" id="{82F5A7E8-5A22-4B4B-85D8-BE75F55C1FFD}"/>
              </a:ext>
            </a:extLst>
          </p:cNvPr>
          <p:cNvSpPr txBox="1"/>
          <p:nvPr/>
        </p:nvSpPr>
        <p:spPr>
          <a:xfrm rot="20372488">
            <a:off x="7712797" y="5318287"/>
            <a:ext cx="1080120" cy="707886"/>
          </a:xfrm>
          <a:prstGeom prst="rect">
            <a:avLst/>
          </a:prstGeom>
          <a:noFill/>
        </p:spPr>
        <p:txBody>
          <a:bodyPr wrap="square" rtlCol="0">
            <a:spAutoFit/>
          </a:bodyPr>
          <a:lstStyle/>
          <a:p>
            <a:r>
              <a:rPr lang="en-US" sz="2000" b="1" dirty="0">
                <a:effectLst>
                  <a:outerShdw blurRad="38100" dist="38100" dir="2700000" algn="tl">
                    <a:srgbClr val="000000">
                      <a:alpha val="43137"/>
                    </a:srgbClr>
                  </a:outerShdw>
                </a:effectLst>
                <a:latin typeface="Gill Sans MT" pitchFamily="34" charset="0"/>
              </a:rPr>
              <a:t>Valcke (2018)</a:t>
            </a:r>
          </a:p>
        </p:txBody>
      </p:sp>
    </p:spTree>
    <p:extLst>
      <p:ext uri="{BB962C8B-B14F-4D97-AF65-F5344CB8AC3E}">
        <p14:creationId xmlns:p14="http://schemas.microsoft.com/office/powerpoint/2010/main" val="1916604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7EBCC0F-A87C-44DA-B812-EBE751F4D09B}"/>
              </a:ext>
            </a:extLst>
          </p:cNvPr>
          <p:cNvPicPr>
            <a:picLocks noChangeAspect="1"/>
          </p:cNvPicPr>
          <p:nvPr/>
        </p:nvPicPr>
        <p:blipFill>
          <a:blip r:embed="rId3"/>
          <a:stretch>
            <a:fillRect/>
          </a:stretch>
        </p:blipFill>
        <p:spPr>
          <a:xfrm>
            <a:off x="1525587" y="1196888"/>
            <a:ext cx="9144000" cy="4968416"/>
          </a:xfrm>
          <a:prstGeom prst="rect">
            <a:avLst/>
          </a:prstGeom>
        </p:spPr>
      </p:pic>
      <p:sp>
        <p:nvSpPr>
          <p:cNvPr id="6" name="Title 1">
            <a:extLst>
              <a:ext uri="{FF2B5EF4-FFF2-40B4-BE49-F238E27FC236}">
                <a16:creationId xmlns:a16="http://schemas.microsoft.com/office/drawing/2014/main" id="{7B58633D-65D4-4762-BCE4-7191E7DD035D}"/>
              </a:ext>
            </a:extLst>
          </p:cNvPr>
          <p:cNvSpPr txBox="1">
            <a:spLocks/>
          </p:cNvSpPr>
          <p:nvPr/>
        </p:nvSpPr>
        <p:spPr>
          <a:xfrm>
            <a:off x="2641203" y="317340"/>
            <a:ext cx="9964983" cy="572841"/>
          </a:xfrm>
          <a:prstGeom prst="rect">
            <a:avLst/>
          </a:prstGeom>
        </p:spPr>
        <p:txBody>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Microniveau</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4" name="Oval 3">
            <a:extLst>
              <a:ext uri="{FF2B5EF4-FFF2-40B4-BE49-F238E27FC236}">
                <a16:creationId xmlns:a16="http://schemas.microsoft.com/office/drawing/2014/main" id="{A82F8D12-BFD3-48B8-8E75-BFE207414227}"/>
              </a:ext>
            </a:extLst>
          </p:cNvPr>
          <p:cNvSpPr/>
          <p:nvPr/>
        </p:nvSpPr>
        <p:spPr>
          <a:xfrm rot="496387">
            <a:off x="5212116" y="4016484"/>
            <a:ext cx="3672408" cy="1970224"/>
          </a:xfrm>
          <a:prstGeom prst="ellipse">
            <a:avLst/>
          </a:prstGeom>
          <a:noFill/>
          <a:ln w="635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5" name="Rectangle 4">
            <a:extLst>
              <a:ext uri="{FF2B5EF4-FFF2-40B4-BE49-F238E27FC236}">
                <a16:creationId xmlns:a16="http://schemas.microsoft.com/office/drawing/2014/main" id="{28EA1266-1CBA-CF45-77A1-2016D15BEC90}"/>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4001998903"/>
      </p:ext>
    </p:extLst>
  </p:cSld>
  <p:clrMapOvr>
    <a:masterClrMapping/>
  </p:clrMapOvr>
  <mc:AlternateContent xmlns:mc="http://schemas.openxmlformats.org/markup-compatibility/2006" xmlns:p14="http://schemas.microsoft.com/office/powerpoint/2010/main">
    <mc:Choice Requires="p14">
      <p:transition spd="slow" p14:dur="2000" advTm="28588"/>
    </mc:Choice>
    <mc:Fallback xmlns="">
      <p:transition spd="slow" advTm="28588"/>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29000">
              <a:schemeClr val="tx1"/>
            </a:gs>
            <a:gs pos="100000">
              <a:srgbClr val="474872"/>
            </a:gs>
          </a:gsLst>
          <a:lin ang="5400000" scaled="1"/>
        </a:gradFill>
        <a:effectLst/>
      </p:bgPr>
    </p:bg>
    <p:spTree>
      <p:nvGrpSpPr>
        <p:cNvPr id="1" name=""/>
        <p:cNvGrpSpPr/>
        <p:nvPr/>
      </p:nvGrpSpPr>
      <p:grpSpPr>
        <a:xfrm>
          <a:off x="0" y="0"/>
          <a:ext cx="0" cy="0"/>
          <a:chOff x="0" y="0"/>
          <a:chExt cx="0" cy="0"/>
        </a:xfrm>
      </p:grpSpPr>
      <p:cxnSp>
        <p:nvCxnSpPr>
          <p:cNvPr id="5" name="Rechte verbindingslijn 4"/>
          <p:cNvCxnSpPr/>
          <p:nvPr/>
        </p:nvCxnSpPr>
        <p:spPr>
          <a:xfrm>
            <a:off x="1993131" y="2996952"/>
            <a:ext cx="8208912" cy="0"/>
          </a:xfrm>
          <a:prstGeom prst="line">
            <a:avLst/>
          </a:prstGeom>
          <a:ln>
            <a:solidFill>
              <a:schemeClr val="bg1"/>
            </a:solidFill>
          </a:ln>
          <a:effectLst>
            <a:outerShdw blurRad="50800" dist="635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 name="Rechte verbindingslijn 8"/>
          <p:cNvCxnSpPr/>
          <p:nvPr/>
        </p:nvCxnSpPr>
        <p:spPr>
          <a:xfrm>
            <a:off x="1974081" y="2708920"/>
            <a:ext cx="0" cy="57606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Rechte verbindingslijn 9"/>
          <p:cNvCxnSpPr/>
          <p:nvPr/>
        </p:nvCxnSpPr>
        <p:spPr>
          <a:xfrm>
            <a:off x="10202043" y="2708920"/>
            <a:ext cx="0" cy="576064"/>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ekstvak 1"/>
          <p:cNvSpPr txBox="1"/>
          <p:nvPr/>
        </p:nvSpPr>
        <p:spPr>
          <a:xfrm rot="21063898">
            <a:off x="1945632" y="2574474"/>
            <a:ext cx="1081742" cy="400110"/>
          </a:xfrm>
          <a:prstGeom prst="rect">
            <a:avLst/>
          </a:prstGeom>
          <a:noFill/>
        </p:spPr>
        <p:txBody>
          <a:bodyPr wrap="square" rtlCol="0">
            <a:spAutoFit/>
          </a:bodyPr>
          <a:lstStyle/>
          <a:p>
            <a:r>
              <a:rPr lang="nl-NL" sz="2000" b="1" dirty="0">
                <a:solidFill>
                  <a:srgbClr val="980000"/>
                </a:solidFill>
                <a:latin typeface="Courier New" pitchFamily="49" charset="0"/>
                <a:cs typeface="Courier New" pitchFamily="49" charset="0"/>
              </a:rPr>
              <a:t>Start</a:t>
            </a:r>
          </a:p>
        </p:txBody>
      </p:sp>
      <p:sp>
        <p:nvSpPr>
          <p:cNvPr id="6" name="Tekstvak 5"/>
          <p:cNvSpPr txBox="1"/>
          <p:nvPr/>
        </p:nvSpPr>
        <p:spPr>
          <a:xfrm rot="21063898">
            <a:off x="9318912" y="2574474"/>
            <a:ext cx="1081742" cy="400110"/>
          </a:xfrm>
          <a:prstGeom prst="rect">
            <a:avLst/>
          </a:prstGeom>
          <a:noFill/>
        </p:spPr>
        <p:txBody>
          <a:bodyPr wrap="square" rtlCol="0">
            <a:spAutoFit/>
          </a:bodyPr>
          <a:lstStyle/>
          <a:p>
            <a:r>
              <a:rPr lang="nl-NL" sz="2000" b="1" dirty="0">
                <a:solidFill>
                  <a:srgbClr val="980000"/>
                </a:solidFill>
                <a:latin typeface="Courier New" pitchFamily="49" charset="0"/>
                <a:cs typeface="Courier New" pitchFamily="49" charset="0"/>
              </a:rPr>
              <a:t>Einde</a:t>
            </a:r>
          </a:p>
        </p:txBody>
      </p:sp>
      <p:sp>
        <p:nvSpPr>
          <p:cNvPr id="11" name="Rechthoek 10"/>
          <p:cNvSpPr/>
          <p:nvPr/>
        </p:nvSpPr>
        <p:spPr>
          <a:xfrm>
            <a:off x="3865343" y="2327108"/>
            <a:ext cx="1944213" cy="1357266"/>
          </a:xfrm>
          <a:prstGeom prst="rect">
            <a:avLst/>
          </a:prstGeom>
          <a:solidFill>
            <a:srgbClr val="7C7C5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dirty="0">
                <a:solidFill>
                  <a:schemeClr val="bg1"/>
                </a:solidFill>
                <a:effectLst>
                  <a:outerShdw blurRad="38100" dist="38100" dir="2700000" algn="tl">
                    <a:srgbClr val="000000">
                      <a:alpha val="43137"/>
                    </a:srgbClr>
                  </a:outerShdw>
                </a:effectLst>
                <a:latin typeface="Gill Sans MT" pitchFamily="34" charset="0"/>
                <a:cs typeface="Aharoni" pitchFamily="2" charset="-79"/>
              </a:rPr>
              <a:t>2</a:t>
            </a:r>
            <a:endParaRPr lang="nl-NL" sz="7200" b="1" dirty="0">
              <a:solidFill>
                <a:schemeClr val="bg1"/>
              </a:solidFill>
              <a:effectLst>
                <a:outerShdw blurRad="38100" dist="38100" dir="2700000" algn="tl">
                  <a:srgbClr val="000000">
                    <a:alpha val="43137"/>
                  </a:srgbClr>
                </a:outerShdw>
              </a:effectLst>
              <a:latin typeface="Gill Sans MT" pitchFamily="34" charset="0"/>
              <a:cs typeface="Aharoni" pitchFamily="2" charset="-79"/>
            </a:endParaRPr>
          </a:p>
        </p:txBody>
      </p:sp>
      <p:sp>
        <p:nvSpPr>
          <p:cNvPr id="16" name="Rechthoek 15"/>
          <p:cNvSpPr/>
          <p:nvPr/>
        </p:nvSpPr>
        <p:spPr>
          <a:xfrm>
            <a:off x="5809557" y="2327108"/>
            <a:ext cx="2232246" cy="1357266"/>
          </a:xfrm>
          <a:prstGeom prst="rect">
            <a:avLst/>
          </a:prstGeom>
          <a:solidFill>
            <a:srgbClr val="98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dirty="0">
                <a:solidFill>
                  <a:schemeClr val="bg1"/>
                </a:solidFill>
                <a:effectLst>
                  <a:outerShdw blurRad="38100" dist="38100" dir="2700000" algn="tl">
                    <a:srgbClr val="000000">
                      <a:alpha val="43137"/>
                    </a:srgbClr>
                  </a:outerShdw>
                </a:effectLst>
                <a:latin typeface="Gill Sans MT" pitchFamily="34" charset="0"/>
                <a:cs typeface="Aharoni" pitchFamily="2" charset="-79"/>
              </a:rPr>
              <a:t>3</a:t>
            </a:r>
            <a:endParaRPr lang="nl-NL" sz="7200" b="1" dirty="0">
              <a:solidFill>
                <a:schemeClr val="bg1"/>
              </a:solidFill>
              <a:effectLst>
                <a:outerShdw blurRad="38100" dist="38100" dir="2700000" algn="tl">
                  <a:srgbClr val="000000">
                    <a:alpha val="43137"/>
                  </a:srgbClr>
                </a:outerShdw>
              </a:effectLst>
              <a:latin typeface="Gill Sans MT" pitchFamily="34" charset="0"/>
              <a:cs typeface="Aharoni" pitchFamily="2" charset="-79"/>
            </a:endParaRPr>
          </a:p>
        </p:txBody>
      </p:sp>
      <p:sp>
        <p:nvSpPr>
          <p:cNvPr id="27" name="Rechthoek 2"/>
          <p:cNvSpPr/>
          <p:nvPr/>
        </p:nvSpPr>
        <p:spPr>
          <a:xfrm>
            <a:off x="1974081" y="2330891"/>
            <a:ext cx="1881736" cy="1357266"/>
          </a:xfrm>
          <a:prstGeom prst="rect">
            <a:avLst/>
          </a:prstGeom>
          <a:solidFill>
            <a:schemeClr val="accent6">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dirty="0">
                <a:solidFill>
                  <a:schemeClr val="bg1"/>
                </a:solidFill>
                <a:effectLst>
                  <a:outerShdw blurRad="38100" dist="38100" dir="2700000" algn="tl">
                    <a:srgbClr val="000000">
                      <a:alpha val="43137"/>
                    </a:srgbClr>
                  </a:outerShdw>
                </a:effectLst>
                <a:latin typeface="Gill Sans MT" pitchFamily="34" charset="0"/>
                <a:cs typeface="Aharoni" pitchFamily="2" charset="-79"/>
              </a:rPr>
              <a:t>1</a:t>
            </a:r>
            <a:endParaRPr lang="nl-NL" sz="7200" b="1" dirty="0">
              <a:solidFill>
                <a:schemeClr val="bg1"/>
              </a:solidFill>
              <a:effectLst>
                <a:outerShdw blurRad="38100" dist="38100" dir="2700000" algn="tl">
                  <a:srgbClr val="000000">
                    <a:alpha val="43137"/>
                  </a:srgbClr>
                </a:outerShdw>
              </a:effectLst>
              <a:latin typeface="Gill Sans MT" pitchFamily="34" charset="0"/>
              <a:cs typeface="Aharoni" pitchFamily="2" charset="-79"/>
            </a:endParaRPr>
          </a:p>
        </p:txBody>
      </p:sp>
      <p:cxnSp>
        <p:nvCxnSpPr>
          <p:cNvPr id="17" name="Rechte verbindingslijn 16">
            <a:extLst>
              <a:ext uri="{FF2B5EF4-FFF2-40B4-BE49-F238E27FC236}">
                <a16:creationId xmlns:a16="http://schemas.microsoft.com/office/drawing/2014/main" id="{4BAA836D-2495-4237-8C84-F75558297CDD}"/>
              </a:ext>
            </a:extLst>
          </p:cNvPr>
          <p:cNvCxnSpPr/>
          <p:nvPr/>
        </p:nvCxnSpPr>
        <p:spPr>
          <a:xfrm flipV="1">
            <a:off x="7340769" y="1836315"/>
            <a:ext cx="0" cy="464706"/>
          </a:xfrm>
          <a:prstGeom prst="line">
            <a:avLst/>
          </a:prstGeom>
          <a:ln>
            <a:solidFill>
              <a:srgbClr val="474859"/>
            </a:solidFill>
          </a:ln>
        </p:spPr>
        <p:style>
          <a:lnRef idx="1">
            <a:schemeClr val="accent1"/>
          </a:lnRef>
          <a:fillRef idx="0">
            <a:schemeClr val="accent1"/>
          </a:fillRef>
          <a:effectRef idx="0">
            <a:schemeClr val="accent1"/>
          </a:effectRef>
          <a:fontRef idx="minor">
            <a:schemeClr val="tx1"/>
          </a:fontRef>
        </p:style>
      </p:cxnSp>
      <p:cxnSp>
        <p:nvCxnSpPr>
          <p:cNvPr id="18" name="Rechte verbindingslijn 19">
            <a:extLst>
              <a:ext uri="{FF2B5EF4-FFF2-40B4-BE49-F238E27FC236}">
                <a16:creationId xmlns:a16="http://schemas.microsoft.com/office/drawing/2014/main" id="{88CFB0DB-B3DD-46F4-AA5C-170D24FBE500}"/>
              </a:ext>
            </a:extLst>
          </p:cNvPr>
          <p:cNvCxnSpPr>
            <a:cxnSpLocks/>
          </p:cNvCxnSpPr>
          <p:nvPr/>
        </p:nvCxnSpPr>
        <p:spPr>
          <a:xfrm>
            <a:off x="6639690" y="1827982"/>
            <a:ext cx="1527998" cy="0"/>
          </a:xfrm>
          <a:prstGeom prst="line">
            <a:avLst/>
          </a:prstGeom>
          <a:ln>
            <a:solidFill>
              <a:srgbClr val="474859"/>
            </a:solidFill>
          </a:ln>
        </p:spPr>
        <p:style>
          <a:lnRef idx="1">
            <a:schemeClr val="accent1"/>
          </a:lnRef>
          <a:fillRef idx="0">
            <a:schemeClr val="accent1"/>
          </a:fillRef>
          <a:effectRef idx="0">
            <a:schemeClr val="accent1"/>
          </a:effectRef>
          <a:fontRef idx="minor">
            <a:schemeClr val="tx1"/>
          </a:fontRef>
        </p:style>
      </p:cxnSp>
      <p:sp>
        <p:nvSpPr>
          <p:cNvPr id="19" name="Tekstvak 20">
            <a:extLst>
              <a:ext uri="{FF2B5EF4-FFF2-40B4-BE49-F238E27FC236}">
                <a16:creationId xmlns:a16="http://schemas.microsoft.com/office/drawing/2014/main" id="{73435A61-B629-4083-A84B-A9AEC1052CAE}"/>
              </a:ext>
            </a:extLst>
          </p:cNvPr>
          <p:cNvSpPr txBox="1"/>
          <p:nvPr/>
        </p:nvSpPr>
        <p:spPr>
          <a:xfrm>
            <a:off x="6550104" y="980728"/>
            <a:ext cx="2351881" cy="830997"/>
          </a:xfrm>
          <a:prstGeom prst="rect">
            <a:avLst/>
          </a:prstGeom>
          <a:noFill/>
        </p:spPr>
        <p:txBody>
          <a:bodyPr wrap="square" rtlCol="0">
            <a:spAutoFit/>
          </a:bodyPr>
          <a:lstStyle/>
          <a:p>
            <a:r>
              <a:rPr lang="nl-NL" sz="2400" dirty="0">
                <a:solidFill>
                  <a:schemeClr val="bg1"/>
                </a:solidFill>
                <a:latin typeface="Gill Sans MT" pitchFamily="34" charset="0"/>
              </a:rPr>
              <a:t>Cognitieve psychologie</a:t>
            </a:r>
          </a:p>
        </p:txBody>
      </p:sp>
      <p:cxnSp>
        <p:nvCxnSpPr>
          <p:cNvPr id="20" name="Rechte verbindingslijn 22">
            <a:extLst>
              <a:ext uri="{FF2B5EF4-FFF2-40B4-BE49-F238E27FC236}">
                <a16:creationId xmlns:a16="http://schemas.microsoft.com/office/drawing/2014/main" id="{DB242E5C-A289-4ACE-A075-F26E78C056C2}"/>
              </a:ext>
            </a:extLst>
          </p:cNvPr>
          <p:cNvCxnSpPr/>
          <p:nvPr/>
        </p:nvCxnSpPr>
        <p:spPr>
          <a:xfrm flipV="1">
            <a:off x="4907753" y="3704885"/>
            <a:ext cx="0" cy="464706"/>
          </a:xfrm>
          <a:prstGeom prst="line">
            <a:avLst/>
          </a:prstGeom>
          <a:ln>
            <a:solidFill>
              <a:srgbClr val="474859"/>
            </a:solidFill>
          </a:ln>
        </p:spPr>
        <p:style>
          <a:lnRef idx="1">
            <a:schemeClr val="accent1"/>
          </a:lnRef>
          <a:fillRef idx="0">
            <a:schemeClr val="accent1"/>
          </a:fillRef>
          <a:effectRef idx="0">
            <a:schemeClr val="accent1"/>
          </a:effectRef>
          <a:fontRef idx="minor">
            <a:schemeClr val="tx1"/>
          </a:fontRef>
        </p:style>
      </p:cxnSp>
      <p:sp>
        <p:nvSpPr>
          <p:cNvPr id="21" name="Tekstvak 23">
            <a:extLst>
              <a:ext uri="{FF2B5EF4-FFF2-40B4-BE49-F238E27FC236}">
                <a16:creationId xmlns:a16="http://schemas.microsoft.com/office/drawing/2014/main" id="{A10D2716-0572-4362-91A6-B9447CDA68F2}"/>
              </a:ext>
            </a:extLst>
          </p:cNvPr>
          <p:cNvSpPr txBox="1"/>
          <p:nvPr/>
        </p:nvSpPr>
        <p:spPr>
          <a:xfrm>
            <a:off x="4214383" y="4115000"/>
            <a:ext cx="3467381" cy="461665"/>
          </a:xfrm>
          <a:prstGeom prst="rect">
            <a:avLst/>
          </a:prstGeom>
          <a:noFill/>
        </p:spPr>
        <p:txBody>
          <a:bodyPr wrap="square" rtlCol="0">
            <a:spAutoFit/>
          </a:bodyPr>
          <a:lstStyle/>
          <a:p>
            <a:r>
              <a:rPr lang="nl-NL" sz="2400" dirty="0">
                <a:solidFill>
                  <a:schemeClr val="bg1"/>
                </a:solidFill>
                <a:latin typeface="Gill Sans MT" pitchFamily="34" charset="0"/>
              </a:rPr>
              <a:t>Behaviorisme</a:t>
            </a:r>
          </a:p>
        </p:txBody>
      </p:sp>
      <p:cxnSp>
        <p:nvCxnSpPr>
          <p:cNvPr id="22" name="Rechte verbindingslijn 24">
            <a:extLst>
              <a:ext uri="{FF2B5EF4-FFF2-40B4-BE49-F238E27FC236}">
                <a16:creationId xmlns:a16="http://schemas.microsoft.com/office/drawing/2014/main" id="{870D9E40-05C9-4622-BD0D-66D873B1FD49}"/>
              </a:ext>
            </a:extLst>
          </p:cNvPr>
          <p:cNvCxnSpPr>
            <a:cxnSpLocks/>
          </p:cNvCxnSpPr>
          <p:nvPr/>
        </p:nvCxnSpPr>
        <p:spPr>
          <a:xfrm flipH="1">
            <a:off x="4142375" y="4169591"/>
            <a:ext cx="1883775" cy="0"/>
          </a:xfrm>
          <a:prstGeom prst="line">
            <a:avLst/>
          </a:prstGeom>
          <a:ln>
            <a:solidFill>
              <a:srgbClr val="474859"/>
            </a:solidFill>
          </a:ln>
        </p:spPr>
        <p:style>
          <a:lnRef idx="1">
            <a:schemeClr val="accent1"/>
          </a:lnRef>
          <a:fillRef idx="0">
            <a:schemeClr val="accent1"/>
          </a:fillRef>
          <a:effectRef idx="0">
            <a:schemeClr val="accent1"/>
          </a:effectRef>
          <a:fontRef idx="minor">
            <a:schemeClr val="tx1"/>
          </a:fontRef>
        </p:style>
      </p:cxnSp>
      <p:sp>
        <p:nvSpPr>
          <p:cNvPr id="23" name="Tekstvak 18">
            <a:extLst>
              <a:ext uri="{FF2B5EF4-FFF2-40B4-BE49-F238E27FC236}">
                <a16:creationId xmlns:a16="http://schemas.microsoft.com/office/drawing/2014/main" id="{C296003A-791C-4F8D-B190-4938554248F6}"/>
              </a:ext>
            </a:extLst>
          </p:cNvPr>
          <p:cNvSpPr txBox="1"/>
          <p:nvPr/>
        </p:nvSpPr>
        <p:spPr>
          <a:xfrm>
            <a:off x="2065140" y="1441652"/>
            <a:ext cx="2893225" cy="461665"/>
          </a:xfrm>
          <a:prstGeom prst="rect">
            <a:avLst/>
          </a:prstGeom>
          <a:noFill/>
        </p:spPr>
        <p:txBody>
          <a:bodyPr wrap="square" rtlCol="0">
            <a:spAutoFit/>
          </a:bodyPr>
          <a:lstStyle/>
          <a:p>
            <a:r>
              <a:rPr lang="nl-NL" sz="2400" dirty="0">
                <a:solidFill>
                  <a:schemeClr val="bg1"/>
                </a:solidFill>
                <a:latin typeface="Gill Sans MT" pitchFamily="34" charset="0"/>
              </a:rPr>
              <a:t>Vooraf</a:t>
            </a:r>
          </a:p>
        </p:txBody>
      </p:sp>
      <p:cxnSp>
        <p:nvCxnSpPr>
          <p:cNvPr id="24" name="Rechte verbindingslijn 6">
            <a:extLst>
              <a:ext uri="{FF2B5EF4-FFF2-40B4-BE49-F238E27FC236}">
                <a16:creationId xmlns:a16="http://schemas.microsoft.com/office/drawing/2014/main" id="{D09C6F74-92D2-48CE-8BB5-9ED48E6F9490}"/>
              </a:ext>
            </a:extLst>
          </p:cNvPr>
          <p:cNvCxnSpPr/>
          <p:nvPr/>
        </p:nvCxnSpPr>
        <p:spPr>
          <a:xfrm flipV="1">
            <a:off x="2465166" y="1836572"/>
            <a:ext cx="0" cy="464706"/>
          </a:xfrm>
          <a:prstGeom prst="line">
            <a:avLst/>
          </a:prstGeom>
          <a:ln>
            <a:solidFill>
              <a:srgbClr val="474859"/>
            </a:solidFill>
          </a:ln>
        </p:spPr>
        <p:style>
          <a:lnRef idx="1">
            <a:schemeClr val="accent1"/>
          </a:lnRef>
          <a:fillRef idx="0">
            <a:schemeClr val="accent1"/>
          </a:fillRef>
          <a:effectRef idx="0">
            <a:schemeClr val="accent1"/>
          </a:effectRef>
          <a:fontRef idx="minor">
            <a:schemeClr val="tx1"/>
          </a:fontRef>
        </p:style>
      </p:cxnSp>
      <p:cxnSp>
        <p:nvCxnSpPr>
          <p:cNvPr id="25" name="Rechte verbindingslijn 17">
            <a:extLst>
              <a:ext uri="{FF2B5EF4-FFF2-40B4-BE49-F238E27FC236}">
                <a16:creationId xmlns:a16="http://schemas.microsoft.com/office/drawing/2014/main" id="{E0B99D9D-D6FB-4D59-B07F-E2CFEFCD2FB9}"/>
              </a:ext>
            </a:extLst>
          </p:cNvPr>
          <p:cNvCxnSpPr>
            <a:cxnSpLocks/>
          </p:cNvCxnSpPr>
          <p:nvPr/>
        </p:nvCxnSpPr>
        <p:spPr>
          <a:xfrm>
            <a:off x="2065140" y="1828239"/>
            <a:ext cx="1152127" cy="0"/>
          </a:xfrm>
          <a:prstGeom prst="line">
            <a:avLst/>
          </a:prstGeom>
          <a:ln>
            <a:solidFill>
              <a:srgbClr val="474859"/>
            </a:solidFill>
          </a:ln>
        </p:spPr>
        <p:style>
          <a:lnRef idx="1">
            <a:schemeClr val="accent1"/>
          </a:lnRef>
          <a:fillRef idx="0">
            <a:schemeClr val="accent1"/>
          </a:fillRef>
          <a:effectRef idx="0">
            <a:schemeClr val="accent1"/>
          </a:effectRef>
          <a:fontRef idx="minor">
            <a:schemeClr val="tx1"/>
          </a:fontRef>
        </p:style>
      </p:cxnSp>
      <p:sp>
        <p:nvSpPr>
          <p:cNvPr id="14" name="Rechthoek 15">
            <a:extLst>
              <a:ext uri="{FF2B5EF4-FFF2-40B4-BE49-F238E27FC236}">
                <a16:creationId xmlns:a16="http://schemas.microsoft.com/office/drawing/2014/main" id="{2B803FE0-04CD-210B-A104-8D3AFA7AC25F}"/>
              </a:ext>
            </a:extLst>
          </p:cNvPr>
          <p:cNvSpPr/>
          <p:nvPr/>
        </p:nvSpPr>
        <p:spPr>
          <a:xfrm>
            <a:off x="8041806" y="2327108"/>
            <a:ext cx="2160237" cy="1357266"/>
          </a:xfrm>
          <a:prstGeom prst="rect">
            <a:avLst/>
          </a:prstGeom>
          <a:solidFill>
            <a:srgbClr val="7030A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7200" b="1" dirty="0">
                <a:solidFill>
                  <a:schemeClr val="bg1"/>
                </a:solidFill>
                <a:effectLst>
                  <a:outerShdw blurRad="38100" dist="38100" dir="2700000" algn="tl">
                    <a:srgbClr val="000000">
                      <a:alpha val="43137"/>
                    </a:srgbClr>
                  </a:outerShdw>
                </a:effectLst>
                <a:latin typeface="Gill Sans MT" pitchFamily="34" charset="0"/>
                <a:cs typeface="Aharoni" pitchFamily="2" charset="-79"/>
              </a:rPr>
              <a:t>4</a:t>
            </a:r>
          </a:p>
        </p:txBody>
      </p:sp>
      <p:cxnSp>
        <p:nvCxnSpPr>
          <p:cNvPr id="15" name="Rechte verbindingslijn 22">
            <a:extLst>
              <a:ext uri="{FF2B5EF4-FFF2-40B4-BE49-F238E27FC236}">
                <a16:creationId xmlns:a16="http://schemas.microsoft.com/office/drawing/2014/main" id="{4875760E-8FDF-9907-2A54-A5B47696D9D5}"/>
              </a:ext>
            </a:extLst>
          </p:cNvPr>
          <p:cNvCxnSpPr/>
          <p:nvPr/>
        </p:nvCxnSpPr>
        <p:spPr>
          <a:xfrm flipV="1">
            <a:off x="9161722" y="3704885"/>
            <a:ext cx="0" cy="464706"/>
          </a:xfrm>
          <a:prstGeom prst="line">
            <a:avLst/>
          </a:prstGeom>
          <a:ln>
            <a:solidFill>
              <a:srgbClr val="474859"/>
            </a:solidFill>
          </a:ln>
        </p:spPr>
        <p:style>
          <a:lnRef idx="1">
            <a:schemeClr val="accent1"/>
          </a:lnRef>
          <a:fillRef idx="0">
            <a:schemeClr val="accent1"/>
          </a:fillRef>
          <a:effectRef idx="0">
            <a:schemeClr val="accent1"/>
          </a:effectRef>
          <a:fontRef idx="minor">
            <a:schemeClr val="tx1"/>
          </a:fontRef>
        </p:style>
      </p:cxnSp>
      <p:sp>
        <p:nvSpPr>
          <p:cNvPr id="28" name="Tekstvak 23">
            <a:extLst>
              <a:ext uri="{FF2B5EF4-FFF2-40B4-BE49-F238E27FC236}">
                <a16:creationId xmlns:a16="http://schemas.microsoft.com/office/drawing/2014/main" id="{6330053E-AB71-BF43-6F01-BA31A39FBA09}"/>
              </a:ext>
            </a:extLst>
          </p:cNvPr>
          <p:cNvSpPr txBox="1"/>
          <p:nvPr/>
        </p:nvSpPr>
        <p:spPr>
          <a:xfrm>
            <a:off x="8468352" y="4115000"/>
            <a:ext cx="3467381" cy="461665"/>
          </a:xfrm>
          <a:prstGeom prst="rect">
            <a:avLst/>
          </a:prstGeom>
          <a:noFill/>
        </p:spPr>
        <p:txBody>
          <a:bodyPr wrap="square" rtlCol="0">
            <a:spAutoFit/>
          </a:bodyPr>
          <a:lstStyle/>
          <a:p>
            <a:r>
              <a:rPr lang="nl-NL" sz="2400" dirty="0">
                <a:solidFill>
                  <a:schemeClr val="bg1"/>
                </a:solidFill>
                <a:latin typeface="Gill Sans MT" pitchFamily="34" charset="0"/>
              </a:rPr>
              <a:t>Constructivisme</a:t>
            </a:r>
          </a:p>
        </p:txBody>
      </p:sp>
      <p:cxnSp>
        <p:nvCxnSpPr>
          <p:cNvPr id="29" name="Rechte verbindingslijn 24">
            <a:extLst>
              <a:ext uri="{FF2B5EF4-FFF2-40B4-BE49-F238E27FC236}">
                <a16:creationId xmlns:a16="http://schemas.microsoft.com/office/drawing/2014/main" id="{FC2B608F-0F6A-E5F9-A5BF-E0ADD0000BAB}"/>
              </a:ext>
            </a:extLst>
          </p:cNvPr>
          <p:cNvCxnSpPr>
            <a:cxnSpLocks/>
          </p:cNvCxnSpPr>
          <p:nvPr/>
        </p:nvCxnSpPr>
        <p:spPr>
          <a:xfrm flipH="1">
            <a:off x="8396344" y="4169591"/>
            <a:ext cx="2309755" cy="0"/>
          </a:xfrm>
          <a:prstGeom prst="line">
            <a:avLst/>
          </a:prstGeom>
          <a:ln>
            <a:solidFill>
              <a:srgbClr val="47485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7501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3E7B1-6F3B-4D03-9E50-EDE61CFD3EE1}"/>
              </a:ext>
            </a:extLst>
          </p:cNvPr>
          <p:cNvSpPr>
            <a:spLocks noGrp="1"/>
          </p:cNvSpPr>
          <p:nvPr>
            <p:ph type="title"/>
          </p:nvPr>
        </p:nvSpPr>
        <p:spPr>
          <a:xfrm>
            <a:off x="1013496" y="1114736"/>
            <a:ext cx="9964983" cy="572841"/>
          </a:xfrm>
        </p:spPr>
        <p:txBody>
          <a:bodyPr/>
          <a:lstStyle/>
          <a:p>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Leertheorieën</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4" name="TextBox 3">
            <a:extLst>
              <a:ext uri="{FF2B5EF4-FFF2-40B4-BE49-F238E27FC236}">
                <a16:creationId xmlns:a16="http://schemas.microsoft.com/office/drawing/2014/main" id="{6C142818-AA1C-49CD-A5A4-05FB094E4E6F}"/>
              </a:ext>
            </a:extLst>
          </p:cNvPr>
          <p:cNvSpPr txBox="1"/>
          <p:nvPr/>
        </p:nvSpPr>
        <p:spPr>
          <a:xfrm>
            <a:off x="1173163" y="2132856"/>
            <a:ext cx="10613056" cy="4431983"/>
          </a:xfrm>
          <a:prstGeom prst="rect">
            <a:avLst/>
          </a:prstGeom>
          <a:noFill/>
        </p:spPr>
        <p:txBody>
          <a:bodyPr wrap="square" lIns="0" tIns="0" rIns="0" bIns="0" rtlCol="0">
            <a:spAutoFit/>
          </a:bodyPr>
          <a:lstStyle/>
          <a:p>
            <a:r>
              <a:rPr lang="nl-NL" sz="2400" dirty="0">
                <a:latin typeface="Open Sans Light"/>
              </a:rPr>
              <a:t>Zijn </a:t>
            </a:r>
            <a:r>
              <a:rPr lang="nl-NL" sz="2400" dirty="0">
                <a:solidFill>
                  <a:srgbClr val="C00000"/>
                </a:solidFill>
                <a:latin typeface="Open Sans Light"/>
              </a:rPr>
              <a:t>descriptief</a:t>
            </a:r>
            <a:r>
              <a:rPr lang="nl-NL" sz="2400" dirty="0">
                <a:latin typeface="Open Sans Light"/>
              </a:rPr>
              <a:t>: Beschrijven het verloop van het leerproces</a:t>
            </a:r>
          </a:p>
          <a:p>
            <a:endParaRPr lang="nl-NL" sz="2400" dirty="0">
              <a:latin typeface="Open Sans Light"/>
            </a:endParaRPr>
          </a:p>
          <a:p>
            <a:r>
              <a:rPr lang="nl-NL" sz="2400" dirty="0">
                <a:latin typeface="Open Sans Light"/>
              </a:rPr>
              <a:t>Geven antwoord op </a:t>
            </a:r>
            <a:r>
              <a:rPr lang="nl-NL" sz="2400" dirty="0">
                <a:solidFill>
                  <a:srgbClr val="C00000"/>
                </a:solidFill>
                <a:latin typeface="Open Sans Light"/>
              </a:rPr>
              <a:t>vragen over leren</a:t>
            </a:r>
            <a:r>
              <a:rPr lang="nl-NL" sz="2400" dirty="0">
                <a:latin typeface="Open Sans Light"/>
              </a:rPr>
              <a:t>, als:</a:t>
            </a:r>
          </a:p>
          <a:p>
            <a:pPr marL="457200" indent="-457200">
              <a:buFont typeface="+mj-lt"/>
              <a:buAutoNum type="arabicPeriod"/>
            </a:pPr>
            <a:r>
              <a:rPr lang="nl-NL" sz="2400" dirty="0">
                <a:latin typeface="Open Sans Light"/>
              </a:rPr>
              <a:t>Hoe verloopt het leerproces?</a:t>
            </a:r>
          </a:p>
          <a:p>
            <a:pPr marL="457200" indent="-457200">
              <a:buFont typeface="+mj-lt"/>
              <a:buAutoNum type="arabicPeriod"/>
            </a:pPr>
            <a:r>
              <a:rPr lang="nl-NL" sz="2400" dirty="0">
                <a:latin typeface="Open Sans Light"/>
              </a:rPr>
              <a:t>Welke factoren spelen een rol?</a:t>
            </a:r>
          </a:p>
          <a:p>
            <a:pPr marL="457200" indent="-457200">
              <a:buFont typeface="+mj-lt"/>
              <a:buAutoNum type="arabicPeriod"/>
            </a:pPr>
            <a:r>
              <a:rPr lang="nl-NL" sz="2400" dirty="0">
                <a:latin typeface="Open Sans Light"/>
              </a:rPr>
              <a:t>Hoe vindt transfer plaats?</a:t>
            </a:r>
          </a:p>
          <a:p>
            <a:pPr marL="457200" indent="-457200">
              <a:buFont typeface="+mj-lt"/>
              <a:buAutoNum type="arabicPeriod"/>
            </a:pPr>
            <a:endParaRPr lang="nl-NL" sz="2400" dirty="0">
              <a:latin typeface="Open Sans Light"/>
            </a:endParaRPr>
          </a:p>
          <a:p>
            <a:endParaRPr lang="nl-NL" sz="2400" dirty="0">
              <a:solidFill>
                <a:srgbClr val="C00000"/>
              </a:solidFill>
              <a:latin typeface="Open Sans Light"/>
            </a:endParaRPr>
          </a:p>
          <a:p>
            <a:endParaRPr lang="nl-NL" sz="2400" dirty="0">
              <a:solidFill>
                <a:srgbClr val="C00000"/>
              </a:solidFill>
              <a:latin typeface="Open Sans Light"/>
            </a:endParaRPr>
          </a:p>
          <a:p>
            <a:endParaRPr lang="nl-NL" sz="2400" dirty="0">
              <a:solidFill>
                <a:srgbClr val="C00000"/>
              </a:solidFill>
              <a:latin typeface="Open Sans Light"/>
            </a:endParaRPr>
          </a:p>
          <a:p>
            <a:endParaRPr lang="nl-NL" sz="2400" dirty="0">
              <a:solidFill>
                <a:srgbClr val="C00000"/>
              </a:solidFill>
              <a:latin typeface="Open Sans Light"/>
            </a:endParaRPr>
          </a:p>
          <a:p>
            <a:r>
              <a:rPr lang="nl-NL" sz="2400" dirty="0">
                <a:solidFill>
                  <a:srgbClr val="C00000"/>
                </a:solidFill>
                <a:latin typeface="Open Sans Light"/>
              </a:rPr>
              <a:t>Disclaimer</a:t>
            </a:r>
            <a:r>
              <a:rPr lang="nl-NL" sz="2400" dirty="0">
                <a:latin typeface="Open Sans Light"/>
              </a:rPr>
              <a:t>: We gaan er vandaag met reuzensprongen doorheen!</a:t>
            </a:r>
          </a:p>
        </p:txBody>
      </p:sp>
      <p:sp>
        <p:nvSpPr>
          <p:cNvPr id="5" name="Rectangle 4">
            <a:extLst>
              <a:ext uri="{FF2B5EF4-FFF2-40B4-BE49-F238E27FC236}">
                <a16:creationId xmlns:a16="http://schemas.microsoft.com/office/drawing/2014/main" id="{6F97CD1E-5FE6-F7AE-4D3B-F129465FBF0C}"/>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612365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E460911-E255-CB27-A831-B06E81FF5B99}"/>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69F3E7B1-6F3B-4D03-9E50-EDE61CFD3EE1}"/>
              </a:ext>
            </a:extLst>
          </p:cNvPr>
          <p:cNvSpPr>
            <a:spLocks noGrp="1"/>
          </p:cNvSpPr>
          <p:nvPr>
            <p:ph type="title"/>
          </p:nvPr>
        </p:nvSpPr>
        <p:spPr>
          <a:xfrm>
            <a:off x="1013496" y="1114736"/>
            <a:ext cx="9964983" cy="572841"/>
          </a:xfrm>
        </p:spPr>
        <p:txBody>
          <a:bodyPr/>
          <a:lstStyle/>
          <a:p>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Leertheorieën</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vs.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theorieën</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uit</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de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natuurwetenschap</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1026" name="Picture 2">
            <a:extLst>
              <a:ext uri="{FF2B5EF4-FFF2-40B4-BE49-F238E27FC236}">
                <a16:creationId xmlns:a16="http://schemas.microsoft.com/office/drawing/2014/main" id="{AD02A831-5CB8-4C57-087A-59AD63256A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4737" y="2094799"/>
            <a:ext cx="4762500" cy="3571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1951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E460911-E255-CB27-A831-B06E81FF5B99}"/>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69F3E7B1-6F3B-4D03-9E50-EDE61CFD3EE1}"/>
              </a:ext>
            </a:extLst>
          </p:cNvPr>
          <p:cNvSpPr>
            <a:spLocks noGrp="1"/>
          </p:cNvSpPr>
          <p:nvPr>
            <p:ph type="title"/>
          </p:nvPr>
        </p:nvSpPr>
        <p:spPr>
          <a:xfrm>
            <a:off x="1013496" y="1114736"/>
            <a:ext cx="9964983" cy="572841"/>
          </a:xfrm>
        </p:spPr>
        <p:txBody>
          <a:bodyPr/>
          <a:lstStyle/>
          <a:p>
            <a:r>
              <a:rPr lang="nl-NL" sz="2800" u="sng" dirty="0">
                <a:latin typeface="Open Sans Light" panose="020B0306030504020204" pitchFamily="34" charset="0"/>
                <a:ea typeface="Open Sans Light" panose="020B0306030504020204" pitchFamily="34" charset="0"/>
                <a:cs typeface="Open Sans Light" panose="020B0306030504020204" pitchFamily="34" charset="0"/>
              </a:rPr>
              <a:t>“Niet alles werkt en niets werkt altijd in het onderwijs”</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3" name="Picture 2" descr="Pedro De Bruyckere: Jongeren op weg helpen | merksplas.NU">
            <a:extLst>
              <a:ext uri="{FF2B5EF4-FFF2-40B4-BE49-F238E27FC236}">
                <a16:creationId xmlns:a16="http://schemas.microsoft.com/office/drawing/2014/main" id="{35576CD9-15A2-A38E-E8D7-35FBF92982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1277441">
            <a:off x="1672275" y="1911857"/>
            <a:ext cx="7038597" cy="4241206"/>
          </a:xfrm>
          <a:prstGeom prst="rect">
            <a:avLst/>
          </a:prstGeom>
          <a:solidFill>
            <a:srgbClr val="FFFFFF">
              <a:shade val="85000"/>
            </a:srgbClr>
          </a:solidFill>
          <a:ln w="190500" cap="rnd">
            <a:solidFill>
              <a:srgbClr val="FFFFFF"/>
            </a:solidFill>
          </a:ln>
          <a:effectLst>
            <a:outerShdw blurRad="50800" dist="38100" dir="2700000" algn="tl" rotWithShape="0">
              <a:prstClr val="black">
                <a:alpha val="40000"/>
              </a:prst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5804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A301A14-D1C9-AFFF-D338-FE63ED9D0896}"/>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69F3E7B1-6F3B-4D03-9E50-EDE61CFD3EE1}"/>
              </a:ext>
            </a:extLst>
          </p:cNvPr>
          <p:cNvSpPr>
            <a:spLocks noGrp="1"/>
          </p:cNvSpPr>
          <p:nvPr>
            <p:ph type="title"/>
          </p:nvPr>
        </p:nvSpPr>
        <p:spPr>
          <a:xfrm>
            <a:off x="1013496" y="1114736"/>
            <a:ext cx="9964983" cy="572841"/>
          </a:xfrm>
        </p:spPr>
        <p:txBody>
          <a:bodyPr/>
          <a:lstStyle/>
          <a:p>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Leertheorieën</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vs.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theorieën</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uit</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de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natuurwetenschap</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graphicFrame>
        <p:nvGraphicFramePr>
          <p:cNvPr id="4" name="Table 3">
            <a:extLst>
              <a:ext uri="{FF2B5EF4-FFF2-40B4-BE49-F238E27FC236}">
                <a16:creationId xmlns:a16="http://schemas.microsoft.com/office/drawing/2014/main" id="{06F681EB-B263-A50E-0459-E1216FA7924C}"/>
              </a:ext>
            </a:extLst>
          </p:cNvPr>
          <p:cNvGraphicFramePr>
            <a:graphicFrameLocks noGrp="1"/>
          </p:cNvGraphicFramePr>
          <p:nvPr>
            <p:extLst>
              <p:ext uri="{D42A27DB-BD31-4B8C-83A1-F6EECF244321}">
                <p14:modId xmlns:p14="http://schemas.microsoft.com/office/powerpoint/2010/main" val="1949354999"/>
              </p:ext>
            </p:extLst>
          </p:nvPr>
        </p:nvGraphicFramePr>
        <p:xfrm>
          <a:off x="1057027" y="1525583"/>
          <a:ext cx="8686566" cy="5243843"/>
        </p:xfrm>
        <a:graphic>
          <a:graphicData uri="http://schemas.openxmlformats.org/drawingml/2006/table">
            <a:tbl>
              <a:tblPr firstRow="1" bandRow="1">
                <a:tableStyleId>{5C22544A-7EE6-4342-B048-85BDC9FD1C3A}</a:tableStyleId>
              </a:tblPr>
              <a:tblGrid>
                <a:gridCol w="2610932">
                  <a:extLst>
                    <a:ext uri="{9D8B030D-6E8A-4147-A177-3AD203B41FA5}">
                      <a16:colId xmlns:a16="http://schemas.microsoft.com/office/drawing/2014/main" val="20000"/>
                    </a:ext>
                  </a:extLst>
                </a:gridCol>
                <a:gridCol w="5059121">
                  <a:extLst>
                    <a:ext uri="{9D8B030D-6E8A-4147-A177-3AD203B41FA5}">
                      <a16:colId xmlns:a16="http://schemas.microsoft.com/office/drawing/2014/main" val="20001"/>
                    </a:ext>
                  </a:extLst>
                </a:gridCol>
                <a:gridCol w="1016513">
                  <a:extLst>
                    <a:ext uri="{9D8B030D-6E8A-4147-A177-3AD203B41FA5}">
                      <a16:colId xmlns:a16="http://schemas.microsoft.com/office/drawing/2014/main" val="20004"/>
                    </a:ext>
                  </a:extLst>
                </a:gridCol>
              </a:tblGrid>
              <a:tr h="533951">
                <a:tc>
                  <a:txBody>
                    <a:bodyPr/>
                    <a:lstStyle/>
                    <a:p>
                      <a:r>
                        <a:rPr lang="nl-NL" sz="1600" dirty="0">
                          <a:latin typeface="Gill Sans MT" panose="020B0502020104020203" pitchFamily="34" charset="0"/>
                        </a:rPr>
                        <a:t>Variabele</a:t>
                      </a:r>
                    </a:p>
                  </a:txBody>
                  <a:tcPr/>
                </a:tc>
                <a:tc>
                  <a:txBody>
                    <a:bodyPr/>
                    <a:lstStyle/>
                    <a:p>
                      <a:r>
                        <a:rPr lang="nl-NL" sz="1600" dirty="0">
                          <a:latin typeface="Gill Sans MT" panose="020B0502020104020203" pitchFamily="34" charset="0"/>
                        </a:rPr>
                        <a:t>Definitie</a:t>
                      </a:r>
                    </a:p>
                  </a:txBody>
                  <a:tcPr/>
                </a:tc>
                <a:tc>
                  <a:txBody>
                    <a:bodyPr/>
                    <a:lstStyle/>
                    <a:p>
                      <a:r>
                        <a:rPr lang="nl-NL" sz="1600" i="1" dirty="0">
                          <a:latin typeface="Gill Sans MT" panose="020B0502020104020203" pitchFamily="34" charset="0"/>
                        </a:rPr>
                        <a:t>d</a:t>
                      </a:r>
                    </a:p>
                  </a:txBody>
                  <a:tcPr/>
                </a:tc>
                <a:extLst>
                  <a:ext uri="{0D108BD9-81ED-4DB2-BD59-A6C34878D82A}">
                    <a16:rowId xmlns:a16="http://schemas.microsoft.com/office/drawing/2014/main" val="10000"/>
                  </a:ext>
                </a:extLst>
              </a:tr>
              <a:tr h="341916">
                <a:tc>
                  <a:txBody>
                    <a:bodyPr/>
                    <a:lstStyle/>
                    <a:p>
                      <a:r>
                        <a:rPr lang="nl-NL" sz="1600" dirty="0">
                          <a:latin typeface="Gill Sans MT" panose="020B0502020104020203" pitchFamily="34" charset="0"/>
                        </a:rPr>
                        <a:t>Leerdoelen</a:t>
                      </a:r>
                    </a:p>
                  </a:txBody>
                  <a:tcPr/>
                </a:tc>
                <a:tc>
                  <a:txBody>
                    <a:bodyPr/>
                    <a:lstStyle/>
                    <a:p>
                      <a:r>
                        <a:rPr lang="nl-NL" sz="1600" dirty="0">
                          <a:latin typeface="Gill Sans MT" panose="020B0502020104020203" pitchFamily="34" charset="0"/>
                        </a:rPr>
                        <a:t>Duidelijke leer-</a:t>
                      </a:r>
                      <a:r>
                        <a:rPr lang="nl-NL" sz="1600" baseline="0" dirty="0">
                          <a:latin typeface="Gill Sans MT" panose="020B0502020104020203" pitchFamily="34" charset="0"/>
                        </a:rPr>
                        <a:t> en cursusdoelen</a:t>
                      </a:r>
                      <a:endParaRPr lang="nl-NL" sz="1600" dirty="0">
                        <a:latin typeface="Gill Sans MT" panose="020B0502020104020203" pitchFamily="34" charset="0"/>
                      </a:endParaRPr>
                    </a:p>
                  </a:txBody>
                  <a:tcPr/>
                </a:tc>
                <a:tc>
                  <a:txBody>
                    <a:bodyPr/>
                    <a:lstStyle/>
                    <a:p>
                      <a:r>
                        <a:rPr lang="nl-NL" sz="1600" i="0" dirty="0">
                          <a:latin typeface="Gill Sans MT" panose="020B0502020104020203" pitchFamily="34" charset="0"/>
                        </a:rPr>
                        <a:t>0.75</a:t>
                      </a:r>
                    </a:p>
                  </a:txBody>
                  <a:tcPr/>
                </a:tc>
                <a:extLst>
                  <a:ext uri="{0D108BD9-81ED-4DB2-BD59-A6C34878D82A}">
                    <a16:rowId xmlns:a16="http://schemas.microsoft.com/office/drawing/2014/main" val="10001"/>
                  </a:ext>
                </a:extLst>
              </a:tr>
              <a:tr h="341916">
                <a:tc>
                  <a:txBody>
                    <a:bodyPr/>
                    <a:lstStyle/>
                    <a:p>
                      <a:r>
                        <a:rPr lang="nl-NL" sz="1600" dirty="0">
                          <a:latin typeface="Gill Sans MT" panose="020B0502020104020203" pitchFamily="34" charset="0"/>
                        </a:rPr>
                        <a:t>Open vragen</a:t>
                      </a:r>
                    </a:p>
                  </a:txBody>
                  <a:tcPr/>
                </a:tc>
                <a:tc>
                  <a:txBody>
                    <a:bodyPr/>
                    <a:lstStyle/>
                    <a:p>
                      <a:r>
                        <a:rPr lang="nl-NL" sz="1600" dirty="0">
                          <a:latin typeface="Gill Sans MT" panose="020B0502020104020203" pitchFamily="34" charset="0"/>
                        </a:rPr>
                        <a:t>Veel open</a:t>
                      </a:r>
                      <a:r>
                        <a:rPr lang="nl-NL" sz="1600" baseline="0" dirty="0">
                          <a:latin typeface="Gill Sans MT" panose="020B0502020104020203" pitchFamily="34" charset="0"/>
                        </a:rPr>
                        <a:t> vragen stellen tijdens onderwijs</a:t>
                      </a:r>
                      <a:endParaRPr lang="nl-NL" sz="1600" dirty="0">
                        <a:latin typeface="Gill Sans MT" panose="020B0502020104020203" pitchFamily="34" charset="0"/>
                      </a:endParaRPr>
                    </a:p>
                  </a:txBody>
                  <a:tcPr/>
                </a:tc>
                <a:tc>
                  <a:txBody>
                    <a:bodyPr/>
                    <a:lstStyle/>
                    <a:p>
                      <a:r>
                        <a:rPr lang="nl-NL" sz="1600" i="0" dirty="0">
                          <a:latin typeface="Gill Sans MT" panose="020B0502020104020203" pitchFamily="34" charset="0"/>
                        </a:rPr>
                        <a:t>0.73</a:t>
                      </a:r>
                    </a:p>
                  </a:txBody>
                  <a:tcPr/>
                </a:tc>
                <a:extLst>
                  <a:ext uri="{0D108BD9-81ED-4DB2-BD59-A6C34878D82A}">
                    <a16:rowId xmlns:a16="http://schemas.microsoft.com/office/drawing/2014/main" val="10002"/>
                  </a:ext>
                </a:extLst>
              </a:tr>
              <a:tr h="341916">
                <a:tc>
                  <a:txBody>
                    <a:bodyPr/>
                    <a:lstStyle/>
                    <a:p>
                      <a:r>
                        <a:rPr lang="nl-NL" sz="1600" kern="1200" dirty="0">
                          <a:solidFill>
                            <a:schemeClr val="dk1"/>
                          </a:solidFill>
                          <a:latin typeface="Gill Sans MT" panose="020B0502020104020203" pitchFamily="34" charset="0"/>
                          <a:ea typeface="+mn-ea"/>
                          <a:cs typeface="+mn-cs"/>
                        </a:rPr>
                        <a:t>Kwaliteit toetsing</a:t>
                      </a:r>
                    </a:p>
                  </a:txBody>
                  <a:tcPr/>
                </a:tc>
                <a:tc>
                  <a:txBody>
                    <a:bodyPr/>
                    <a:lstStyle/>
                    <a:p>
                      <a:r>
                        <a:rPr lang="nl-NL" sz="1600" kern="1200" baseline="0" dirty="0">
                          <a:solidFill>
                            <a:schemeClr val="dk1"/>
                          </a:solidFill>
                          <a:latin typeface="Gill Sans MT" panose="020B0502020104020203" pitchFamily="34" charset="0"/>
                          <a:ea typeface="+mn-ea"/>
                          <a:cs typeface="+mn-cs"/>
                        </a:rPr>
                        <a:t>Kwaliteit van toetsing</a:t>
                      </a:r>
                    </a:p>
                  </a:txBody>
                  <a:tcPr/>
                </a:tc>
                <a:tc>
                  <a:txBody>
                    <a:bodyPr/>
                    <a:lstStyle/>
                    <a:p>
                      <a:r>
                        <a:rPr lang="nl-NL" sz="1600" kern="1200" baseline="0" dirty="0">
                          <a:solidFill>
                            <a:schemeClr val="dk1"/>
                          </a:solidFill>
                          <a:latin typeface="Gill Sans MT" panose="020B0502020104020203" pitchFamily="34" charset="0"/>
                          <a:ea typeface="+mn-ea"/>
                          <a:cs typeface="+mn-cs"/>
                        </a:rPr>
                        <a:t>0.54</a:t>
                      </a:r>
                    </a:p>
                  </a:txBody>
                  <a:tcPr/>
                </a:tc>
                <a:extLst>
                  <a:ext uri="{0D108BD9-81ED-4DB2-BD59-A6C34878D82A}">
                    <a16:rowId xmlns:a16="http://schemas.microsoft.com/office/drawing/2014/main" val="10003"/>
                  </a:ext>
                </a:extLst>
              </a:tr>
              <a:tr h="533951">
                <a:tc>
                  <a:txBody>
                    <a:bodyPr/>
                    <a:lstStyle/>
                    <a:p>
                      <a:r>
                        <a:rPr lang="nl-NL" sz="1600" dirty="0" err="1">
                          <a:latin typeface="Gill Sans MT" panose="020B0502020104020203" pitchFamily="34" charset="0"/>
                        </a:rPr>
                        <a:t>Mastery</a:t>
                      </a:r>
                      <a:r>
                        <a:rPr lang="nl-NL" sz="1600" baseline="0" dirty="0">
                          <a:latin typeface="Gill Sans MT" panose="020B0502020104020203" pitchFamily="34" charset="0"/>
                        </a:rPr>
                        <a:t> </a:t>
                      </a:r>
                      <a:r>
                        <a:rPr lang="nl-NL" sz="1600" baseline="0" dirty="0" err="1">
                          <a:latin typeface="Gill Sans MT" panose="020B0502020104020203" pitchFamily="34" charset="0"/>
                        </a:rPr>
                        <a:t>learning</a:t>
                      </a:r>
                      <a:endParaRPr lang="nl-NL" sz="1600" dirty="0">
                        <a:latin typeface="Gill Sans MT" panose="020B0502020104020203" pitchFamily="34" charset="0"/>
                      </a:endParaRPr>
                    </a:p>
                  </a:txBody>
                  <a:tcPr/>
                </a:tc>
                <a:tc>
                  <a:txBody>
                    <a:bodyPr/>
                    <a:lstStyle/>
                    <a:p>
                      <a:r>
                        <a:rPr lang="nl-NL" sz="1600" dirty="0">
                          <a:latin typeface="Gill Sans MT" panose="020B0502020104020203" pitchFamily="34" charset="0"/>
                        </a:rPr>
                        <a:t>Studenten moeten laten zien stof te beheersen alvorens door te mogen naar volgende onderdeel</a:t>
                      </a:r>
                    </a:p>
                  </a:txBody>
                  <a:tcPr/>
                </a:tc>
                <a:tc>
                  <a:txBody>
                    <a:bodyPr/>
                    <a:lstStyle/>
                    <a:p>
                      <a:r>
                        <a:rPr lang="nl-NL" sz="1600" i="0" dirty="0">
                          <a:latin typeface="Gill Sans MT" panose="020B0502020104020203" pitchFamily="34" charset="0"/>
                        </a:rPr>
                        <a:t>0.53</a:t>
                      </a:r>
                    </a:p>
                  </a:txBody>
                  <a:tcPr/>
                </a:tc>
                <a:extLst>
                  <a:ext uri="{0D108BD9-81ED-4DB2-BD59-A6C34878D82A}">
                    <a16:rowId xmlns:a16="http://schemas.microsoft.com/office/drawing/2014/main" val="10004"/>
                  </a:ext>
                </a:extLst>
              </a:tr>
              <a:tr h="341916">
                <a:tc>
                  <a:txBody>
                    <a:bodyPr/>
                    <a:lstStyle/>
                    <a:p>
                      <a:r>
                        <a:rPr lang="nl-NL" sz="1600" dirty="0">
                          <a:latin typeface="Gill Sans MT" panose="020B0502020104020203" pitchFamily="34" charset="0"/>
                        </a:rPr>
                        <a:t>Intellectuele uitdaging</a:t>
                      </a:r>
                    </a:p>
                  </a:txBody>
                  <a:tcPr/>
                </a:tc>
                <a:tc>
                  <a:txBody>
                    <a:bodyPr/>
                    <a:lstStyle/>
                    <a:p>
                      <a:r>
                        <a:rPr lang="nl-NL" sz="1600" dirty="0">
                          <a:latin typeface="Gill Sans MT" panose="020B0502020104020203" pitchFamily="34" charset="0"/>
                        </a:rPr>
                        <a:t>Studenten</a:t>
                      </a:r>
                      <a:r>
                        <a:rPr lang="nl-NL" sz="1600" baseline="0" dirty="0">
                          <a:latin typeface="Gill Sans MT" panose="020B0502020104020203" pitchFamily="34" charset="0"/>
                        </a:rPr>
                        <a:t> worden intellectueel uitgedaagd</a:t>
                      </a:r>
                      <a:endParaRPr lang="nl-NL" sz="1600" dirty="0">
                        <a:latin typeface="Gill Sans MT" panose="020B0502020104020203" pitchFamily="34" charset="0"/>
                      </a:endParaRPr>
                    </a:p>
                  </a:txBody>
                  <a:tcPr/>
                </a:tc>
                <a:tc>
                  <a:txBody>
                    <a:bodyPr/>
                    <a:lstStyle/>
                    <a:p>
                      <a:r>
                        <a:rPr lang="nl-NL" sz="1600" i="0" dirty="0">
                          <a:latin typeface="Gill Sans MT" panose="020B0502020104020203" pitchFamily="34" charset="0"/>
                        </a:rPr>
                        <a:t>0.52</a:t>
                      </a:r>
                    </a:p>
                  </a:txBody>
                  <a:tcPr/>
                </a:tc>
                <a:extLst>
                  <a:ext uri="{0D108BD9-81ED-4DB2-BD59-A6C34878D82A}">
                    <a16:rowId xmlns:a16="http://schemas.microsoft.com/office/drawing/2014/main" val="10005"/>
                  </a:ext>
                </a:extLst>
              </a:tr>
              <a:tr h="341916">
                <a:tc>
                  <a:txBody>
                    <a:bodyPr/>
                    <a:lstStyle/>
                    <a:p>
                      <a:r>
                        <a:rPr lang="nl-NL" sz="1600" dirty="0">
                          <a:latin typeface="Gill Sans MT" panose="020B0502020104020203" pitchFamily="34" charset="0"/>
                        </a:rPr>
                        <a:t>Virtual </a:t>
                      </a:r>
                      <a:r>
                        <a:rPr lang="nl-NL" sz="1600" dirty="0" err="1">
                          <a:latin typeface="Gill Sans MT" panose="020B0502020104020203" pitchFamily="34" charset="0"/>
                        </a:rPr>
                        <a:t>reality</a:t>
                      </a:r>
                      <a:r>
                        <a:rPr lang="nl-NL" sz="1600" dirty="0">
                          <a:latin typeface="Gill Sans MT" panose="020B0502020104020203" pitchFamily="34" charset="0"/>
                        </a:rPr>
                        <a:t> games</a:t>
                      </a:r>
                    </a:p>
                  </a:txBody>
                  <a:tcPr/>
                </a:tc>
                <a:tc>
                  <a:txBody>
                    <a:bodyPr/>
                    <a:lstStyle/>
                    <a:p>
                      <a:r>
                        <a:rPr lang="nl-NL" sz="1600" dirty="0">
                          <a:latin typeface="Gill Sans MT" panose="020B0502020104020203" pitchFamily="34" charset="0"/>
                        </a:rPr>
                        <a:t>Educatieve games die een real-life situatie simuleren</a:t>
                      </a:r>
                    </a:p>
                  </a:txBody>
                  <a:tcPr/>
                </a:tc>
                <a:tc>
                  <a:txBody>
                    <a:bodyPr/>
                    <a:lstStyle/>
                    <a:p>
                      <a:r>
                        <a:rPr lang="nl-NL" sz="1600" i="0" dirty="0">
                          <a:latin typeface="Gill Sans MT" panose="020B0502020104020203" pitchFamily="34" charset="0"/>
                        </a:rPr>
                        <a:t>0.51</a:t>
                      </a:r>
                    </a:p>
                  </a:txBody>
                  <a:tcPr/>
                </a:tc>
                <a:extLst>
                  <a:ext uri="{0D108BD9-81ED-4DB2-BD59-A6C34878D82A}">
                    <a16:rowId xmlns:a16="http://schemas.microsoft.com/office/drawing/2014/main" val="10006"/>
                  </a:ext>
                </a:extLst>
              </a:tr>
              <a:tr h="533951">
                <a:tc>
                  <a:txBody>
                    <a:bodyPr/>
                    <a:lstStyle/>
                    <a:p>
                      <a:r>
                        <a:rPr lang="nl-NL" sz="1600" dirty="0">
                          <a:latin typeface="Gill Sans MT" panose="020B0502020104020203" pitchFamily="34" charset="0"/>
                        </a:rPr>
                        <a:t>Leren in kleine groepen</a:t>
                      </a:r>
                    </a:p>
                  </a:txBody>
                  <a:tcPr/>
                </a:tc>
                <a:tc>
                  <a:txBody>
                    <a:bodyPr/>
                    <a:lstStyle/>
                    <a:p>
                      <a:r>
                        <a:rPr lang="nl-NL" sz="1600" dirty="0">
                          <a:latin typeface="Gill Sans MT" panose="020B0502020104020203" pitchFamily="34" charset="0"/>
                        </a:rPr>
                        <a:t>Studenten werken in kleine</a:t>
                      </a:r>
                      <a:r>
                        <a:rPr lang="nl-NL" sz="1600" baseline="0" dirty="0">
                          <a:latin typeface="Gill Sans MT" panose="020B0502020104020203" pitchFamily="34" charset="0"/>
                        </a:rPr>
                        <a:t> groepen aan een gemeenschappelijk doel</a:t>
                      </a:r>
                      <a:endParaRPr lang="nl-NL" sz="1600" dirty="0">
                        <a:latin typeface="Gill Sans MT" panose="020B0502020104020203" pitchFamily="34" charset="0"/>
                      </a:endParaRPr>
                    </a:p>
                  </a:txBody>
                  <a:tcPr/>
                </a:tc>
                <a:tc>
                  <a:txBody>
                    <a:bodyPr/>
                    <a:lstStyle/>
                    <a:p>
                      <a:r>
                        <a:rPr lang="nl-NL" sz="1600" i="0" dirty="0">
                          <a:latin typeface="Gill Sans MT" panose="020B0502020104020203" pitchFamily="34" charset="0"/>
                        </a:rPr>
                        <a:t>0.51</a:t>
                      </a:r>
                    </a:p>
                  </a:txBody>
                  <a:tcPr/>
                </a:tc>
                <a:extLst>
                  <a:ext uri="{0D108BD9-81ED-4DB2-BD59-A6C34878D82A}">
                    <a16:rowId xmlns:a16="http://schemas.microsoft.com/office/drawing/2014/main" val="10007"/>
                  </a:ext>
                </a:extLst>
              </a:tr>
              <a:tr h="533951">
                <a:tc>
                  <a:txBody>
                    <a:bodyPr/>
                    <a:lstStyle/>
                    <a:p>
                      <a:r>
                        <a:rPr lang="nl-NL" sz="1600" dirty="0">
                          <a:latin typeface="Gill Sans MT" panose="020B0502020104020203" pitchFamily="34" charset="0"/>
                        </a:rPr>
                        <a:t>Training academische vaardigheden</a:t>
                      </a:r>
                    </a:p>
                  </a:txBody>
                  <a:tcPr/>
                </a:tc>
                <a:tc>
                  <a:txBody>
                    <a:bodyPr/>
                    <a:lstStyle/>
                    <a:p>
                      <a:r>
                        <a:rPr lang="nl-NL" sz="1600" dirty="0">
                          <a:latin typeface="Gill Sans MT" panose="020B0502020104020203" pitchFamily="34" charset="0"/>
                        </a:rPr>
                        <a:t>Interventies gericht op het ontwikkelen</a:t>
                      </a:r>
                      <a:r>
                        <a:rPr lang="nl-NL" sz="1600" baseline="0" dirty="0">
                          <a:latin typeface="Gill Sans MT" panose="020B0502020104020203" pitchFamily="34" charset="0"/>
                        </a:rPr>
                        <a:t> van academische vaardigheden</a:t>
                      </a:r>
                      <a:endParaRPr lang="nl-NL" sz="1600" dirty="0">
                        <a:latin typeface="Gill Sans MT" panose="020B0502020104020203" pitchFamily="34" charset="0"/>
                      </a:endParaRPr>
                    </a:p>
                  </a:txBody>
                  <a:tcPr/>
                </a:tc>
                <a:tc>
                  <a:txBody>
                    <a:bodyPr/>
                    <a:lstStyle/>
                    <a:p>
                      <a:r>
                        <a:rPr lang="nl-NL" sz="1600" i="0" dirty="0">
                          <a:latin typeface="Gill Sans MT" panose="020B0502020104020203" pitchFamily="34" charset="0"/>
                        </a:rPr>
                        <a:t>0.48</a:t>
                      </a:r>
                    </a:p>
                  </a:txBody>
                  <a:tcPr/>
                </a:tc>
                <a:extLst>
                  <a:ext uri="{0D108BD9-81ED-4DB2-BD59-A6C34878D82A}">
                    <a16:rowId xmlns:a16="http://schemas.microsoft.com/office/drawing/2014/main" val="10008"/>
                  </a:ext>
                </a:extLst>
              </a:tr>
              <a:tr h="341916">
                <a:tc>
                  <a:txBody>
                    <a:bodyPr/>
                    <a:lstStyle/>
                    <a:p>
                      <a:r>
                        <a:rPr lang="nl-NL" sz="1600" dirty="0">
                          <a:latin typeface="Gill Sans MT" panose="020B0502020104020203" pitchFamily="34" charset="0"/>
                        </a:rPr>
                        <a:t>…</a:t>
                      </a:r>
                    </a:p>
                  </a:txBody>
                  <a:tcPr/>
                </a:tc>
                <a:tc>
                  <a:txBody>
                    <a:bodyPr/>
                    <a:lstStyle/>
                    <a:p>
                      <a:endParaRPr lang="nl-NL" sz="1600" dirty="0">
                        <a:latin typeface="Gill Sans MT" panose="020B0502020104020203" pitchFamily="34" charset="0"/>
                      </a:endParaRPr>
                    </a:p>
                  </a:txBody>
                  <a:tcPr/>
                </a:tc>
                <a:tc>
                  <a:txBody>
                    <a:bodyPr/>
                    <a:lstStyle/>
                    <a:p>
                      <a:endParaRPr lang="nl-NL" sz="1600" i="0" dirty="0">
                        <a:latin typeface="Gill Sans MT" panose="020B0502020104020203" pitchFamily="34" charset="0"/>
                      </a:endParaRPr>
                    </a:p>
                  </a:txBody>
                  <a:tcPr/>
                </a:tc>
                <a:extLst>
                  <a:ext uri="{0D108BD9-81ED-4DB2-BD59-A6C34878D82A}">
                    <a16:rowId xmlns:a16="http://schemas.microsoft.com/office/drawing/2014/main" val="10009"/>
                  </a:ext>
                </a:extLst>
              </a:tr>
              <a:tr h="533951">
                <a:tc>
                  <a:txBody>
                    <a:bodyPr/>
                    <a:lstStyle/>
                    <a:p>
                      <a:r>
                        <a:rPr lang="nl-NL" sz="1600" dirty="0" err="1">
                          <a:latin typeface="Gill Sans MT" panose="020B0502020104020203" pitchFamily="34" charset="0"/>
                        </a:rPr>
                        <a:t>Probleem-gestuurd</a:t>
                      </a:r>
                      <a:r>
                        <a:rPr lang="nl-NL" sz="1600" dirty="0">
                          <a:latin typeface="Gill Sans MT" panose="020B0502020104020203" pitchFamily="34" charset="0"/>
                        </a:rPr>
                        <a:t> onderwijs</a:t>
                      </a:r>
                    </a:p>
                  </a:txBody>
                  <a:tcPr/>
                </a:tc>
                <a:tc>
                  <a:txBody>
                    <a:bodyPr/>
                    <a:lstStyle/>
                    <a:p>
                      <a:r>
                        <a:rPr lang="nl-NL" sz="1600" dirty="0">
                          <a:latin typeface="Gill Sans MT" panose="020B0502020104020203" pitchFamily="34" charset="0"/>
                        </a:rPr>
                        <a:t>In</a:t>
                      </a:r>
                      <a:r>
                        <a:rPr lang="nl-NL" sz="1600" baseline="0" dirty="0">
                          <a:latin typeface="Gill Sans MT" panose="020B0502020104020203" pitchFamily="34" charset="0"/>
                        </a:rPr>
                        <a:t> kleine groepen relatief moeilijke, authentieke problemen oplossen begeleid door een docent</a:t>
                      </a:r>
                      <a:endParaRPr lang="nl-NL" sz="1600" dirty="0">
                        <a:latin typeface="Gill Sans MT" panose="020B0502020104020203" pitchFamily="34" charset="0"/>
                      </a:endParaRPr>
                    </a:p>
                  </a:txBody>
                  <a:tcPr/>
                </a:tc>
                <a:tc>
                  <a:txBody>
                    <a:bodyPr/>
                    <a:lstStyle/>
                    <a:p>
                      <a:r>
                        <a:rPr lang="nl-NL" sz="1600" i="0" dirty="0">
                          <a:latin typeface="Gill Sans MT" panose="020B0502020104020203" pitchFamily="34" charset="0"/>
                        </a:rPr>
                        <a:t>-0.22</a:t>
                      </a:r>
                    </a:p>
                  </a:txBody>
                  <a:tcPr/>
                </a:tc>
                <a:extLst>
                  <a:ext uri="{0D108BD9-81ED-4DB2-BD59-A6C34878D82A}">
                    <a16:rowId xmlns:a16="http://schemas.microsoft.com/office/drawing/2014/main" val="10010"/>
                  </a:ext>
                </a:extLst>
              </a:tr>
              <a:tr h="341916">
                <a:tc>
                  <a:txBody>
                    <a:bodyPr/>
                    <a:lstStyle/>
                    <a:p>
                      <a:r>
                        <a:rPr lang="nl-NL" sz="1600" dirty="0" err="1">
                          <a:latin typeface="Gill Sans MT" panose="020B0502020104020203" pitchFamily="34" charset="0"/>
                        </a:rPr>
                        <a:t>Seductive</a:t>
                      </a:r>
                      <a:r>
                        <a:rPr lang="nl-NL" sz="1600" dirty="0">
                          <a:latin typeface="Gill Sans MT" panose="020B0502020104020203" pitchFamily="34" charset="0"/>
                        </a:rPr>
                        <a:t> details</a:t>
                      </a:r>
                    </a:p>
                  </a:txBody>
                  <a:tcPr/>
                </a:tc>
                <a:tc>
                  <a:txBody>
                    <a:bodyPr/>
                    <a:lstStyle/>
                    <a:p>
                      <a:r>
                        <a:rPr lang="nl-NL" sz="1600" dirty="0">
                          <a:latin typeface="Gill Sans MT" panose="020B0502020104020203" pitchFamily="34" charset="0"/>
                        </a:rPr>
                        <a:t>Interessante maar irrelevante informatie presenteren</a:t>
                      </a:r>
                    </a:p>
                  </a:txBody>
                  <a:tcPr/>
                </a:tc>
                <a:tc>
                  <a:txBody>
                    <a:bodyPr/>
                    <a:lstStyle/>
                    <a:p>
                      <a:r>
                        <a:rPr lang="nl-NL" sz="1600" i="0" dirty="0">
                          <a:latin typeface="Gill Sans MT" panose="020B0502020104020203" pitchFamily="34" charset="0"/>
                        </a:rPr>
                        <a:t>-0.30</a:t>
                      </a:r>
                    </a:p>
                  </a:txBody>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06792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A301A14-D1C9-AFFF-D338-FE63ED9D0896}"/>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69F3E7B1-6F3B-4D03-9E50-EDE61CFD3EE1}"/>
              </a:ext>
            </a:extLst>
          </p:cNvPr>
          <p:cNvSpPr>
            <a:spLocks noGrp="1"/>
          </p:cNvSpPr>
          <p:nvPr>
            <p:ph type="title"/>
          </p:nvPr>
        </p:nvSpPr>
        <p:spPr>
          <a:xfrm>
            <a:off x="1013496" y="1114736"/>
            <a:ext cx="9964983" cy="572841"/>
          </a:xfrm>
        </p:spPr>
        <p:txBody>
          <a:bodyPr/>
          <a:lstStyle/>
          <a:p>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Leertheorieën</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vs.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theorieën</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uit</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de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natuurwetenschap</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graphicFrame>
        <p:nvGraphicFramePr>
          <p:cNvPr id="4" name="Table 3">
            <a:extLst>
              <a:ext uri="{FF2B5EF4-FFF2-40B4-BE49-F238E27FC236}">
                <a16:creationId xmlns:a16="http://schemas.microsoft.com/office/drawing/2014/main" id="{06F681EB-B263-A50E-0459-E1216FA7924C}"/>
              </a:ext>
            </a:extLst>
          </p:cNvPr>
          <p:cNvGraphicFramePr>
            <a:graphicFrameLocks noGrp="1"/>
          </p:cNvGraphicFramePr>
          <p:nvPr/>
        </p:nvGraphicFramePr>
        <p:xfrm>
          <a:off x="1057027" y="1525583"/>
          <a:ext cx="8686566" cy="5243843"/>
        </p:xfrm>
        <a:graphic>
          <a:graphicData uri="http://schemas.openxmlformats.org/drawingml/2006/table">
            <a:tbl>
              <a:tblPr firstRow="1" bandRow="1">
                <a:tableStyleId>{5C22544A-7EE6-4342-B048-85BDC9FD1C3A}</a:tableStyleId>
              </a:tblPr>
              <a:tblGrid>
                <a:gridCol w="2610932">
                  <a:extLst>
                    <a:ext uri="{9D8B030D-6E8A-4147-A177-3AD203B41FA5}">
                      <a16:colId xmlns:a16="http://schemas.microsoft.com/office/drawing/2014/main" val="20000"/>
                    </a:ext>
                  </a:extLst>
                </a:gridCol>
                <a:gridCol w="5059121">
                  <a:extLst>
                    <a:ext uri="{9D8B030D-6E8A-4147-A177-3AD203B41FA5}">
                      <a16:colId xmlns:a16="http://schemas.microsoft.com/office/drawing/2014/main" val="20001"/>
                    </a:ext>
                  </a:extLst>
                </a:gridCol>
                <a:gridCol w="1016513">
                  <a:extLst>
                    <a:ext uri="{9D8B030D-6E8A-4147-A177-3AD203B41FA5}">
                      <a16:colId xmlns:a16="http://schemas.microsoft.com/office/drawing/2014/main" val="20004"/>
                    </a:ext>
                  </a:extLst>
                </a:gridCol>
              </a:tblGrid>
              <a:tr h="533951">
                <a:tc>
                  <a:txBody>
                    <a:bodyPr/>
                    <a:lstStyle/>
                    <a:p>
                      <a:r>
                        <a:rPr lang="nl-NL" sz="1600" dirty="0">
                          <a:latin typeface="Gill Sans MT" panose="020B0502020104020203" pitchFamily="34" charset="0"/>
                        </a:rPr>
                        <a:t>Variabele</a:t>
                      </a:r>
                    </a:p>
                  </a:txBody>
                  <a:tcPr/>
                </a:tc>
                <a:tc>
                  <a:txBody>
                    <a:bodyPr/>
                    <a:lstStyle/>
                    <a:p>
                      <a:r>
                        <a:rPr lang="nl-NL" sz="1600" dirty="0">
                          <a:latin typeface="Gill Sans MT" panose="020B0502020104020203" pitchFamily="34" charset="0"/>
                        </a:rPr>
                        <a:t>Definitie</a:t>
                      </a:r>
                    </a:p>
                  </a:txBody>
                  <a:tcPr/>
                </a:tc>
                <a:tc>
                  <a:txBody>
                    <a:bodyPr/>
                    <a:lstStyle/>
                    <a:p>
                      <a:r>
                        <a:rPr lang="nl-NL" sz="1600" i="1" dirty="0">
                          <a:latin typeface="Gill Sans MT" panose="020B0502020104020203" pitchFamily="34" charset="0"/>
                        </a:rPr>
                        <a:t>d</a:t>
                      </a:r>
                    </a:p>
                  </a:txBody>
                  <a:tcPr/>
                </a:tc>
                <a:extLst>
                  <a:ext uri="{0D108BD9-81ED-4DB2-BD59-A6C34878D82A}">
                    <a16:rowId xmlns:a16="http://schemas.microsoft.com/office/drawing/2014/main" val="10000"/>
                  </a:ext>
                </a:extLst>
              </a:tr>
              <a:tr h="341916">
                <a:tc>
                  <a:txBody>
                    <a:bodyPr/>
                    <a:lstStyle/>
                    <a:p>
                      <a:r>
                        <a:rPr lang="nl-NL" sz="1600" dirty="0">
                          <a:latin typeface="Gill Sans MT" panose="020B0502020104020203" pitchFamily="34" charset="0"/>
                        </a:rPr>
                        <a:t>Leerdoelen</a:t>
                      </a:r>
                    </a:p>
                  </a:txBody>
                  <a:tcPr/>
                </a:tc>
                <a:tc>
                  <a:txBody>
                    <a:bodyPr/>
                    <a:lstStyle/>
                    <a:p>
                      <a:r>
                        <a:rPr lang="nl-NL" sz="1600" dirty="0">
                          <a:latin typeface="Gill Sans MT" panose="020B0502020104020203" pitchFamily="34" charset="0"/>
                        </a:rPr>
                        <a:t>Duidelijke leer-</a:t>
                      </a:r>
                      <a:r>
                        <a:rPr lang="nl-NL" sz="1600" baseline="0" dirty="0">
                          <a:latin typeface="Gill Sans MT" panose="020B0502020104020203" pitchFamily="34" charset="0"/>
                        </a:rPr>
                        <a:t> en cursusdoelen</a:t>
                      </a:r>
                      <a:endParaRPr lang="nl-NL" sz="1600" dirty="0">
                        <a:latin typeface="Gill Sans MT" panose="020B0502020104020203" pitchFamily="34" charset="0"/>
                      </a:endParaRPr>
                    </a:p>
                  </a:txBody>
                  <a:tcPr/>
                </a:tc>
                <a:tc>
                  <a:txBody>
                    <a:bodyPr/>
                    <a:lstStyle/>
                    <a:p>
                      <a:r>
                        <a:rPr lang="nl-NL" sz="1600" i="0" dirty="0">
                          <a:latin typeface="Gill Sans MT" panose="020B0502020104020203" pitchFamily="34" charset="0"/>
                        </a:rPr>
                        <a:t>0.75</a:t>
                      </a:r>
                    </a:p>
                  </a:txBody>
                  <a:tcPr/>
                </a:tc>
                <a:extLst>
                  <a:ext uri="{0D108BD9-81ED-4DB2-BD59-A6C34878D82A}">
                    <a16:rowId xmlns:a16="http://schemas.microsoft.com/office/drawing/2014/main" val="10001"/>
                  </a:ext>
                </a:extLst>
              </a:tr>
              <a:tr h="341916">
                <a:tc>
                  <a:txBody>
                    <a:bodyPr/>
                    <a:lstStyle/>
                    <a:p>
                      <a:r>
                        <a:rPr lang="nl-NL" sz="1600" dirty="0">
                          <a:latin typeface="Gill Sans MT" panose="020B0502020104020203" pitchFamily="34" charset="0"/>
                        </a:rPr>
                        <a:t>Open vragen</a:t>
                      </a:r>
                    </a:p>
                  </a:txBody>
                  <a:tcPr/>
                </a:tc>
                <a:tc>
                  <a:txBody>
                    <a:bodyPr/>
                    <a:lstStyle/>
                    <a:p>
                      <a:r>
                        <a:rPr lang="nl-NL" sz="1600" dirty="0">
                          <a:latin typeface="Gill Sans MT" panose="020B0502020104020203" pitchFamily="34" charset="0"/>
                        </a:rPr>
                        <a:t>Veel open</a:t>
                      </a:r>
                      <a:r>
                        <a:rPr lang="nl-NL" sz="1600" baseline="0" dirty="0">
                          <a:latin typeface="Gill Sans MT" panose="020B0502020104020203" pitchFamily="34" charset="0"/>
                        </a:rPr>
                        <a:t> vragen stellen tijdens onderwijs</a:t>
                      </a:r>
                      <a:endParaRPr lang="nl-NL" sz="1600" dirty="0">
                        <a:latin typeface="Gill Sans MT" panose="020B0502020104020203" pitchFamily="34" charset="0"/>
                      </a:endParaRPr>
                    </a:p>
                  </a:txBody>
                  <a:tcPr/>
                </a:tc>
                <a:tc>
                  <a:txBody>
                    <a:bodyPr/>
                    <a:lstStyle/>
                    <a:p>
                      <a:r>
                        <a:rPr lang="nl-NL" sz="1600" i="0" dirty="0">
                          <a:latin typeface="Gill Sans MT" panose="020B0502020104020203" pitchFamily="34" charset="0"/>
                        </a:rPr>
                        <a:t>0.73</a:t>
                      </a:r>
                    </a:p>
                  </a:txBody>
                  <a:tcPr/>
                </a:tc>
                <a:extLst>
                  <a:ext uri="{0D108BD9-81ED-4DB2-BD59-A6C34878D82A}">
                    <a16:rowId xmlns:a16="http://schemas.microsoft.com/office/drawing/2014/main" val="10002"/>
                  </a:ext>
                </a:extLst>
              </a:tr>
              <a:tr h="341916">
                <a:tc>
                  <a:txBody>
                    <a:bodyPr/>
                    <a:lstStyle/>
                    <a:p>
                      <a:r>
                        <a:rPr lang="nl-NL" sz="1600" kern="1200" dirty="0">
                          <a:solidFill>
                            <a:schemeClr val="dk1"/>
                          </a:solidFill>
                          <a:latin typeface="Gill Sans MT" panose="020B0502020104020203" pitchFamily="34" charset="0"/>
                          <a:ea typeface="+mn-ea"/>
                          <a:cs typeface="+mn-cs"/>
                        </a:rPr>
                        <a:t>Kwaliteit toetsing</a:t>
                      </a:r>
                    </a:p>
                  </a:txBody>
                  <a:tcPr/>
                </a:tc>
                <a:tc>
                  <a:txBody>
                    <a:bodyPr/>
                    <a:lstStyle/>
                    <a:p>
                      <a:r>
                        <a:rPr lang="nl-NL" sz="1600" kern="1200" baseline="0" dirty="0">
                          <a:solidFill>
                            <a:schemeClr val="dk1"/>
                          </a:solidFill>
                          <a:latin typeface="Gill Sans MT" panose="020B0502020104020203" pitchFamily="34" charset="0"/>
                          <a:ea typeface="+mn-ea"/>
                          <a:cs typeface="+mn-cs"/>
                        </a:rPr>
                        <a:t>Kwaliteit van toetsing</a:t>
                      </a:r>
                    </a:p>
                  </a:txBody>
                  <a:tcPr/>
                </a:tc>
                <a:tc>
                  <a:txBody>
                    <a:bodyPr/>
                    <a:lstStyle/>
                    <a:p>
                      <a:r>
                        <a:rPr lang="nl-NL" sz="1600" kern="1200" baseline="0" dirty="0">
                          <a:solidFill>
                            <a:schemeClr val="dk1"/>
                          </a:solidFill>
                          <a:latin typeface="Gill Sans MT" panose="020B0502020104020203" pitchFamily="34" charset="0"/>
                          <a:ea typeface="+mn-ea"/>
                          <a:cs typeface="+mn-cs"/>
                        </a:rPr>
                        <a:t>0.54</a:t>
                      </a:r>
                    </a:p>
                  </a:txBody>
                  <a:tcPr/>
                </a:tc>
                <a:extLst>
                  <a:ext uri="{0D108BD9-81ED-4DB2-BD59-A6C34878D82A}">
                    <a16:rowId xmlns:a16="http://schemas.microsoft.com/office/drawing/2014/main" val="10003"/>
                  </a:ext>
                </a:extLst>
              </a:tr>
              <a:tr h="533951">
                <a:tc>
                  <a:txBody>
                    <a:bodyPr/>
                    <a:lstStyle/>
                    <a:p>
                      <a:r>
                        <a:rPr lang="nl-NL" sz="1600" dirty="0" err="1">
                          <a:latin typeface="Gill Sans MT" panose="020B0502020104020203" pitchFamily="34" charset="0"/>
                        </a:rPr>
                        <a:t>Mastery</a:t>
                      </a:r>
                      <a:r>
                        <a:rPr lang="nl-NL" sz="1600" baseline="0" dirty="0">
                          <a:latin typeface="Gill Sans MT" panose="020B0502020104020203" pitchFamily="34" charset="0"/>
                        </a:rPr>
                        <a:t> </a:t>
                      </a:r>
                      <a:r>
                        <a:rPr lang="nl-NL" sz="1600" baseline="0" dirty="0" err="1">
                          <a:latin typeface="Gill Sans MT" panose="020B0502020104020203" pitchFamily="34" charset="0"/>
                        </a:rPr>
                        <a:t>learning</a:t>
                      </a:r>
                      <a:endParaRPr lang="nl-NL" sz="1600" dirty="0">
                        <a:latin typeface="Gill Sans MT" panose="020B0502020104020203" pitchFamily="34" charset="0"/>
                      </a:endParaRPr>
                    </a:p>
                  </a:txBody>
                  <a:tcPr/>
                </a:tc>
                <a:tc>
                  <a:txBody>
                    <a:bodyPr/>
                    <a:lstStyle/>
                    <a:p>
                      <a:r>
                        <a:rPr lang="nl-NL" sz="1600" dirty="0">
                          <a:latin typeface="Gill Sans MT" panose="020B0502020104020203" pitchFamily="34" charset="0"/>
                        </a:rPr>
                        <a:t>Studenten moeten laten zien stof te beheersen alvorens door te mogen naar volgende onderdeel</a:t>
                      </a:r>
                    </a:p>
                  </a:txBody>
                  <a:tcPr/>
                </a:tc>
                <a:tc>
                  <a:txBody>
                    <a:bodyPr/>
                    <a:lstStyle/>
                    <a:p>
                      <a:r>
                        <a:rPr lang="nl-NL" sz="1600" i="0" dirty="0">
                          <a:latin typeface="Gill Sans MT" panose="020B0502020104020203" pitchFamily="34" charset="0"/>
                        </a:rPr>
                        <a:t>0.53</a:t>
                      </a:r>
                    </a:p>
                  </a:txBody>
                  <a:tcPr/>
                </a:tc>
                <a:extLst>
                  <a:ext uri="{0D108BD9-81ED-4DB2-BD59-A6C34878D82A}">
                    <a16:rowId xmlns:a16="http://schemas.microsoft.com/office/drawing/2014/main" val="10004"/>
                  </a:ext>
                </a:extLst>
              </a:tr>
              <a:tr h="341916">
                <a:tc>
                  <a:txBody>
                    <a:bodyPr/>
                    <a:lstStyle/>
                    <a:p>
                      <a:r>
                        <a:rPr lang="nl-NL" sz="1600" dirty="0">
                          <a:latin typeface="Gill Sans MT" panose="020B0502020104020203" pitchFamily="34" charset="0"/>
                        </a:rPr>
                        <a:t>Intellectuele uitdaging</a:t>
                      </a:r>
                    </a:p>
                  </a:txBody>
                  <a:tcPr/>
                </a:tc>
                <a:tc>
                  <a:txBody>
                    <a:bodyPr/>
                    <a:lstStyle/>
                    <a:p>
                      <a:r>
                        <a:rPr lang="nl-NL" sz="1600" dirty="0">
                          <a:latin typeface="Gill Sans MT" panose="020B0502020104020203" pitchFamily="34" charset="0"/>
                        </a:rPr>
                        <a:t>Studenten</a:t>
                      </a:r>
                      <a:r>
                        <a:rPr lang="nl-NL" sz="1600" baseline="0" dirty="0">
                          <a:latin typeface="Gill Sans MT" panose="020B0502020104020203" pitchFamily="34" charset="0"/>
                        </a:rPr>
                        <a:t> worden intellectueel uitgedaagd</a:t>
                      </a:r>
                      <a:endParaRPr lang="nl-NL" sz="1600" dirty="0">
                        <a:latin typeface="Gill Sans MT" panose="020B0502020104020203" pitchFamily="34" charset="0"/>
                      </a:endParaRPr>
                    </a:p>
                  </a:txBody>
                  <a:tcPr/>
                </a:tc>
                <a:tc>
                  <a:txBody>
                    <a:bodyPr/>
                    <a:lstStyle/>
                    <a:p>
                      <a:r>
                        <a:rPr lang="nl-NL" sz="1600" i="0" dirty="0">
                          <a:latin typeface="Gill Sans MT" panose="020B0502020104020203" pitchFamily="34" charset="0"/>
                        </a:rPr>
                        <a:t>0.52</a:t>
                      </a:r>
                    </a:p>
                  </a:txBody>
                  <a:tcPr/>
                </a:tc>
                <a:extLst>
                  <a:ext uri="{0D108BD9-81ED-4DB2-BD59-A6C34878D82A}">
                    <a16:rowId xmlns:a16="http://schemas.microsoft.com/office/drawing/2014/main" val="10005"/>
                  </a:ext>
                </a:extLst>
              </a:tr>
              <a:tr h="341916">
                <a:tc>
                  <a:txBody>
                    <a:bodyPr/>
                    <a:lstStyle/>
                    <a:p>
                      <a:r>
                        <a:rPr lang="nl-NL" sz="1600" dirty="0">
                          <a:latin typeface="Gill Sans MT" panose="020B0502020104020203" pitchFamily="34" charset="0"/>
                        </a:rPr>
                        <a:t>Virtual </a:t>
                      </a:r>
                      <a:r>
                        <a:rPr lang="nl-NL" sz="1600" dirty="0" err="1">
                          <a:latin typeface="Gill Sans MT" panose="020B0502020104020203" pitchFamily="34" charset="0"/>
                        </a:rPr>
                        <a:t>reality</a:t>
                      </a:r>
                      <a:r>
                        <a:rPr lang="nl-NL" sz="1600" dirty="0">
                          <a:latin typeface="Gill Sans MT" panose="020B0502020104020203" pitchFamily="34" charset="0"/>
                        </a:rPr>
                        <a:t> games</a:t>
                      </a:r>
                    </a:p>
                  </a:txBody>
                  <a:tcPr/>
                </a:tc>
                <a:tc>
                  <a:txBody>
                    <a:bodyPr/>
                    <a:lstStyle/>
                    <a:p>
                      <a:r>
                        <a:rPr lang="nl-NL" sz="1600" dirty="0">
                          <a:latin typeface="Gill Sans MT" panose="020B0502020104020203" pitchFamily="34" charset="0"/>
                        </a:rPr>
                        <a:t>Educatieve games die een real-life situatie simuleren</a:t>
                      </a:r>
                    </a:p>
                  </a:txBody>
                  <a:tcPr/>
                </a:tc>
                <a:tc>
                  <a:txBody>
                    <a:bodyPr/>
                    <a:lstStyle/>
                    <a:p>
                      <a:r>
                        <a:rPr lang="nl-NL" sz="1600" i="0" dirty="0">
                          <a:latin typeface="Gill Sans MT" panose="020B0502020104020203" pitchFamily="34" charset="0"/>
                        </a:rPr>
                        <a:t>0.51</a:t>
                      </a:r>
                    </a:p>
                  </a:txBody>
                  <a:tcPr/>
                </a:tc>
                <a:extLst>
                  <a:ext uri="{0D108BD9-81ED-4DB2-BD59-A6C34878D82A}">
                    <a16:rowId xmlns:a16="http://schemas.microsoft.com/office/drawing/2014/main" val="10006"/>
                  </a:ext>
                </a:extLst>
              </a:tr>
              <a:tr h="533951">
                <a:tc>
                  <a:txBody>
                    <a:bodyPr/>
                    <a:lstStyle/>
                    <a:p>
                      <a:r>
                        <a:rPr lang="nl-NL" sz="1600" dirty="0">
                          <a:latin typeface="Gill Sans MT" panose="020B0502020104020203" pitchFamily="34" charset="0"/>
                        </a:rPr>
                        <a:t>Leren in kleine groepen</a:t>
                      </a:r>
                    </a:p>
                  </a:txBody>
                  <a:tcPr/>
                </a:tc>
                <a:tc>
                  <a:txBody>
                    <a:bodyPr/>
                    <a:lstStyle/>
                    <a:p>
                      <a:r>
                        <a:rPr lang="nl-NL" sz="1600" dirty="0">
                          <a:latin typeface="Gill Sans MT" panose="020B0502020104020203" pitchFamily="34" charset="0"/>
                        </a:rPr>
                        <a:t>Studenten werken in kleine</a:t>
                      </a:r>
                      <a:r>
                        <a:rPr lang="nl-NL" sz="1600" baseline="0" dirty="0">
                          <a:latin typeface="Gill Sans MT" panose="020B0502020104020203" pitchFamily="34" charset="0"/>
                        </a:rPr>
                        <a:t> groepen aan een gemeenschappelijk doel</a:t>
                      </a:r>
                      <a:endParaRPr lang="nl-NL" sz="1600" dirty="0">
                        <a:latin typeface="Gill Sans MT" panose="020B0502020104020203" pitchFamily="34" charset="0"/>
                      </a:endParaRPr>
                    </a:p>
                  </a:txBody>
                  <a:tcPr/>
                </a:tc>
                <a:tc>
                  <a:txBody>
                    <a:bodyPr/>
                    <a:lstStyle/>
                    <a:p>
                      <a:r>
                        <a:rPr lang="nl-NL" sz="1600" i="0" dirty="0">
                          <a:latin typeface="Gill Sans MT" panose="020B0502020104020203" pitchFamily="34" charset="0"/>
                        </a:rPr>
                        <a:t>0.51</a:t>
                      </a:r>
                    </a:p>
                  </a:txBody>
                  <a:tcPr/>
                </a:tc>
                <a:extLst>
                  <a:ext uri="{0D108BD9-81ED-4DB2-BD59-A6C34878D82A}">
                    <a16:rowId xmlns:a16="http://schemas.microsoft.com/office/drawing/2014/main" val="10007"/>
                  </a:ext>
                </a:extLst>
              </a:tr>
              <a:tr h="533951">
                <a:tc>
                  <a:txBody>
                    <a:bodyPr/>
                    <a:lstStyle/>
                    <a:p>
                      <a:r>
                        <a:rPr lang="nl-NL" sz="1600" dirty="0">
                          <a:latin typeface="Gill Sans MT" panose="020B0502020104020203" pitchFamily="34" charset="0"/>
                        </a:rPr>
                        <a:t>Training academische vaardigheden</a:t>
                      </a:r>
                    </a:p>
                  </a:txBody>
                  <a:tcPr/>
                </a:tc>
                <a:tc>
                  <a:txBody>
                    <a:bodyPr/>
                    <a:lstStyle/>
                    <a:p>
                      <a:r>
                        <a:rPr lang="nl-NL" sz="1600" dirty="0">
                          <a:latin typeface="Gill Sans MT" panose="020B0502020104020203" pitchFamily="34" charset="0"/>
                        </a:rPr>
                        <a:t>Interventies gericht op het ontwikkelen</a:t>
                      </a:r>
                      <a:r>
                        <a:rPr lang="nl-NL" sz="1600" baseline="0" dirty="0">
                          <a:latin typeface="Gill Sans MT" panose="020B0502020104020203" pitchFamily="34" charset="0"/>
                        </a:rPr>
                        <a:t> van academische vaardigheden</a:t>
                      </a:r>
                      <a:endParaRPr lang="nl-NL" sz="1600" dirty="0">
                        <a:latin typeface="Gill Sans MT" panose="020B0502020104020203" pitchFamily="34" charset="0"/>
                      </a:endParaRPr>
                    </a:p>
                  </a:txBody>
                  <a:tcPr/>
                </a:tc>
                <a:tc>
                  <a:txBody>
                    <a:bodyPr/>
                    <a:lstStyle/>
                    <a:p>
                      <a:r>
                        <a:rPr lang="nl-NL" sz="1600" i="0" dirty="0">
                          <a:latin typeface="Gill Sans MT" panose="020B0502020104020203" pitchFamily="34" charset="0"/>
                        </a:rPr>
                        <a:t>0.48</a:t>
                      </a:r>
                    </a:p>
                  </a:txBody>
                  <a:tcPr/>
                </a:tc>
                <a:extLst>
                  <a:ext uri="{0D108BD9-81ED-4DB2-BD59-A6C34878D82A}">
                    <a16:rowId xmlns:a16="http://schemas.microsoft.com/office/drawing/2014/main" val="10008"/>
                  </a:ext>
                </a:extLst>
              </a:tr>
              <a:tr h="341916">
                <a:tc>
                  <a:txBody>
                    <a:bodyPr/>
                    <a:lstStyle/>
                    <a:p>
                      <a:r>
                        <a:rPr lang="nl-NL" sz="1600" dirty="0">
                          <a:latin typeface="Gill Sans MT" panose="020B0502020104020203" pitchFamily="34" charset="0"/>
                        </a:rPr>
                        <a:t>…</a:t>
                      </a:r>
                    </a:p>
                  </a:txBody>
                  <a:tcPr/>
                </a:tc>
                <a:tc>
                  <a:txBody>
                    <a:bodyPr/>
                    <a:lstStyle/>
                    <a:p>
                      <a:endParaRPr lang="nl-NL" sz="1600" dirty="0">
                        <a:latin typeface="Gill Sans MT" panose="020B0502020104020203" pitchFamily="34" charset="0"/>
                      </a:endParaRPr>
                    </a:p>
                  </a:txBody>
                  <a:tcPr/>
                </a:tc>
                <a:tc>
                  <a:txBody>
                    <a:bodyPr/>
                    <a:lstStyle/>
                    <a:p>
                      <a:endParaRPr lang="nl-NL" sz="1600" i="0" dirty="0">
                        <a:latin typeface="Gill Sans MT" panose="020B0502020104020203" pitchFamily="34" charset="0"/>
                      </a:endParaRPr>
                    </a:p>
                  </a:txBody>
                  <a:tcPr/>
                </a:tc>
                <a:extLst>
                  <a:ext uri="{0D108BD9-81ED-4DB2-BD59-A6C34878D82A}">
                    <a16:rowId xmlns:a16="http://schemas.microsoft.com/office/drawing/2014/main" val="10009"/>
                  </a:ext>
                </a:extLst>
              </a:tr>
              <a:tr h="533951">
                <a:tc>
                  <a:txBody>
                    <a:bodyPr/>
                    <a:lstStyle/>
                    <a:p>
                      <a:r>
                        <a:rPr lang="nl-NL" sz="1600" dirty="0" err="1">
                          <a:latin typeface="Gill Sans MT" panose="020B0502020104020203" pitchFamily="34" charset="0"/>
                        </a:rPr>
                        <a:t>Probleem-gestuurd</a:t>
                      </a:r>
                      <a:r>
                        <a:rPr lang="nl-NL" sz="1600" dirty="0">
                          <a:latin typeface="Gill Sans MT" panose="020B0502020104020203" pitchFamily="34" charset="0"/>
                        </a:rPr>
                        <a:t> onderwijs</a:t>
                      </a:r>
                    </a:p>
                  </a:txBody>
                  <a:tcPr/>
                </a:tc>
                <a:tc>
                  <a:txBody>
                    <a:bodyPr/>
                    <a:lstStyle/>
                    <a:p>
                      <a:r>
                        <a:rPr lang="nl-NL" sz="1600" dirty="0">
                          <a:latin typeface="Gill Sans MT" panose="020B0502020104020203" pitchFamily="34" charset="0"/>
                        </a:rPr>
                        <a:t>In</a:t>
                      </a:r>
                      <a:r>
                        <a:rPr lang="nl-NL" sz="1600" baseline="0" dirty="0">
                          <a:latin typeface="Gill Sans MT" panose="020B0502020104020203" pitchFamily="34" charset="0"/>
                        </a:rPr>
                        <a:t> kleine groepen relatief moeilijke, authentieke problemen oplossen begeleid door een docent</a:t>
                      </a:r>
                      <a:endParaRPr lang="nl-NL" sz="1600" dirty="0">
                        <a:latin typeface="Gill Sans MT" panose="020B0502020104020203" pitchFamily="34" charset="0"/>
                      </a:endParaRPr>
                    </a:p>
                  </a:txBody>
                  <a:tcPr/>
                </a:tc>
                <a:tc>
                  <a:txBody>
                    <a:bodyPr/>
                    <a:lstStyle/>
                    <a:p>
                      <a:r>
                        <a:rPr lang="nl-NL" sz="1600" i="0" dirty="0">
                          <a:latin typeface="Gill Sans MT" panose="020B0502020104020203" pitchFamily="34" charset="0"/>
                        </a:rPr>
                        <a:t>-0.22</a:t>
                      </a:r>
                    </a:p>
                  </a:txBody>
                  <a:tcPr/>
                </a:tc>
                <a:extLst>
                  <a:ext uri="{0D108BD9-81ED-4DB2-BD59-A6C34878D82A}">
                    <a16:rowId xmlns:a16="http://schemas.microsoft.com/office/drawing/2014/main" val="10010"/>
                  </a:ext>
                </a:extLst>
              </a:tr>
              <a:tr h="341916">
                <a:tc>
                  <a:txBody>
                    <a:bodyPr/>
                    <a:lstStyle/>
                    <a:p>
                      <a:r>
                        <a:rPr lang="nl-NL" sz="1600" dirty="0" err="1">
                          <a:latin typeface="Gill Sans MT" panose="020B0502020104020203" pitchFamily="34" charset="0"/>
                        </a:rPr>
                        <a:t>Seductive</a:t>
                      </a:r>
                      <a:r>
                        <a:rPr lang="nl-NL" sz="1600" dirty="0">
                          <a:latin typeface="Gill Sans MT" panose="020B0502020104020203" pitchFamily="34" charset="0"/>
                        </a:rPr>
                        <a:t> details</a:t>
                      </a:r>
                    </a:p>
                  </a:txBody>
                  <a:tcPr/>
                </a:tc>
                <a:tc>
                  <a:txBody>
                    <a:bodyPr/>
                    <a:lstStyle/>
                    <a:p>
                      <a:r>
                        <a:rPr lang="nl-NL" sz="1600" dirty="0">
                          <a:latin typeface="Gill Sans MT" panose="020B0502020104020203" pitchFamily="34" charset="0"/>
                        </a:rPr>
                        <a:t>Interessante maar irrelevante informatie presenteren</a:t>
                      </a:r>
                    </a:p>
                  </a:txBody>
                  <a:tcPr/>
                </a:tc>
                <a:tc>
                  <a:txBody>
                    <a:bodyPr/>
                    <a:lstStyle/>
                    <a:p>
                      <a:r>
                        <a:rPr lang="nl-NL" sz="1600" i="0" dirty="0">
                          <a:latin typeface="Gill Sans MT" panose="020B0502020104020203" pitchFamily="34" charset="0"/>
                        </a:rPr>
                        <a:t>-0.30</a:t>
                      </a:r>
                    </a:p>
                  </a:txBody>
                  <a:tcPr/>
                </a:tc>
                <a:extLst>
                  <a:ext uri="{0D108BD9-81ED-4DB2-BD59-A6C34878D82A}">
                    <a16:rowId xmlns:a16="http://schemas.microsoft.com/office/drawing/2014/main" val="10011"/>
                  </a:ext>
                </a:extLst>
              </a:tr>
            </a:tbl>
          </a:graphicData>
        </a:graphic>
      </p:graphicFrame>
      <p:pic>
        <p:nvPicPr>
          <p:cNvPr id="3" name="Afbeelding 7">
            <a:extLst>
              <a:ext uri="{FF2B5EF4-FFF2-40B4-BE49-F238E27FC236}">
                <a16:creationId xmlns:a16="http://schemas.microsoft.com/office/drawing/2014/main" id="{81082EDB-952D-5FE8-A226-7797352DCD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34320" y="2964598"/>
            <a:ext cx="2965748" cy="2815691"/>
          </a:xfrm>
          <a:prstGeom prst="rect">
            <a:avLst/>
          </a:prstGeom>
        </p:spPr>
      </p:pic>
      <p:sp>
        <p:nvSpPr>
          <p:cNvPr id="5" name="Tekstvak 8">
            <a:extLst>
              <a:ext uri="{FF2B5EF4-FFF2-40B4-BE49-F238E27FC236}">
                <a16:creationId xmlns:a16="http://schemas.microsoft.com/office/drawing/2014/main" id="{F7E13E43-FC5B-DD50-CAC5-7FE0CBEE993C}"/>
              </a:ext>
            </a:extLst>
          </p:cNvPr>
          <p:cNvSpPr txBox="1"/>
          <p:nvPr/>
        </p:nvSpPr>
        <p:spPr>
          <a:xfrm>
            <a:off x="183543" y="3638209"/>
            <a:ext cx="2543647" cy="923330"/>
          </a:xfrm>
          <a:prstGeom prst="rect">
            <a:avLst/>
          </a:prstGeom>
          <a:noFill/>
        </p:spPr>
        <p:txBody>
          <a:bodyPr wrap="square" rtlCol="0">
            <a:spAutoFit/>
          </a:bodyPr>
          <a:lstStyle/>
          <a:p>
            <a:pPr algn="ctr"/>
            <a:r>
              <a:rPr lang="nl-NL" b="1" dirty="0">
                <a:solidFill>
                  <a:srgbClr val="C00000"/>
                </a:solidFill>
                <a:latin typeface="Gill Sans MT" pitchFamily="34" charset="0"/>
              </a:rPr>
              <a:t>Werkt PGO even slecht voor alle studenten?</a:t>
            </a:r>
          </a:p>
        </p:txBody>
      </p:sp>
      <p:pic>
        <p:nvPicPr>
          <p:cNvPr id="7" name="Afbeelding 7">
            <a:extLst>
              <a:ext uri="{FF2B5EF4-FFF2-40B4-BE49-F238E27FC236}">
                <a16:creationId xmlns:a16="http://schemas.microsoft.com/office/drawing/2014/main" id="{63638DA4-30CE-BC3F-CADA-B4AEDE6C9D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2727190" y="3674279"/>
            <a:ext cx="2965748" cy="2815691"/>
          </a:xfrm>
          <a:prstGeom prst="rect">
            <a:avLst/>
          </a:prstGeom>
        </p:spPr>
      </p:pic>
      <p:sp>
        <p:nvSpPr>
          <p:cNvPr id="8" name="Tekstvak 8">
            <a:extLst>
              <a:ext uri="{FF2B5EF4-FFF2-40B4-BE49-F238E27FC236}">
                <a16:creationId xmlns:a16="http://schemas.microsoft.com/office/drawing/2014/main" id="{DD61CF9F-30F4-6C28-904E-F4FB52980176}"/>
              </a:ext>
            </a:extLst>
          </p:cNvPr>
          <p:cNvSpPr txBox="1"/>
          <p:nvPr/>
        </p:nvSpPr>
        <p:spPr>
          <a:xfrm>
            <a:off x="2948421" y="4347890"/>
            <a:ext cx="2543647" cy="1077218"/>
          </a:xfrm>
          <a:prstGeom prst="rect">
            <a:avLst/>
          </a:prstGeom>
          <a:noFill/>
        </p:spPr>
        <p:txBody>
          <a:bodyPr wrap="square" rtlCol="0">
            <a:spAutoFit/>
          </a:bodyPr>
          <a:lstStyle/>
          <a:p>
            <a:pPr algn="ctr"/>
            <a:r>
              <a:rPr lang="nl-NL" sz="1600" b="1" dirty="0">
                <a:solidFill>
                  <a:srgbClr val="C00000"/>
                </a:solidFill>
                <a:latin typeface="Gill Sans MT" pitchFamily="34" charset="0"/>
              </a:rPr>
              <a:t>Als aan alle PGO-kenmerken is voldaan, werkt het dan nog steeds slecht?</a:t>
            </a:r>
          </a:p>
        </p:txBody>
      </p:sp>
      <p:pic>
        <p:nvPicPr>
          <p:cNvPr id="9" name="Afbeelding 7">
            <a:extLst>
              <a:ext uri="{FF2B5EF4-FFF2-40B4-BE49-F238E27FC236}">
                <a16:creationId xmlns:a16="http://schemas.microsoft.com/office/drawing/2014/main" id="{95EABC80-67FF-3007-EE9C-3DA7A7B76C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6271254" y="3674279"/>
            <a:ext cx="2965748" cy="2815691"/>
          </a:xfrm>
          <a:prstGeom prst="rect">
            <a:avLst/>
          </a:prstGeom>
        </p:spPr>
      </p:pic>
      <p:sp>
        <p:nvSpPr>
          <p:cNvPr id="10" name="Tekstvak 8">
            <a:extLst>
              <a:ext uri="{FF2B5EF4-FFF2-40B4-BE49-F238E27FC236}">
                <a16:creationId xmlns:a16="http://schemas.microsoft.com/office/drawing/2014/main" id="{416E253F-7578-C040-450D-194D14DCC5B1}"/>
              </a:ext>
            </a:extLst>
          </p:cNvPr>
          <p:cNvSpPr txBox="1"/>
          <p:nvPr/>
        </p:nvSpPr>
        <p:spPr>
          <a:xfrm>
            <a:off x="6492485" y="4347890"/>
            <a:ext cx="2543647" cy="830997"/>
          </a:xfrm>
          <a:prstGeom prst="rect">
            <a:avLst/>
          </a:prstGeom>
          <a:noFill/>
        </p:spPr>
        <p:txBody>
          <a:bodyPr wrap="square" rtlCol="0">
            <a:spAutoFit/>
          </a:bodyPr>
          <a:lstStyle/>
          <a:p>
            <a:pPr algn="ctr"/>
            <a:r>
              <a:rPr lang="nl-NL" sz="1600" b="1" dirty="0">
                <a:solidFill>
                  <a:srgbClr val="C00000"/>
                </a:solidFill>
                <a:latin typeface="Gill Sans MT" pitchFamily="34" charset="0"/>
              </a:rPr>
              <a:t>Werkt PGO even slecht voor kritisch denken als voor kennisreproductie?</a:t>
            </a:r>
          </a:p>
        </p:txBody>
      </p:sp>
    </p:spTree>
    <p:extLst>
      <p:ext uri="{BB962C8B-B14F-4D97-AF65-F5344CB8AC3E}">
        <p14:creationId xmlns:p14="http://schemas.microsoft.com/office/powerpoint/2010/main" val="2960143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3E7B1-6F3B-4D03-9E50-EDE61CFD3EE1}"/>
              </a:ext>
            </a:extLst>
          </p:cNvPr>
          <p:cNvSpPr>
            <a:spLocks noGrp="1"/>
          </p:cNvSpPr>
          <p:nvPr>
            <p:ph type="title"/>
          </p:nvPr>
        </p:nvSpPr>
        <p:spPr>
          <a:xfrm>
            <a:off x="1013496" y="1114736"/>
            <a:ext cx="9964983" cy="572841"/>
          </a:xfrm>
        </p:spPr>
        <p:txBody>
          <a:bodyPr/>
          <a:lstStyle/>
          <a:p>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Leertheorieën</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en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implicaties</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voor</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de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praktijk</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4" name="TextBox 3">
            <a:extLst>
              <a:ext uri="{FF2B5EF4-FFF2-40B4-BE49-F238E27FC236}">
                <a16:creationId xmlns:a16="http://schemas.microsoft.com/office/drawing/2014/main" id="{6C142818-AA1C-49CD-A5A4-05FB094E4E6F}"/>
              </a:ext>
            </a:extLst>
          </p:cNvPr>
          <p:cNvSpPr txBox="1"/>
          <p:nvPr/>
        </p:nvSpPr>
        <p:spPr>
          <a:xfrm>
            <a:off x="1173163" y="2132856"/>
            <a:ext cx="10613056" cy="2585323"/>
          </a:xfrm>
          <a:prstGeom prst="rect">
            <a:avLst/>
          </a:prstGeom>
          <a:noFill/>
        </p:spPr>
        <p:txBody>
          <a:bodyPr wrap="square" lIns="0" tIns="0" rIns="0" bIns="0" rtlCol="0">
            <a:spAutoFit/>
          </a:bodyPr>
          <a:lstStyle/>
          <a:p>
            <a:r>
              <a:rPr lang="nl-NL" sz="2400" dirty="0">
                <a:solidFill>
                  <a:srgbClr val="C00000"/>
                </a:solidFill>
                <a:latin typeface="Open Sans Light"/>
              </a:rPr>
              <a:t>Praktijk</a:t>
            </a:r>
            <a:r>
              <a:rPr lang="nl-NL" sz="2400" dirty="0">
                <a:latin typeface="Open Sans Light"/>
              </a:rPr>
              <a:t>: het lesgeven, onderwijzen, ontwerpen van lesmateriaal, training, etc.</a:t>
            </a:r>
          </a:p>
          <a:p>
            <a:endParaRPr lang="nl-NL" sz="2400" dirty="0">
              <a:latin typeface="Open Sans Light"/>
            </a:endParaRPr>
          </a:p>
          <a:p>
            <a:r>
              <a:rPr lang="nl-NL" sz="2400" dirty="0" err="1">
                <a:latin typeface="Open Sans Light"/>
              </a:rPr>
              <a:t>Ertmer</a:t>
            </a:r>
            <a:r>
              <a:rPr lang="nl-NL" sz="2400" dirty="0">
                <a:latin typeface="Open Sans Light"/>
              </a:rPr>
              <a:t> &amp; </a:t>
            </a:r>
            <a:r>
              <a:rPr lang="nl-NL" sz="2400" dirty="0" err="1">
                <a:latin typeface="Open Sans Light"/>
              </a:rPr>
              <a:t>Newby</a:t>
            </a:r>
            <a:r>
              <a:rPr lang="nl-NL" sz="2400" dirty="0">
                <a:latin typeface="Open Sans Light"/>
              </a:rPr>
              <a:t>: </a:t>
            </a:r>
            <a:r>
              <a:rPr lang="nl-NL" sz="2400" dirty="0" err="1">
                <a:solidFill>
                  <a:srgbClr val="C00000"/>
                </a:solidFill>
                <a:latin typeface="Open Sans Light"/>
              </a:rPr>
              <a:t>Linking</a:t>
            </a:r>
            <a:r>
              <a:rPr lang="nl-NL" sz="2400" dirty="0">
                <a:solidFill>
                  <a:srgbClr val="C00000"/>
                </a:solidFill>
                <a:latin typeface="Open Sans Light"/>
              </a:rPr>
              <a:t> </a:t>
            </a:r>
            <a:r>
              <a:rPr lang="nl-NL" sz="2400" dirty="0" err="1">
                <a:solidFill>
                  <a:srgbClr val="C00000"/>
                </a:solidFill>
                <a:latin typeface="Open Sans Light"/>
              </a:rPr>
              <a:t>science</a:t>
            </a:r>
            <a:r>
              <a:rPr lang="nl-NL" sz="2400" dirty="0">
                <a:solidFill>
                  <a:srgbClr val="C00000"/>
                </a:solidFill>
                <a:latin typeface="Open Sans Light"/>
              </a:rPr>
              <a:t> </a:t>
            </a:r>
            <a:r>
              <a:rPr lang="nl-NL" sz="2400" dirty="0">
                <a:latin typeface="Open Sans Light"/>
              </a:rPr>
              <a:t>(=</a:t>
            </a:r>
            <a:r>
              <a:rPr lang="nl-NL" sz="2400" dirty="0" err="1">
                <a:latin typeface="Open Sans Light"/>
              </a:rPr>
              <a:t>instructional</a:t>
            </a:r>
            <a:r>
              <a:rPr lang="nl-NL" sz="2400" dirty="0">
                <a:latin typeface="Open Sans Light"/>
              </a:rPr>
              <a:t> design)</a:t>
            </a:r>
          </a:p>
          <a:p>
            <a:endParaRPr lang="nl-NL" sz="2400" dirty="0">
              <a:latin typeface="Open Sans Light"/>
            </a:endParaRPr>
          </a:p>
          <a:p>
            <a:r>
              <a:rPr lang="nl-NL" sz="2400" dirty="0">
                <a:latin typeface="Open Sans Light"/>
              </a:rPr>
              <a:t>Vertaling naar praktijk kent veel </a:t>
            </a:r>
            <a:r>
              <a:rPr lang="nl-NL" sz="2400" dirty="0">
                <a:solidFill>
                  <a:srgbClr val="C00000"/>
                </a:solidFill>
                <a:latin typeface="Open Sans Light"/>
              </a:rPr>
              <a:t>onzekerheden</a:t>
            </a:r>
          </a:p>
          <a:p>
            <a:endParaRPr lang="nl-NL" sz="2400" dirty="0">
              <a:latin typeface="Open Sans Light"/>
            </a:endParaRPr>
          </a:p>
          <a:p>
            <a:r>
              <a:rPr lang="nl-NL" sz="2400" dirty="0">
                <a:latin typeface="Open Sans Light"/>
              </a:rPr>
              <a:t>Daarom: </a:t>
            </a:r>
            <a:r>
              <a:rPr lang="nl-NL" sz="2400" dirty="0">
                <a:solidFill>
                  <a:srgbClr val="C00000"/>
                </a:solidFill>
                <a:latin typeface="Open Sans Light"/>
              </a:rPr>
              <a:t>probabilistisch</a:t>
            </a:r>
            <a:r>
              <a:rPr lang="nl-NL" sz="2400" dirty="0">
                <a:latin typeface="Open Sans Light"/>
              </a:rPr>
              <a:t> (Kirschner et al., 2004)</a:t>
            </a:r>
          </a:p>
        </p:txBody>
      </p:sp>
      <p:sp>
        <p:nvSpPr>
          <p:cNvPr id="5" name="Rectangle 4">
            <a:extLst>
              <a:ext uri="{FF2B5EF4-FFF2-40B4-BE49-F238E27FC236}">
                <a16:creationId xmlns:a16="http://schemas.microsoft.com/office/drawing/2014/main" id="{F0629C0B-092E-CB69-C5DD-5358C9AA6AA4}"/>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4750956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6F464AD-4CA2-3BEF-27A0-3B72FB66CB4E}"/>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69F3E7B1-6F3B-4D03-9E50-EDE61CFD3EE1}"/>
              </a:ext>
            </a:extLst>
          </p:cNvPr>
          <p:cNvSpPr>
            <a:spLocks noGrp="1"/>
          </p:cNvSpPr>
          <p:nvPr>
            <p:ph type="title"/>
          </p:nvPr>
        </p:nvSpPr>
        <p:spPr>
          <a:xfrm>
            <a:off x="1013496" y="1114736"/>
            <a:ext cx="9964983" cy="572841"/>
          </a:xfrm>
        </p:spPr>
        <p:txBody>
          <a:bodyPr/>
          <a:lstStyle/>
          <a:p>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In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onderwijs</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is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weinig</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controversiëler</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dan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een</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leertheorie</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7" name="Picture 6">
            <a:extLst>
              <a:ext uri="{FF2B5EF4-FFF2-40B4-BE49-F238E27FC236}">
                <a16:creationId xmlns:a16="http://schemas.microsoft.com/office/drawing/2014/main" id="{1596B336-28F6-2788-D103-332A3D167A7B}"/>
              </a:ext>
            </a:extLst>
          </p:cNvPr>
          <p:cNvPicPr>
            <a:picLocks noChangeAspect="1"/>
          </p:cNvPicPr>
          <p:nvPr/>
        </p:nvPicPr>
        <p:blipFill>
          <a:blip r:embed="rId3"/>
          <a:stretch>
            <a:fillRect/>
          </a:stretch>
        </p:blipFill>
        <p:spPr>
          <a:xfrm>
            <a:off x="335427" y="1962467"/>
            <a:ext cx="8049748" cy="800212"/>
          </a:xfrm>
          <a:prstGeom prst="rect">
            <a:avLst/>
          </a:prstGeom>
        </p:spPr>
      </p:pic>
      <p:pic>
        <p:nvPicPr>
          <p:cNvPr id="9" name="Picture 8">
            <a:extLst>
              <a:ext uri="{FF2B5EF4-FFF2-40B4-BE49-F238E27FC236}">
                <a16:creationId xmlns:a16="http://schemas.microsoft.com/office/drawing/2014/main" id="{890E4E93-ECC2-A3CD-2C58-81961052EB22}"/>
              </a:ext>
            </a:extLst>
          </p:cNvPr>
          <p:cNvPicPr>
            <a:picLocks noChangeAspect="1"/>
          </p:cNvPicPr>
          <p:nvPr/>
        </p:nvPicPr>
        <p:blipFill>
          <a:blip r:embed="rId4"/>
          <a:stretch>
            <a:fillRect/>
          </a:stretch>
        </p:blipFill>
        <p:spPr>
          <a:xfrm>
            <a:off x="4665143" y="2751779"/>
            <a:ext cx="7440063" cy="571580"/>
          </a:xfrm>
          <a:prstGeom prst="rect">
            <a:avLst/>
          </a:prstGeom>
        </p:spPr>
      </p:pic>
      <p:pic>
        <p:nvPicPr>
          <p:cNvPr id="11" name="Picture 10">
            <a:extLst>
              <a:ext uri="{FF2B5EF4-FFF2-40B4-BE49-F238E27FC236}">
                <a16:creationId xmlns:a16="http://schemas.microsoft.com/office/drawing/2014/main" id="{11D6AA2B-A96A-BB6D-7AA3-44AC7C2F498A}"/>
              </a:ext>
            </a:extLst>
          </p:cNvPr>
          <p:cNvPicPr>
            <a:picLocks noChangeAspect="1"/>
          </p:cNvPicPr>
          <p:nvPr/>
        </p:nvPicPr>
        <p:blipFill>
          <a:blip r:embed="rId5"/>
          <a:stretch>
            <a:fillRect/>
          </a:stretch>
        </p:blipFill>
        <p:spPr>
          <a:xfrm>
            <a:off x="466239" y="3429000"/>
            <a:ext cx="4954478" cy="3164159"/>
          </a:xfrm>
          <a:prstGeom prst="rect">
            <a:avLst/>
          </a:prstGeom>
        </p:spPr>
      </p:pic>
    </p:spTree>
    <p:extLst>
      <p:ext uri="{BB962C8B-B14F-4D97-AF65-F5344CB8AC3E}">
        <p14:creationId xmlns:p14="http://schemas.microsoft.com/office/powerpoint/2010/main" val="1151793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3E7B1-6F3B-4D03-9E50-EDE61CFD3EE1}"/>
              </a:ext>
            </a:extLst>
          </p:cNvPr>
          <p:cNvSpPr>
            <a:spLocks noGrp="1"/>
          </p:cNvSpPr>
          <p:nvPr>
            <p:ph type="title"/>
          </p:nvPr>
        </p:nvSpPr>
        <p:spPr>
          <a:xfrm>
            <a:off x="1013496" y="1114736"/>
            <a:ext cx="9964983" cy="572841"/>
          </a:xfrm>
          <a:solidFill>
            <a:schemeClr val="bg1"/>
          </a:solidFill>
        </p:spPr>
        <p:txBody>
          <a:bodyPr/>
          <a:lstStyle/>
          <a:p>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Een</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enorme</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vereenvoudiging</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5" name="Rectangle 4">
            <a:extLst>
              <a:ext uri="{FF2B5EF4-FFF2-40B4-BE49-F238E27FC236}">
                <a16:creationId xmlns:a16="http://schemas.microsoft.com/office/drawing/2014/main" id="{F0629C0B-092E-CB69-C5DD-5358C9AA6AA4}"/>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hthoek 3">
            <a:extLst>
              <a:ext uri="{FF2B5EF4-FFF2-40B4-BE49-F238E27FC236}">
                <a16:creationId xmlns:a16="http://schemas.microsoft.com/office/drawing/2014/main" id="{1E8D895A-0D1C-5F16-F870-0DAFDAB9EB8A}"/>
              </a:ext>
            </a:extLst>
          </p:cNvPr>
          <p:cNvSpPr/>
          <p:nvPr/>
        </p:nvSpPr>
        <p:spPr>
          <a:xfrm>
            <a:off x="7921491" y="3068960"/>
            <a:ext cx="2259940" cy="1357266"/>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20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Constructivisme</a:t>
            </a:r>
          </a:p>
        </p:txBody>
      </p:sp>
      <p:sp>
        <p:nvSpPr>
          <p:cNvPr id="8" name="Rechthoek 3">
            <a:extLst>
              <a:ext uri="{FF2B5EF4-FFF2-40B4-BE49-F238E27FC236}">
                <a16:creationId xmlns:a16="http://schemas.microsoft.com/office/drawing/2014/main" id="{7CF4D7A0-72D6-AEBF-D2AE-24E7621BF3AA}"/>
              </a:ext>
            </a:extLst>
          </p:cNvPr>
          <p:cNvSpPr/>
          <p:nvPr/>
        </p:nvSpPr>
        <p:spPr>
          <a:xfrm>
            <a:off x="5085487" y="3068960"/>
            <a:ext cx="2259940" cy="135726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2000" i="1" dirty="0">
                <a:solidFill>
                  <a:schemeClr val="tx1"/>
                </a:solidFill>
                <a:latin typeface="Gill Sans MT" pitchFamily="34" charset="0"/>
                <a:cs typeface="Aharoni" pitchFamily="2" charset="-79"/>
              </a:rPr>
              <a:t>Cognitieve psychologie</a:t>
            </a:r>
          </a:p>
        </p:txBody>
      </p:sp>
      <p:sp>
        <p:nvSpPr>
          <p:cNvPr id="10" name="Rechthoek 3">
            <a:extLst>
              <a:ext uri="{FF2B5EF4-FFF2-40B4-BE49-F238E27FC236}">
                <a16:creationId xmlns:a16="http://schemas.microsoft.com/office/drawing/2014/main" id="{56AD22FE-C63B-FD0F-9929-2BCAD9A96B06}"/>
              </a:ext>
            </a:extLst>
          </p:cNvPr>
          <p:cNvSpPr/>
          <p:nvPr/>
        </p:nvSpPr>
        <p:spPr>
          <a:xfrm>
            <a:off x="2249483" y="3068960"/>
            <a:ext cx="2259940" cy="1357266"/>
          </a:xfrm>
          <a:prstGeom prst="rect">
            <a:avLst/>
          </a:prstGeom>
          <a:solidFill>
            <a:srgbClr val="C8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20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Behaviorisme</a:t>
            </a:r>
          </a:p>
        </p:txBody>
      </p:sp>
      <p:cxnSp>
        <p:nvCxnSpPr>
          <p:cNvPr id="3" name="Straight Connector 2">
            <a:extLst>
              <a:ext uri="{FF2B5EF4-FFF2-40B4-BE49-F238E27FC236}">
                <a16:creationId xmlns:a16="http://schemas.microsoft.com/office/drawing/2014/main" id="{3E189E0B-A7E3-ACFA-485A-6DAFF51370E2}"/>
              </a:ext>
            </a:extLst>
          </p:cNvPr>
          <p:cNvCxnSpPr>
            <a:cxnSpLocks/>
          </p:cNvCxnSpPr>
          <p:nvPr/>
        </p:nvCxnSpPr>
        <p:spPr>
          <a:xfrm>
            <a:off x="1173163" y="6309320"/>
            <a:ext cx="10541048" cy="0"/>
          </a:xfrm>
          <a:prstGeom prst="line">
            <a:avLst/>
          </a:prstGeom>
          <a:ln w="38100"/>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DDAF2BBD-C8A0-A8CD-6197-608C4B35AE7A}"/>
              </a:ext>
            </a:extLst>
          </p:cNvPr>
          <p:cNvSpPr txBox="1"/>
          <p:nvPr/>
        </p:nvSpPr>
        <p:spPr>
          <a:xfrm>
            <a:off x="1029335" y="6389288"/>
            <a:ext cx="461665" cy="276999"/>
          </a:xfrm>
          <a:prstGeom prst="rect">
            <a:avLst/>
          </a:prstGeom>
          <a:noFill/>
        </p:spPr>
        <p:txBody>
          <a:bodyPr wrap="none" lIns="0" tIns="0" rIns="0" bIns="0" rtlCol="0">
            <a:spAutoFit/>
          </a:bodyPr>
          <a:lstStyle/>
          <a:p>
            <a:r>
              <a:rPr lang="en-GB" dirty="0">
                <a:latin typeface="Gill Sans MT" panose="020B0502020104020203" pitchFamily="34" charset="0"/>
              </a:rPr>
              <a:t>1885</a:t>
            </a:r>
            <a:endParaRPr lang="en-NL" dirty="0">
              <a:latin typeface="Gill Sans MT" panose="020B0502020104020203" pitchFamily="34" charset="0"/>
            </a:endParaRPr>
          </a:p>
        </p:txBody>
      </p:sp>
      <p:sp>
        <p:nvSpPr>
          <p:cNvPr id="7" name="TextBox 6">
            <a:extLst>
              <a:ext uri="{FF2B5EF4-FFF2-40B4-BE49-F238E27FC236}">
                <a16:creationId xmlns:a16="http://schemas.microsoft.com/office/drawing/2014/main" id="{45F5996B-AFA9-C1E1-05D9-8BF6EF130496}"/>
              </a:ext>
            </a:extLst>
          </p:cNvPr>
          <p:cNvSpPr txBox="1"/>
          <p:nvPr/>
        </p:nvSpPr>
        <p:spPr>
          <a:xfrm>
            <a:off x="11291408" y="6389590"/>
            <a:ext cx="461665" cy="276999"/>
          </a:xfrm>
          <a:prstGeom prst="rect">
            <a:avLst/>
          </a:prstGeom>
          <a:noFill/>
        </p:spPr>
        <p:txBody>
          <a:bodyPr wrap="none" lIns="0" tIns="0" rIns="0" bIns="0" rtlCol="0">
            <a:spAutoFit/>
          </a:bodyPr>
          <a:lstStyle/>
          <a:p>
            <a:r>
              <a:rPr lang="en-GB" dirty="0">
                <a:latin typeface="Gill Sans MT" panose="020B0502020104020203" pitchFamily="34" charset="0"/>
              </a:rPr>
              <a:t>2025</a:t>
            </a:r>
            <a:endParaRPr lang="en-NL" dirty="0">
              <a:latin typeface="Gill Sans MT" panose="020B0502020104020203" pitchFamily="34" charset="0"/>
            </a:endParaRPr>
          </a:p>
        </p:txBody>
      </p:sp>
    </p:spTree>
    <p:extLst>
      <p:ext uri="{BB962C8B-B14F-4D97-AF65-F5344CB8AC3E}">
        <p14:creationId xmlns:p14="http://schemas.microsoft.com/office/powerpoint/2010/main" val="1985647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3E7B1-6F3B-4D03-9E50-EDE61CFD3EE1}"/>
              </a:ext>
            </a:extLst>
          </p:cNvPr>
          <p:cNvSpPr>
            <a:spLocks noGrp="1"/>
          </p:cNvSpPr>
          <p:nvPr>
            <p:ph type="title"/>
          </p:nvPr>
        </p:nvSpPr>
        <p:spPr>
          <a:xfrm>
            <a:off x="1013496" y="1114736"/>
            <a:ext cx="9964983" cy="572841"/>
          </a:xfrm>
          <a:solidFill>
            <a:schemeClr val="bg1"/>
          </a:solidFill>
        </p:spPr>
        <p:txBody>
          <a:bodyPr/>
          <a:lstStyle/>
          <a:p>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De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werkelijkheid</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misschien</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5" name="Rectangle 4">
            <a:extLst>
              <a:ext uri="{FF2B5EF4-FFF2-40B4-BE49-F238E27FC236}">
                <a16:creationId xmlns:a16="http://schemas.microsoft.com/office/drawing/2014/main" id="{F0629C0B-092E-CB69-C5DD-5358C9AA6AA4}"/>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hthoek 3">
            <a:extLst>
              <a:ext uri="{FF2B5EF4-FFF2-40B4-BE49-F238E27FC236}">
                <a16:creationId xmlns:a16="http://schemas.microsoft.com/office/drawing/2014/main" id="{1E8D895A-0D1C-5F16-F870-0DAFDAB9EB8A}"/>
              </a:ext>
            </a:extLst>
          </p:cNvPr>
          <p:cNvSpPr/>
          <p:nvPr/>
        </p:nvSpPr>
        <p:spPr>
          <a:xfrm>
            <a:off x="53768" y="2171497"/>
            <a:ext cx="1119395" cy="504107"/>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err="1">
                <a:solidFill>
                  <a:schemeClr val="bg1"/>
                </a:solidFill>
                <a:effectLst>
                  <a:outerShdw blurRad="38100" dist="38100" dir="2700000" algn="tl">
                    <a:srgbClr val="000000">
                      <a:alpha val="43137"/>
                    </a:srgbClr>
                  </a:outerShdw>
                </a:effectLst>
                <a:latin typeface="Gill Sans MT" pitchFamily="34" charset="0"/>
                <a:cs typeface="Aharoni" pitchFamily="2" charset="-79"/>
              </a:rPr>
              <a:t>Constructi-visme</a:t>
            </a:r>
            <a:endPar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endParaRPr>
          </a:p>
        </p:txBody>
      </p:sp>
      <p:sp>
        <p:nvSpPr>
          <p:cNvPr id="8" name="Rechthoek 3">
            <a:extLst>
              <a:ext uri="{FF2B5EF4-FFF2-40B4-BE49-F238E27FC236}">
                <a16:creationId xmlns:a16="http://schemas.microsoft.com/office/drawing/2014/main" id="{7CF4D7A0-72D6-AEBF-D2AE-24E7621BF3AA}"/>
              </a:ext>
            </a:extLst>
          </p:cNvPr>
          <p:cNvSpPr/>
          <p:nvPr/>
        </p:nvSpPr>
        <p:spPr>
          <a:xfrm>
            <a:off x="53768" y="3717755"/>
            <a:ext cx="1119395" cy="50410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a:solidFill>
                  <a:schemeClr val="tx1"/>
                </a:solidFill>
                <a:effectLst>
                  <a:outerShdw blurRad="38100" dist="38100" dir="2700000" algn="tl">
                    <a:srgbClr val="000000">
                      <a:alpha val="43137"/>
                    </a:srgbClr>
                  </a:outerShdw>
                </a:effectLst>
                <a:latin typeface="Gill Sans MT" pitchFamily="34" charset="0"/>
                <a:cs typeface="Aharoni" pitchFamily="2" charset="-79"/>
              </a:rPr>
              <a:t>Cognitieve psychologie</a:t>
            </a:r>
          </a:p>
        </p:txBody>
      </p:sp>
      <p:sp>
        <p:nvSpPr>
          <p:cNvPr id="10" name="Rechthoek 3">
            <a:extLst>
              <a:ext uri="{FF2B5EF4-FFF2-40B4-BE49-F238E27FC236}">
                <a16:creationId xmlns:a16="http://schemas.microsoft.com/office/drawing/2014/main" id="{56AD22FE-C63B-FD0F-9929-2BCAD9A96B06}"/>
              </a:ext>
            </a:extLst>
          </p:cNvPr>
          <p:cNvSpPr/>
          <p:nvPr/>
        </p:nvSpPr>
        <p:spPr>
          <a:xfrm>
            <a:off x="53768" y="5693807"/>
            <a:ext cx="1107812" cy="504106"/>
          </a:xfrm>
          <a:prstGeom prst="rect">
            <a:avLst/>
          </a:prstGeom>
          <a:solidFill>
            <a:srgbClr val="C8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Behaviorisme</a:t>
            </a:r>
          </a:p>
        </p:txBody>
      </p:sp>
      <p:cxnSp>
        <p:nvCxnSpPr>
          <p:cNvPr id="4" name="Straight Connector 3">
            <a:extLst>
              <a:ext uri="{FF2B5EF4-FFF2-40B4-BE49-F238E27FC236}">
                <a16:creationId xmlns:a16="http://schemas.microsoft.com/office/drawing/2014/main" id="{B21BDCB4-A384-C639-2252-FB210F86926F}"/>
              </a:ext>
            </a:extLst>
          </p:cNvPr>
          <p:cNvCxnSpPr>
            <a:cxnSpLocks/>
          </p:cNvCxnSpPr>
          <p:nvPr/>
        </p:nvCxnSpPr>
        <p:spPr>
          <a:xfrm>
            <a:off x="1173163" y="6309320"/>
            <a:ext cx="10541048" cy="0"/>
          </a:xfrm>
          <a:prstGeom prst="line">
            <a:avLst/>
          </a:prstGeom>
          <a:ln w="38100"/>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7ED9814E-61DD-86AE-9FD0-1B9B96D8375B}"/>
              </a:ext>
            </a:extLst>
          </p:cNvPr>
          <p:cNvSpPr txBox="1"/>
          <p:nvPr/>
        </p:nvSpPr>
        <p:spPr>
          <a:xfrm>
            <a:off x="1029335" y="6389288"/>
            <a:ext cx="461665" cy="276999"/>
          </a:xfrm>
          <a:prstGeom prst="rect">
            <a:avLst/>
          </a:prstGeom>
          <a:noFill/>
        </p:spPr>
        <p:txBody>
          <a:bodyPr wrap="none" lIns="0" tIns="0" rIns="0" bIns="0" rtlCol="0">
            <a:spAutoFit/>
          </a:bodyPr>
          <a:lstStyle/>
          <a:p>
            <a:r>
              <a:rPr lang="en-GB" dirty="0">
                <a:latin typeface="Gill Sans MT" panose="020B0502020104020203" pitchFamily="34" charset="0"/>
              </a:rPr>
              <a:t>1885</a:t>
            </a:r>
            <a:endParaRPr lang="en-NL" dirty="0">
              <a:latin typeface="Gill Sans MT" panose="020B0502020104020203" pitchFamily="34" charset="0"/>
            </a:endParaRPr>
          </a:p>
        </p:txBody>
      </p:sp>
      <p:sp>
        <p:nvSpPr>
          <p:cNvPr id="9" name="TextBox 8">
            <a:extLst>
              <a:ext uri="{FF2B5EF4-FFF2-40B4-BE49-F238E27FC236}">
                <a16:creationId xmlns:a16="http://schemas.microsoft.com/office/drawing/2014/main" id="{E9B32ADC-D645-4149-1989-C3DD6B676DB8}"/>
              </a:ext>
            </a:extLst>
          </p:cNvPr>
          <p:cNvSpPr txBox="1"/>
          <p:nvPr/>
        </p:nvSpPr>
        <p:spPr>
          <a:xfrm>
            <a:off x="11291408" y="6389590"/>
            <a:ext cx="461665" cy="276999"/>
          </a:xfrm>
          <a:prstGeom prst="rect">
            <a:avLst/>
          </a:prstGeom>
          <a:noFill/>
        </p:spPr>
        <p:txBody>
          <a:bodyPr wrap="none" lIns="0" tIns="0" rIns="0" bIns="0" rtlCol="0">
            <a:spAutoFit/>
          </a:bodyPr>
          <a:lstStyle/>
          <a:p>
            <a:r>
              <a:rPr lang="en-GB" dirty="0">
                <a:latin typeface="Gill Sans MT" panose="020B0502020104020203" pitchFamily="34" charset="0"/>
              </a:rPr>
              <a:t>2025</a:t>
            </a:r>
            <a:endParaRPr lang="en-NL" dirty="0">
              <a:latin typeface="Gill Sans MT" panose="020B0502020104020203" pitchFamily="34" charset="0"/>
            </a:endParaRPr>
          </a:p>
        </p:txBody>
      </p:sp>
      <p:sp>
        <p:nvSpPr>
          <p:cNvPr id="12" name="Rechthoek 3">
            <a:extLst>
              <a:ext uri="{FF2B5EF4-FFF2-40B4-BE49-F238E27FC236}">
                <a16:creationId xmlns:a16="http://schemas.microsoft.com/office/drawing/2014/main" id="{18FACBB0-3C4D-1904-15ED-968BD2BDACAF}"/>
              </a:ext>
            </a:extLst>
          </p:cNvPr>
          <p:cNvSpPr/>
          <p:nvPr/>
        </p:nvSpPr>
        <p:spPr>
          <a:xfrm>
            <a:off x="1177718" y="4741976"/>
            <a:ext cx="1119395" cy="504104"/>
          </a:xfrm>
          <a:prstGeom prst="rect">
            <a:avLst/>
          </a:prstGeom>
          <a:solidFill>
            <a:srgbClr val="FF66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a:solidFill>
                  <a:schemeClr val="tx1"/>
                </a:solidFill>
                <a:effectLst>
                  <a:outerShdw blurRad="38100" dist="38100" dir="2700000" algn="tl">
                    <a:srgbClr val="000000">
                      <a:alpha val="43137"/>
                    </a:srgbClr>
                  </a:outerShdw>
                </a:effectLst>
                <a:latin typeface="Gill Sans MT" pitchFamily="34" charset="0"/>
                <a:cs typeface="Aharoni" pitchFamily="2" charset="-79"/>
              </a:rPr>
              <a:t>Vergeetcurve (</a:t>
            </a:r>
            <a:r>
              <a:rPr lang="nl-NL" sz="1400" i="1" dirty="0" err="1">
                <a:solidFill>
                  <a:schemeClr val="tx1"/>
                </a:solidFill>
                <a:effectLst>
                  <a:outerShdw blurRad="38100" dist="38100" dir="2700000" algn="tl">
                    <a:srgbClr val="000000">
                      <a:alpha val="43137"/>
                    </a:srgbClr>
                  </a:outerShdw>
                </a:effectLst>
                <a:latin typeface="Gill Sans MT" pitchFamily="34" charset="0"/>
                <a:cs typeface="Aharoni" pitchFamily="2" charset="-79"/>
              </a:rPr>
              <a:t>Ebbinghaus</a:t>
            </a:r>
            <a:r>
              <a:rPr lang="nl-NL" sz="1400" i="1" dirty="0">
                <a:solidFill>
                  <a:schemeClr val="tx1"/>
                </a:solidFill>
                <a:effectLst>
                  <a:outerShdw blurRad="38100" dist="38100" dir="2700000" algn="tl">
                    <a:srgbClr val="000000">
                      <a:alpha val="43137"/>
                    </a:srgbClr>
                  </a:outerShdw>
                </a:effectLst>
                <a:latin typeface="Gill Sans MT" pitchFamily="34" charset="0"/>
                <a:cs typeface="Aharoni" pitchFamily="2" charset="-79"/>
              </a:rPr>
              <a:t>)</a:t>
            </a:r>
          </a:p>
        </p:txBody>
      </p:sp>
      <p:sp>
        <p:nvSpPr>
          <p:cNvPr id="13" name="Rechthoek 3">
            <a:extLst>
              <a:ext uri="{FF2B5EF4-FFF2-40B4-BE49-F238E27FC236}">
                <a16:creationId xmlns:a16="http://schemas.microsoft.com/office/drawing/2014/main" id="{D974F485-FC71-1444-BF1D-A50C19C99153}"/>
              </a:ext>
            </a:extLst>
          </p:cNvPr>
          <p:cNvSpPr/>
          <p:nvPr/>
        </p:nvSpPr>
        <p:spPr>
          <a:xfrm>
            <a:off x="1263570" y="5517234"/>
            <a:ext cx="1107812" cy="680680"/>
          </a:xfrm>
          <a:prstGeom prst="rect">
            <a:avLst/>
          </a:prstGeom>
          <a:solidFill>
            <a:srgbClr val="C8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Klassiek conditioneren (Pavlov)</a:t>
            </a:r>
          </a:p>
        </p:txBody>
      </p:sp>
      <p:sp>
        <p:nvSpPr>
          <p:cNvPr id="14" name="Rechthoek 3">
            <a:extLst>
              <a:ext uri="{FF2B5EF4-FFF2-40B4-BE49-F238E27FC236}">
                <a16:creationId xmlns:a16="http://schemas.microsoft.com/office/drawing/2014/main" id="{3A268F01-7C3C-5D42-620E-D75293DCB3A5}"/>
              </a:ext>
            </a:extLst>
          </p:cNvPr>
          <p:cNvSpPr/>
          <p:nvPr/>
        </p:nvSpPr>
        <p:spPr>
          <a:xfrm>
            <a:off x="2466043" y="4640613"/>
            <a:ext cx="1107812" cy="680680"/>
          </a:xfrm>
          <a:prstGeom prst="rect">
            <a:avLst/>
          </a:prstGeom>
          <a:solidFill>
            <a:srgbClr val="C8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err="1">
                <a:solidFill>
                  <a:schemeClr val="bg1"/>
                </a:solidFill>
                <a:effectLst>
                  <a:outerShdw blurRad="38100" dist="38100" dir="2700000" algn="tl">
                    <a:srgbClr val="000000">
                      <a:alpha val="43137"/>
                    </a:srgbClr>
                  </a:outerShdw>
                </a:effectLst>
                <a:latin typeface="Gill Sans MT" pitchFamily="34" charset="0"/>
                <a:cs typeface="Aharoni" pitchFamily="2" charset="-79"/>
              </a:rPr>
              <a:t>Law</a:t>
            </a:r>
            <a:r>
              <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 of effect (</a:t>
            </a:r>
            <a:r>
              <a:rPr lang="nl-NL" sz="1400" i="1" dirty="0" err="1">
                <a:solidFill>
                  <a:schemeClr val="bg1"/>
                </a:solidFill>
                <a:effectLst>
                  <a:outerShdw blurRad="38100" dist="38100" dir="2700000" algn="tl">
                    <a:srgbClr val="000000">
                      <a:alpha val="43137"/>
                    </a:srgbClr>
                  </a:outerShdw>
                </a:effectLst>
                <a:latin typeface="Gill Sans MT" pitchFamily="34" charset="0"/>
                <a:cs typeface="Aharoni" pitchFamily="2" charset="-79"/>
              </a:rPr>
              <a:t>Thorndike</a:t>
            </a:r>
            <a:r>
              <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a:t>
            </a:r>
          </a:p>
        </p:txBody>
      </p:sp>
      <p:sp>
        <p:nvSpPr>
          <p:cNvPr id="15" name="Rechthoek 3">
            <a:extLst>
              <a:ext uri="{FF2B5EF4-FFF2-40B4-BE49-F238E27FC236}">
                <a16:creationId xmlns:a16="http://schemas.microsoft.com/office/drawing/2014/main" id="{CE4FDC68-5493-F0F3-016A-5A452B85E575}"/>
              </a:ext>
            </a:extLst>
          </p:cNvPr>
          <p:cNvSpPr/>
          <p:nvPr/>
        </p:nvSpPr>
        <p:spPr>
          <a:xfrm>
            <a:off x="2472347" y="5516143"/>
            <a:ext cx="1107812" cy="680680"/>
          </a:xfrm>
          <a:prstGeom prst="rect">
            <a:avLst/>
          </a:prstGeom>
          <a:solidFill>
            <a:srgbClr val="C8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Behaviorisme (Watson)</a:t>
            </a:r>
          </a:p>
        </p:txBody>
      </p:sp>
      <p:sp>
        <p:nvSpPr>
          <p:cNvPr id="16" name="Rechthoek 3">
            <a:extLst>
              <a:ext uri="{FF2B5EF4-FFF2-40B4-BE49-F238E27FC236}">
                <a16:creationId xmlns:a16="http://schemas.microsoft.com/office/drawing/2014/main" id="{7CE940C7-1206-6A4A-33C5-C346CAAEDFD6}"/>
              </a:ext>
            </a:extLst>
          </p:cNvPr>
          <p:cNvSpPr/>
          <p:nvPr/>
        </p:nvSpPr>
        <p:spPr>
          <a:xfrm>
            <a:off x="3649315" y="2092190"/>
            <a:ext cx="1107812" cy="68068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err="1">
                <a:solidFill>
                  <a:schemeClr val="bg1"/>
                </a:solidFill>
                <a:effectLst>
                  <a:outerShdw blurRad="38100" dist="38100" dir="2700000" algn="tl">
                    <a:srgbClr val="000000">
                      <a:alpha val="43137"/>
                    </a:srgbClr>
                  </a:outerShdw>
                </a:effectLst>
                <a:latin typeface="Gill Sans MT" pitchFamily="34" charset="0"/>
                <a:cs typeface="Aharoni" pitchFamily="2" charset="-79"/>
              </a:rPr>
              <a:t>Constructi-visme</a:t>
            </a:r>
            <a:r>
              <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 (Piaget)</a:t>
            </a:r>
          </a:p>
        </p:txBody>
      </p:sp>
      <p:sp>
        <p:nvSpPr>
          <p:cNvPr id="17" name="Rechthoek 3">
            <a:extLst>
              <a:ext uri="{FF2B5EF4-FFF2-40B4-BE49-F238E27FC236}">
                <a16:creationId xmlns:a16="http://schemas.microsoft.com/office/drawing/2014/main" id="{2AE56F89-412C-F7CC-126A-A688CFCDD1BA}"/>
              </a:ext>
            </a:extLst>
          </p:cNvPr>
          <p:cNvSpPr/>
          <p:nvPr/>
        </p:nvSpPr>
        <p:spPr>
          <a:xfrm>
            <a:off x="3639998" y="5516143"/>
            <a:ext cx="1107812" cy="680680"/>
          </a:xfrm>
          <a:prstGeom prst="rect">
            <a:avLst/>
          </a:prstGeom>
          <a:solidFill>
            <a:srgbClr val="C8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err="1">
                <a:solidFill>
                  <a:schemeClr val="bg1"/>
                </a:solidFill>
                <a:effectLst>
                  <a:outerShdw blurRad="38100" dist="38100" dir="2700000" algn="tl">
                    <a:srgbClr val="000000">
                      <a:alpha val="43137"/>
                    </a:srgbClr>
                  </a:outerShdw>
                </a:effectLst>
                <a:latin typeface="Gill Sans MT" pitchFamily="34" charset="0"/>
                <a:cs typeface="Aharoni" pitchFamily="2" charset="-79"/>
              </a:rPr>
              <a:t>Operante</a:t>
            </a:r>
            <a:r>
              <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 </a:t>
            </a:r>
            <a:r>
              <a:rPr lang="nl-NL" sz="1400" i="1" dirty="0" err="1">
                <a:solidFill>
                  <a:schemeClr val="bg1"/>
                </a:solidFill>
                <a:effectLst>
                  <a:outerShdw blurRad="38100" dist="38100" dir="2700000" algn="tl">
                    <a:srgbClr val="000000">
                      <a:alpha val="43137"/>
                    </a:srgbClr>
                  </a:outerShdw>
                </a:effectLst>
                <a:latin typeface="Gill Sans MT" pitchFamily="34" charset="0"/>
                <a:cs typeface="Aharoni" pitchFamily="2" charset="-79"/>
              </a:rPr>
              <a:t>conditione-ring</a:t>
            </a:r>
            <a:r>
              <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 (Skinner)</a:t>
            </a:r>
          </a:p>
        </p:txBody>
      </p:sp>
      <p:sp>
        <p:nvSpPr>
          <p:cNvPr id="18" name="Rechthoek 3">
            <a:extLst>
              <a:ext uri="{FF2B5EF4-FFF2-40B4-BE49-F238E27FC236}">
                <a16:creationId xmlns:a16="http://schemas.microsoft.com/office/drawing/2014/main" id="{DD8B0FC1-2E5F-8E72-8A7A-DF85C5A24A97}"/>
              </a:ext>
            </a:extLst>
          </p:cNvPr>
          <p:cNvSpPr/>
          <p:nvPr/>
        </p:nvSpPr>
        <p:spPr>
          <a:xfrm>
            <a:off x="5177527" y="3702637"/>
            <a:ext cx="1119395" cy="50410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a:solidFill>
                  <a:schemeClr val="tx1"/>
                </a:solidFill>
                <a:effectLst>
                  <a:outerShdw blurRad="38100" dist="38100" dir="2700000" algn="tl">
                    <a:srgbClr val="000000">
                      <a:alpha val="43137"/>
                    </a:srgbClr>
                  </a:outerShdw>
                </a:effectLst>
                <a:latin typeface="Gill Sans MT" pitchFamily="34" charset="0"/>
                <a:cs typeface="Aharoni" pitchFamily="2" charset="-79"/>
              </a:rPr>
              <a:t>7+-2 </a:t>
            </a:r>
            <a:r>
              <a:rPr lang="nl-NL" sz="1400" i="1" dirty="0" err="1">
                <a:solidFill>
                  <a:schemeClr val="tx1"/>
                </a:solidFill>
                <a:effectLst>
                  <a:outerShdw blurRad="38100" dist="38100" dir="2700000" algn="tl">
                    <a:srgbClr val="000000">
                      <a:alpha val="43137"/>
                    </a:srgbClr>
                  </a:outerShdw>
                </a:effectLst>
                <a:latin typeface="Gill Sans MT" pitchFamily="34" charset="0"/>
                <a:cs typeface="Aharoni" pitchFamily="2" charset="-79"/>
              </a:rPr>
              <a:t>chuncks</a:t>
            </a:r>
            <a:r>
              <a:rPr lang="nl-NL" sz="1400" i="1" dirty="0">
                <a:solidFill>
                  <a:schemeClr val="tx1"/>
                </a:solidFill>
                <a:effectLst>
                  <a:outerShdw blurRad="38100" dist="38100" dir="2700000" algn="tl">
                    <a:srgbClr val="000000">
                      <a:alpha val="43137"/>
                    </a:srgbClr>
                  </a:outerShdw>
                </a:effectLst>
                <a:latin typeface="Gill Sans MT" pitchFamily="34" charset="0"/>
                <a:cs typeface="Aharoni" pitchFamily="2" charset="-79"/>
              </a:rPr>
              <a:t> (Miller)</a:t>
            </a:r>
          </a:p>
        </p:txBody>
      </p:sp>
      <p:sp>
        <p:nvSpPr>
          <p:cNvPr id="19" name="Rechthoek 3">
            <a:extLst>
              <a:ext uri="{FF2B5EF4-FFF2-40B4-BE49-F238E27FC236}">
                <a16:creationId xmlns:a16="http://schemas.microsoft.com/office/drawing/2014/main" id="{B61A6A90-BCC7-EEEC-29CF-10788DAF0770}"/>
              </a:ext>
            </a:extLst>
          </p:cNvPr>
          <p:cNvSpPr/>
          <p:nvPr/>
        </p:nvSpPr>
        <p:spPr>
          <a:xfrm>
            <a:off x="5329616" y="2086530"/>
            <a:ext cx="1107812" cy="68068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err="1">
                <a:solidFill>
                  <a:schemeClr val="bg1"/>
                </a:solidFill>
                <a:effectLst>
                  <a:outerShdw blurRad="38100" dist="38100" dir="2700000" algn="tl">
                    <a:srgbClr val="000000">
                      <a:alpha val="43137"/>
                    </a:srgbClr>
                  </a:outerShdw>
                </a:effectLst>
                <a:latin typeface="Gill Sans MT" pitchFamily="34" charset="0"/>
                <a:cs typeface="Aharoni" pitchFamily="2" charset="-79"/>
              </a:rPr>
              <a:t>Constructi-visme</a:t>
            </a:r>
            <a:r>
              <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 (</a:t>
            </a:r>
            <a:r>
              <a:rPr lang="nl-NL" sz="1400" i="1" dirty="0" err="1">
                <a:solidFill>
                  <a:schemeClr val="bg1"/>
                </a:solidFill>
                <a:effectLst>
                  <a:outerShdw blurRad="38100" dist="38100" dir="2700000" algn="tl">
                    <a:srgbClr val="000000">
                      <a:alpha val="43137"/>
                    </a:srgbClr>
                  </a:outerShdw>
                </a:effectLst>
                <a:latin typeface="Gill Sans MT" pitchFamily="34" charset="0"/>
                <a:cs typeface="Aharoni" pitchFamily="2" charset="-79"/>
              </a:rPr>
              <a:t>Bruner</a:t>
            </a:r>
            <a:r>
              <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a:t>
            </a:r>
          </a:p>
        </p:txBody>
      </p:sp>
      <p:sp>
        <p:nvSpPr>
          <p:cNvPr id="20" name="Rechthoek 3">
            <a:extLst>
              <a:ext uri="{FF2B5EF4-FFF2-40B4-BE49-F238E27FC236}">
                <a16:creationId xmlns:a16="http://schemas.microsoft.com/office/drawing/2014/main" id="{4A1740A4-3804-DFFC-2135-D87D07100C8E}"/>
              </a:ext>
            </a:extLst>
          </p:cNvPr>
          <p:cNvSpPr/>
          <p:nvPr/>
        </p:nvSpPr>
        <p:spPr>
          <a:xfrm>
            <a:off x="2405309" y="2092190"/>
            <a:ext cx="1107812" cy="68068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Socioculturele theorie (</a:t>
            </a:r>
            <a:r>
              <a:rPr lang="nl-NL" sz="1400" i="1" dirty="0" err="1">
                <a:solidFill>
                  <a:schemeClr val="bg1"/>
                </a:solidFill>
                <a:effectLst>
                  <a:outerShdw blurRad="38100" dist="38100" dir="2700000" algn="tl">
                    <a:srgbClr val="000000">
                      <a:alpha val="43137"/>
                    </a:srgbClr>
                  </a:outerShdw>
                </a:effectLst>
                <a:latin typeface="Gill Sans MT" pitchFamily="34" charset="0"/>
                <a:cs typeface="Aharoni" pitchFamily="2" charset="-79"/>
              </a:rPr>
              <a:t>Vygiotsky</a:t>
            </a:r>
            <a:r>
              <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a:t>
            </a:r>
          </a:p>
        </p:txBody>
      </p:sp>
      <p:sp>
        <p:nvSpPr>
          <p:cNvPr id="21" name="Rechthoek 3">
            <a:extLst>
              <a:ext uri="{FF2B5EF4-FFF2-40B4-BE49-F238E27FC236}">
                <a16:creationId xmlns:a16="http://schemas.microsoft.com/office/drawing/2014/main" id="{35113D50-062A-D51D-8CFD-DD70BE6D34BC}"/>
              </a:ext>
            </a:extLst>
          </p:cNvPr>
          <p:cNvSpPr/>
          <p:nvPr/>
        </p:nvSpPr>
        <p:spPr>
          <a:xfrm>
            <a:off x="6296922" y="3415870"/>
            <a:ext cx="1119395" cy="99376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a:solidFill>
                  <a:schemeClr val="tx1"/>
                </a:solidFill>
                <a:effectLst>
                  <a:outerShdw blurRad="38100" dist="38100" dir="2700000" algn="tl">
                    <a:srgbClr val="000000">
                      <a:alpha val="43137"/>
                    </a:srgbClr>
                  </a:outerShdw>
                </a:effectLst>
                <a:latin typeface="Gill Sans MT" pitchFamily="34" charset="0"/>
                <a:cs typeface="Aharoni" pitchFamily="2" charset="-79"/>
              </a:rPr>
              <a:t>Multistore model of memory (Atkinson)</a:t>
            </a:r>
          </a:p>
        </p:txBody>
      </p:sp>
      <p:sp>
        <p:nvSpPr>
          <p:cNvPr id="22" name="Rechthoek 3">
            <a:extLst>
              <a:ext uri="{FF2B5EF4-FFF2-40B4-BE49-F238E27FC236}">
                <a16:creationId xmlns:a16="http://schemas.microsoft.com/office/drawing/2014/main" id="{B910C95D-B71E-9C7B-A5BF-FB97B15909A1}"/>
              </a:ext>
            </a:extLst>
          </p:cNvPr>
          <p:cNvSpPr/>
          <p:nvPr/>
        </p:nvSpPr>
        <p:spPr>
          <a:xfrm>
            <a:off x="7261156" y="3969000"/>
            <a:ext cx="1119395" cy="99376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err="1">
                <a:solidFill>
                  <a:schemeClr val="tx1"/>
                </a:solidFill>
                <a:effectLst>
                  <a:outerShdw blurRad="38100" dist="38100" dir="2700000" algn="tl">
                    <a:srgbClr val="000000">
                      <a:alpha val="43137"/>
                    </a:srgbClr>
                  </a:outerShdw>
                </a:effectLst>
                <a:latin typeface="Gill Sans MT" pitchFamily="34" charset="0"/>
                <a:cs typeface="Aharoni" pitchFamily="2" charset="-79"/>
              </a:rPr>
              <a:t>Working</a:t>
            </a:r>
            <a:r>
              <a:rPr lang="nl-NL" sz="1400" i="1" dirty="0">
                <a:solidFill>
                  <a:schemeClr val="tx1"/>
                </a:solidFill>
                <a:effectLst>
                  <a:outerShdw blurRad="38100" dist="38100" dir="2700000" algn="tl">
                    <a:srgbClr val="000000">
                      <a:alpha val="43137"/>
                    </a:srgbClr>
                  </a:outerShdw>
                </a:effectLst>
                <a:latin typeface="Gill Sans MT" pitchFamily="34" charset="0"/>
                <a:cs typeface="Aharoni" pitchFamily="2" charset="-79"/>
              </a:rPr>
              <a:t> Memory</a:t>
            </a:r>
          </a:p>
          <a:p>
            <a:pPr algn="ctr"/>
            <a:r>
              <a:rPr lang="nl-NL" sz="1400" i="1" dirty="0">
                <a:solidFill>
                  <a:schemeClr val="tx1"/>
                </a:solidFill>
                <a:effectLst>
                  <a:outerShdw blurRad="38100" dist="38100" dir="2700000" algn="tl">
                    <a:srgbClr val="000000">
                      <a:alpha val="43137"/>
                    </a:srgbClr>
                  </a:outerShdw>
                </a:effectLst>
                <a:latin typeface="Gill Sans MT" pitchFamily="34" charset="0"/>
                <a:cs typeface="Aharoni" pitchFamily="2" charset="-79"/>
              </a:rPr>
              <a:t>(</a:t>
            </a:r>
            <a:r>
              <a:rPr lang="nl-NL" sz="1400" i="1" dirty="0" err="1">
                <a:solidFill>
                  <a:schemeClr val="tx1"/>
                </a:solidFill>
                <a:effectLst>
                  <a:outerShdw blurRad="38100" dist="38100" dir="2700000" algn="tl">
                    <a:srgbClr val="000000">
                      <a:alpha val="43137"/>
                    </a:srgbClr>
                  </a:outerShdw>
                </a:effectLst>
                <a:latin typeface="Gill Sans MT" pitchFamily="34" charset="0"/>
                <a:cs typeface="Aharoni" pitchFamily="2" charset="-79"/>
              </a:rPr>
              <a:t>Baddely</a:t>
            </a:r>
            <a:r>
              <a:rPr lang="nl-NL" sz="1400" i="1" dirty="0">
                <a:solidFill>
                  <a:schemeClr val="tx1"/>
                </a:solidFill>
                <a:effectLst>
                  <a:outerShdw blurRad="38100" dist="38100" dir="2700000" algn="tl">
                    <a:srgbClr val="000000">
                      <a:alpha val="43137"/>
                    </a:srgbClr>
                  </a:outerShdw>
                </a:effectLst>
                <a:latin typeface="Gill Sans MT" pitchFamily="34" charset="0"/>
                <a:cs typeface="Aharoni" pitchFamily="2" charset="-79"/>
              </a:rPr>
              <a:t> &amp; </a:t>
            </a:r>
            <a:r>
              <a:rPr lang="nl-NL" sz="1400" i="1" dirty="0" err="1">
                <a:solidFill>
                  <a:schemeClr val="tx1"/>
                </a:solidFill>
                <a:effectLst>
                  <a:outerShdw blurRad="38100" dist="38100" dir="2700000" algn="tl">
                    <a:srgbClr val="000000">
                      <a:alpha val="43137"/>
                    </a:srgbClr>
                  </a:outerShdw>
                </a:effectLst>
                <a:latin typeface="Gill Sans MT" pitchFamily="34" charset="0"/>
                <a:cs typeface="Aharoni" pitchFamily="2" charset="-79"/>
              </a:rPr>
              <a:t>Hitch</a:t>
            </a:r>
            <a:r>
              <a:rPr lang="nl-NL" sz="1400" i="1" dirty="0">
                <a:solidFill>
                  <a:schemeClr val="tx1"/>
                </a:solidFill>
                <a:effectLst>
                  <a:outerShdw blurRad="38100" dist="38100" dir="2700000" algn="tl">
                    <a:srgbClr val="000000">
                      <a:alpha val="43137"/>
                    </a:srgbClr>
                  </a:outerShdw>
                </a:effectLst>
                <a:latin typeface="Gill Sans MT" pitchFamily="34" charset="0"/>
                <a:cs typeface="Aharoni" pitchFamily="2" charset="-79"/>
              </a:rPr>
              <a:t>)</a:t>
            </a:r>
          </a:p>
        </p:txBody>
      </p:sp>
      <p:sp>
        <p:nvSpPr>
          <p:cNvPr id="23" name="Rechthoek 3">
            <a:extLst>
              <a:ext uri="{FF2B5EF4-FFF2-40B4-BE49-F238E27FC236}">
                <a16:creationId xmlns:a16="http://schemas.microsoft.com/office/drawing/2014/main" id="{EE47339D-0DB2-D99E-D9D3-0AA31AE7377A}"/>
              </a:ext>
            </a:extLst>
          </p:cNvPr>
          <p:cNvSpPr/>
          <p:nvPr/>
        </p:nvSpPr>
        <p:spPr>
          <a:xfrm>
            <a:off x="7266947" y="2111419"/>
            <a:ext cx="1107812" cy="680680"/>
          </a:xfrm>
          <a:prstGeom prst="rect">
            <a:avLst/>
          </a:prstGeom>
          <a:solidFill>
            <a:srgbClr val="0070C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err="1">
                <a:solidFill>
                  <a:schemeClr val="bg1"/>
                </a:solidFill>
                <a:effectLst>
                  <a:outerShdw blurRad="38100" dist="38100" dir="2700000" algn="tl">
                    <a:srgbClr val="000000">
                      <a:alpha val="43137"/>
                    </a:srgbClr>
                  </a:outerShdw>
                </a:effectLst>
                <a:latin typeface="Gill Sans MT" pitchFamily="34" charset="0"/>
                <a:cs typeface="Aharoni" pitchFamily="2" charset="-79"/>
              </a:rPr>
              <a:t>Scaffolding</a:t>
            </a:r>
            <a:r>
              <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 (Wood et al.)</a:t>
            </a:r>
          </a:p>
        </p:txBody>
      </p:sp>
      <p:sp>
        <p:nvSpPr>
          <p:cNvPr id="24" name="Rechthoek 3">
            <a:extLst>
              <a:ext uri="{FF2B5EF4-FFF2-40B4-BE49-F238E27FC236}">
                <a16:creationId xmlns:a16="http://schemas.microsoft.com/office/drawing/2014/main" id="{A43D07AE-FFB3-8B90-5D07-89C4347BB4F0}"/>
              </a:ext>
            </a:extLst>
          </p:cNvPr>
          <p:cNvSpPr/>
          <p:nvPr/>
        </p:nvSpPr>
        <p:spPr>
          <a:xfrm>
            <a:off x="8469199" y="3333479"/>
            <a:ext cx="1119395" cy="99376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err="1">
                <a:solidFill>
                  <a:schemeClr val="tx1"/>
                </a:solidFill>
                <a:effectLst>
                  <a:outerShdw blurRad="38100" dist="38100" dir="2700000" algn="tl">
                    <a:srgbClr val="000000">
                      <a:alpha val="43137"/>
                    </a:srgbClr>
                  </a:outerShdw>
                </a:effectLst>
                <a:latin typeface="Gill Sans MT" pitchFamily="34" charset="0"/>
                <a:cs typeface="Aharoni" pitchFamily="2" charset="-79"/>
              </a:rPr>
              <a:t>Cognitive</a:t>
            </a:r>
            <a:r>
              <a:rPr lang="nl-NL" sz="1400" i="1" dirty="0">
                <a:solidFill>
                  <a:schemeClr val="tx1"/>
                </a:solidFill>
                <a:effectLst>
                  <a:outerShdw blurRad="38100" dist="38100" dir="2700000" algn="tl">
                    <a:srgbClr val="000000">
                      <a:alpha val="43137"/>
                    </a:srgbClr>
                  </a:outerShdw>
                </a:effectLst>
                <a:latin typeface="Gill Sans MT" pitchFamily="34" charset="0"/>
                <a:cs typeface="Aharoni" pitchFamily="2" charset="-79"/>
              </a:rPr>
              <a:t> load </a:t>
            </a:r>
            <a:r>
              <a:rPr lang="nl-NL" sz="1400" i="1" dirty="0" err="1">
                <a:solidFill>
                  <a:schemeClr val="tx1"/>
                </a:solidFill>
                <a:effectLst>
                  <a:outerShdw blurRad="38100" dist="38100" dir="2700000" algn="tl">
                    <a:srgbClr val="000000">
                      <a:alpha val="43137"/>
                    </a:srgbClr>
                  </a:outerShdw>
                </a:effectLst>
                <a:latin typeface="Gill Sans MT" pitchFamily="34" charset="0"/>
                <a:cs typeface="Aharoni" pitchFamily="2" charset="-79"/>
              </a:rPr>
              <a:t>theory</a:t>
            </a:r>
            <a:r>
              <a:rPr lang="nl-NL" sz="1400" i="1" dirty="0">
                <a:solidFill>
                  <a:schemeClr val="tx1"/>
                </a:solidFill>
                <a:effectLst>
                  <a:outerShdw blurRad="38100" dist="38100" dir="2700000" algn="tl">
                    <a:srgbClr val="000000">
                      <a:alpha val="43137"/>
                    </a:srgbClr>
                  </a:outerShdw>
                </a:effectLst>
                <a:latin typeface="Gill Sans MT" pitchFamily="34" charset="0"/>
                <a:cs typeface="Aharoni" pitchFamily="2" charset="-79"/>
              </a:rPr>
              <a:t> (</a:t>
            </a:r>
            <a:r>
              <a:rPr lang="nl-NL" sz="1400" i="1" dirty="0" err="1">
                <a:solidFill>
                  <a:schemeClr val="tx1"/>
                </a:solidFill>
                <a:effectLst>
                  <a:outerShdw blurRad="38100" dist="38100" dir="2700000" algn="tl">
                    <a:srgbClr val="000000">
                      <a:alpha val="43137"/>
                    </a:srgbClr>
                  </a:outerShdw>
                </a:effectLst>
                <a:latin typeface="Gill Sans MT" pitchFamily="34" charset="0"/>
                <a:cs typeface="Aharoni" pitchFamily="2" charset="-79"/>
              </a:rPr>
              <a:t>Sweller</a:t>
            </a:r>
            <a:r>
              <a:rPr lang="nl-NL" sz="1400" i="1" dirty="0">
                <a:solidFill>
                  <a:schemeClr val="tx1"/>
                </a:solidFill>
                <a:effectLst>
                  <a:outerShdw blurRad="38100" dist="38100" dir="2700000" algn="tl">
                    <a:srgbClr val="000000">
                      <a:alpha val="43137"/>
                    </a:srgbClr>
                  </a:outerShdw>
                </a:effectLst>
                <a:latin typeface="Gill Sans MT" pitchFamily="34" charset="0"/>
                <a:cs typeface="Aharoni" pitchFamily="2" charset="-79"/>
              </a:rPr>
              <a:t>)</a:t>
            </a:r>
          </a:p>
        </p:txBody>
      </p:sp>
      <p:sp>
        <p:nvSpPr>
          <p:cNvPr id="25" name="Rechthoek 3">
            <a:extLst>
              <a:ext uri="{FF2B5EF4-FFF2-40B4-BE49-F238E27FC236}">
                <a16:creationId xmlns:a16="http://schemas.microsoft.com/office/drawing/2014/main" id="{D695C823-F7A8-27F1-8660-DA31DDB4BAF3}"/>
              </a:ext>
            </a:extLst>
          </p:cNvPr>
          <p:cNvSpPr/>
          <p:nvPr/>
        </p:nvSpPr>
        <p:spPr>
          <a:xfrm>
            <a:off x="8650372" y="2559586"/>
            <a:ext cx="1107812" cy="680680"/>
          </a:xfrm>
          <a:prstGeom prst="rect">
            <a:avLst/>
          </a:prstGeom>
          <a:solidFill>
            <a:srgbClr val="57B7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err="1">
                <a:solidFill>
                  <a:schemeClr val="bg1"/>
                </a:solidFill>
                <a:effectLst>
                  <a:outerShdw blurRad="38100" dist="38100" dir="2700000" algn="tl">
                    <a:srgbClr val="000000">
                      <a:alpha val="43137"/>
                    </a:srgbClr>
                  </a:outerShdw>
                </a:effectLst>
                <a:latin typeface="Gill Sans MT" pitchFamily="34" charset="0"/>
                <a:cs typeface="Aharoni" pitchFamily="2" charset="-79"/>
              </a:rPr>
              <a:t>Situated</a:t>
            </a:r>
            <a:r>
              <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 </a:t>
            </a:r>
            <a:r>
              <a:rPr lang="nl-NL" sz="1400" i="1" dirty="0" err="1">
                <a:solidFill>
                  <a:schemeClr val="bg1"/>
                </a:solidFill>
                <a:effectLst>
                  <a:outerShdw blurRad="38100" dist="38100" dir="2700000" algn="tl">
                    <a:srgbClr val="000000">
                      <a:alpha val="43137"/>
                    </a:srgbClr>
                  </a:outerShdw>
                </a:effectLst>
                <a:latin typeface="Gill Sans MT" pitchFamily="34" charset="0"/>
                <a:cs typeface="Aharoni" pitchFamily="2" charset="-79"/>
              </a:rPr>
              <a:t>learning</a:t>
            </a:r>
            <a:r>
              <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 (</a:t>
            </a:r>
            <a:r>
              <a:rPr lang="nl-NL" sz="1400" i="1" dirty="0" err="1">
                <a:solidFill>
                  <a:schemeClr val="bg1"/>
                </a:solidFill>
                <a:effectLst>
                  <a:outerShdw blurRad="38100" dist="38100" dir="2700000" algn="tl">
                    <a:srgbClr val="000000">
                      <a:alpha val="43137"/>
                    </a:srgbClr>
                  </a:outerShdw>
                </a:effectLst>
                <a:latin typeface="Gill Sans MT" pitchFamily="34" charset="0"/>
                <a:cs typeface="Aharoni" pitchFamily="2" charset="-79"/>
              </a:rPr>
              <a:t>Lave</a:t>
            </a:r>
            <a:r>
              <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a:t>
            </a:r>
          </a:p>
        </p:txBody>
      </p:sp>
      <p:sp>
        <p:nvSpPr>
          <p:cNvPr id="26" name="Rechthoek 3">
            <a:extLst>
              <a:ext uri="{FF2B5EF4-FFF2-40B4-BE49-F238E27FC236}">
                <a16:creationId xmlns:a16="http://schemas.microsoft.com/office/drawing/2014/main" id="{8DA4FD3D-3AD2-99A8-68BA-DCF07128424A}"/>
              </a:ext>
            </a:extLst>
          </p:cNvPr>
          <p:cNvSpPr/>
          <p:nvPr/>
        </p:nvSpPr>
        <p:spPr>
          <a:xfrm>
            <a:off x="10073867" y="1351401"/>
            <a:ext cx="1107812" cy="680680"/>
          </a:xfrm>
          <a:prstGeom prst="rect">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1400" i="1" dirty="0" err="1">
                <a:solidFill>
                  <a:schemeClr val="bg1"/>
                </a:solidFill>
                <a:effectLst>
                  <a:outerShdw blurRad="38100" dist="38100" dir="2700000" algn="tl">
                    <a:srgbClr val="000000">
                      <a:alpha val="43137"/>
                    </a:srgbClr>
                  </a:outerShdw>
                </a:effectLst>
                <a:latin typeface="Gill Sans MT" pitchFamily="34" charset="0"/>
                <a:cs typeface="Aharoni" pitchFamily="2" charset="-79"/>
              </a:rPr>
              <a:t>Connecti-visme</a:t>
            </a:r>
            <a:r>
              <a:rPr lang="nl-NL" sz="1400" i="1" dirty="0">
                <a:solidFill>
                  <a:schemeClr val="bg1"/>
                </a:solidFill>
                <a:effectLst>
                  <a:outerShdw blurRad="38100" dist="38100" dir="2700000" algn="tl">
                    <a:srgbClr val="000000">
                      <a:alpha val="43137"/>
                    </a:srgbClr>
                  </a:outerShdw>
                </a:effectLst>
                <a:latin typeface="Gill Sans MT" pitchFamily="34" charset="0"/>
                <a:cs typeface="Aharoni" pitchFamily="2" charset="-79"/>
              </a:rPr>
              <a:t> (Siemens)</a:t>
            </a:r>
          </a:p>
        </p:txBody>
      </p:sp>
      <p:sp>
        <p:nvSpPr>
          <p:cNvPr id="28" name="TextBox 27">
            <a:extLst>
              <a:ext uri="{FF2B5EF4-FFF2-40B4-BE49-F238E27FC236}">
                <a16:creationId xmlns:a16="http://schemas.microsoft.com/office/drawing/2014/main" id="{B9AECAC6-A7D8-088C-1F8D-4CF171132175}"/>
              </a:ext>
            </a:extLst>
          </p:cNvPr>
          <p:cNvSpPr txBox="1"/>
          <p:nvPr/>
        </p:nvSpPr>
        <p:spPr>
          <a:xfrm>
            <a:off x="10634091" y="3924345"/>
            <a:ext cx="1937817" cy="584775"/>
          </a:xfrm>
          <a:prstGeom prst="rect">
            <a:avLst/>
          </a:prstGeom>
          <a:noFill/>
        </p:spPr>
        <p:txBody>
          <a:bodyPr wrap="square">
            <a:spAutoFit/>
          </a:bodyPr>
          <a:lstStyle/>
          <a:p>
            <a:r>
              <a:rPr lang="en-GB" sz="1600" dirty="0">
                <a:latin typeface="Gill Sans MT" panose="020B0502020104020203" pitchFamily="34" charset="0"/>
              </a:rPr>
              <a:t>Beter, completer, </a:t>
            </a:r>
            <a:r>
              <a:rPr lang="en-GB" sz="1600" dirty="0" err="1">
                <a:latin typeface="Gill Sans MT" panose="020B0502020104020203" pitchFamily="34" charset="0"/>
              </a:rPr>
              <a:t>mooier</a:t>
            </a:r>
            <a:r>
              <a:rPr lang="en-GB" sz="1600" dirty="0">
                <a:latin typeface="Gill Sans MT" panose="020B0502020104020203" pitchFamily="34" charset="0"/>
              </a:rPr>
              <a:t>: </a:t>
            </a:r>
            <a:endParaRPr lang="en-NL" sz="1600" dirty="0">
              <a:latin typeface="Gill Sans MT" panose="020B0502020104020203" pitchFamily="34" charset="0"/>
            </a:endParaRPr>
          </a:p>
        </p:txBody>
      </p:sp>
      <p:pic>
        <p:nvPicPr>
          <p:cNvPr id="11" name="Afbeelding 10">
            <a:extLst>
              <a:ext uri="{FF2B5EF4-FFF2-40B4-BE49-F238E27FC236}">
                <a16:creationId xmlns:a16="http://schemas.microsoft.com/office/drawing/2014/main" id="{9CD727A2-9562-6A81-CCA3-CB6E798CFB4B}"/>
              </a:ext>
            </a:extLst>
          </p:cNvPr>
          <p:cNvPicPr>
            <a:picLocks noChangeAspect="1"/>
          </p:cNvPicPr>
          <p:nvPr/>
        </p:nvPicPr>
        <p:blipFill>
          <a:blip r:embed="rId3"/>
          <a:stretch>
            <a:fillRect/>
          </a:stretch>
        </p:blipFill>
        <p:spPr>
          <a:xfrm>
            <a:off x="10089429" y="4573163"/>
            <a:ext cx="1574933" cy="1578537"/>
          </a:xfrm>
          <a:prstGeom prst="rect">
            <a:avLst/>
          </a:prstGeom>
        </p:spPr>
      </p:pic>
      <p:sp>
        <p:nvSpPr>
          <p:cNvPr id="27" name="Arc 1">
            <a:extLst>
              <a:ext uri="{FF2B5EF4-FFF2-40B4-BE49-F238E27FC236}">
                <a16:creationId xmlns:a16="http://schemas.microsoft.com/office/drawing/2014/main" id="{31D421CA-CECA-631F-DFC7-ED252065BBD5}"/>
              </a:ext>
            </a:extLst>
          </p:cNvPr>
          <p:cNvSpPr/>
          <p:nvPr/>
        </p:nvSpPr>
        <p:spPr>
          <a:xfrm rot="19272481">
            <a:off x="10324248" y="4333309"/>
            <a:ext cx="406400" cy="216387"/>
          </a:xfrm>
          <a:custGeom>
            <a:avLst/>
            <a:gdLst>
              <a:gd name="connsiteX0" fmla="*/ 60291 w 406400"/>
              <a:gd name="connsiteY0" fmla="*/ 31279 h 216387"/>
              <a:gd name="connsiteX1" fmla="*/ 230224 w 406400"/>
              <a:gd name="connsiteY1" fmla="*/ 961 h 216387"/>
              <a:gd name="connsiteX2" fmla="*/ 406400 w 406400"/>
              <a:gd name="connsiteY2" fmla="*/ 108194 h 216387"/>
              <a:gd name="connsiteX3" fmla="*/ 203200 w 406400"/>
              <a:gd name="connsiteY3" fmla="*/ 108194 h 216387"/>
              <a:gd name="connsiteX4" fmla="*/ 60291 w 406400"/>
              <a:gd name="connsiteY4" fmla="*/ 31279 h 216387"/>
              <a:gd name="connsiteX0" fmla="*/ 60291 w 406400"/>
              <a:gd name="connsiteY0" fmla="*/ 31279 h 216387"/>
              <a:gd name="connsiteX1" fmla="*/ 230224 w 406400"/>
              <a:gd name="connsiteY1" fmla="*/ 961 h 216387"/>
              <a:gd name="connsiteX2" fmla="*/ 406400 w 406400"/>
              <a:gd name="connsiteY2" fmla="*/ 108194 h 216387"/>
            </a:gdLst>
            <a:ahLst/>
            <a:cxnLst>
              <a:cxn ang="0">
                <a:pos x="connsiteX0" y="connsiteY0"/>
              </a:cxn>
              <a:cxn ang="0">
                <a:pos x="connsiteX1" y="connsiteY1"/>
              </a:cxn>
              <a:cxn ang="0">
                <a:pos x="connsiteX2" y="connsiteY2"/>
              </a:cxn>
            </a:cxnLst>
            <a:rect l="l" t="t" r="r" b="b"/>
            <a:pathLst>
              <a:path w="406400" h="216387" stroke="0" extrusionOk="0">
                <a:moveTo>
                  <a:pt x="60291" y="31279"/>
                </a:moveTo>
                <a:cubicBezTo>
                  <a:pt x="99615" y="4345"/>
                  <a:pt x="164922" y="-2411"/>
                  <a:pt x="230224" y="961"/>
                </a:cubicBezTo>
                <a:cubicBezTo>
                  <a:pt x="338736" y="9775"/>
                  <a:pt x="405413" y="54032"/>
                  <a:pt x="406400" y="108194"/>
                </a:cubicBezTo>
                <a:cubicBezTo>
                  <a:pt x="310571" y="116682"/>
                  <a:pt x="289187" y="102582"/>
                  <a:pt x="203200" y="108194"/>
                </a:cubicBezTo>
                <a:cubicBezTo>
                  <a:pt x="177055" y="79835"/>
                  <a:pt x="88273" y="46135"/>
                  <a:pt x="60291" y="31279"/>
                </a:cubicBezTo>
                <a:close/>
              </a:path>
              <a:path w="406400" h="216387" fill="none" extrusionOk="0">
                <a:moveTo>
                  <a:pt x="60291" y="31279"/>
                </a:moveTo>
                <a:cubicBezTo>
                  <a:pt x="104528" y="2680"/>
                  <a:pt x="164152" y="1595"/>
                  <a:pt x="230224" y="961"/>
                </a:cubicBezTo>
                <a:cubicBezTo>
                  <a:pt x="339115" y="12655"/>
                  <a:pt x="413950" y="55816"/>
                  <a:pt x="406400" y="108194"/>
                </a:cubicBezTo>
              </a:path>
              <a:path w="406400" h="216387" fill="none" stroke="0" extrusionOk="0">
                <a:moveTo>
                  <a:pt x="60291" y="31279"/>
                </a:moveTo>
                <a:cubicBezTo>
                  <a:pt x="107007" y="7932"/>
                  <a:pt x="170523" y="-9066"/>
                  <a:pt x="230224" y="961"/>
                </a:cubicBezTo>
                <a:cubicBezTo>
                  <a:pt x="328825" y="7820"/>
                  <a:pt x="404289" y="55989"/>
                  <a:pt x="406400" y="108194"/>
                </a:cubicBezTo>
              </a:path>
            </a:pathLst>
          </a:custGeom>
          <a:ln w="28575">
            <a:solidFill>
              <a:schemeClr val="tx2"/>
            </a:solidFill>
            <a:headEnd type="triangle"/>
            <a:tailEnd type="none"/>
            <a:extLst>
              <a:ext uri="{C807C97D-BFC1-408E-A445-0C87EB9F89A2}">
                <ask:lineSketchStyleProps xmlns:ask="http://schemas.microsoft.com/office/drawing/2018/sketchyshapes" sd="1219033472">
                  <a:prstGeom prst="arc">
                    <a:avLst>
                      <a:gd name="adj1" fmla="val 12497375"/>
                      <a:gd name="adj2" fmla="val 0"/>
                    </a:avLst>
                  </a:prstGeom>
                  <ask:type>
                    <ask:lineSketchCurve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Tree>
    <p:extLst>
      <p:ext uri="{BB962C8B-B14F-4D97-AF65-F5344CB8AC3E}">
        <p14:creationId xmlns:p14="http://schemas.microsoft.com/office/powerpoint/2010/main" val="2265964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142818-AA1C-49CD-A5A4-05FB094E4E6F}"/>
              </a:ext>
            </a:extLst>
          </p:cNvPr>
          <p:cNvSpPr txBox="1"/>
          <p:nvPr/>
        </p:nvSpPr>
        <p:spPr>
          <a:xfrm>
            <a:off x="1173163" y="2132856"/>
            <a:ext cx="6635511" cy="1107996"/>
          </a:xfrm>
          <a:prstGeom prst="rect">
            <a:avLst/>
          </a:prstGeom>
          <a:noFill/>
        </p:spPr>
        <p:txBody>
          <a:bodyPr wrap="square" lIns="0" tIns="0" rIns="0" bIns="0" rtlCol="0">
            <a:spAutoFit/>
          </a:bodyPr>
          <a:lstStyle/>
          <a:p>
            <a:r>
              <a:rPr lang="fr-FR" sz="2400" dirty="0">
                <a:latin typeface="Open Sans Light"/>
              </a:rPr>
              <a:t>Pavlov</a:t>
            </a:r>
          </a:p>
          <a:p>
            <a:endParaRPr lang="fr-FR" sz="2400" dirty="0">
              <a:latin typeface="Open Sans Light"/>
            </a:endParaRPr>
          </a:p>
          <a:p>
            <a:r>
              <a:rPr lang="fr-FR" sz="2400" dirty="0">
                <a:latin typeface="Open Sans Light"/>
              </a:rPr>
              <a:t>Stimulus – </a:t>
            </a:r>
            <a:r>
              <a:rPr lang="fr-FR" sz="2400" dirty="0" err="1">
                <a:latin typeface="Open Sans Light"/>
              </a:rPr>
              <a:t>Respons</a:t>
            </a:r>
            <a:endParaRPr lang="fr-FR" sz="2400" dirty="0">
              <a:latin typeface="Open Sans Light"/>
            </a:endParaRPr>
          </a:p>
        </p:txBody>
      </p:sp>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Behaviorisme</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Klassieke</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conditionering</a:t>
            </a:r>
            <a:endParaRPr lang="en-GB"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9" name="Picture 8" descr="twitmeyer1_2">
            <a:extLst>
              <a:ext uri="{FF2B5EF4-FFF2-40B4-BE49-F238E27FC236}">
                <a16:creationId xmlns:a16="http://schemas.microsoft.com/office/drawing/2014/main" id="{362A660E-C3AA-4FD9-AD7B-AACE6F64FB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5587" y="4528840"/>
            <a:ext cx="9144000" cy="206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55E7BEF-AA2D-388D-021E-78D2CC363924}"/>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7000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142818-AA1C-49CD-A5A4-05FB094E4E6F}"/>
              </a:ext>
            </a:extLst>
          </p:cNvPr>
          <p:cNvSpPr txBox="1"/>
          <p:nvPr/>
        </p:nvSpPr>
        <p:spPr>
          <a:xfrm>
            <a:off x="1173163" y="2132856"/>
            <a:ext cx="10396537" cy="2585323"/>
          </a:xfrm>
          <a:prstGeom prst="rect">
            <a:avLst/>
          </a:prstGeom>
          <a:noFill/>
        </p:spPr>
        <p:txBody>
          <a:bodyPr wrap="square" lIns="0" tIns="0" rIns="0" bIns="0" rtlCol="0">
            <a:spAutoFit/>
          </a:bodyPr>
          <a:lstStyle/>
          <a:p>
            <a:r>
              <a:rPr lang="fr-FR" sz="2400" dirty="0">
                <a:latin typeface="Open Sans Light"/>
              </a:rPr>
              <a:t>Pavlov</a:t>
            </a:r>
          </a:p>
          <a:p>
            <a:endParaRPr lang="fr-FR" sz="2400" dirty="0">
              <a:latin typeface="Open Sans Light"/>
            </a:endParaRPr>
          </a:p>
          <a:p>
            <a:r>
              <a:rPr lang="fr-FR" sz="2400" dirty="0">
                <a:latin typeface="Open Sans Light"/>
              </a:rPr>
              <a:t>Stimulus – </a:t>
            </a:r>
            <a:r>
              <a:rPr lang="fr-FR" sz="2400" dirty="0" err="1">
                <a:latin typeface="Open Sans Light"/>
              </a:rPr>
              <a:t>Respons</a:t>
            </a:r>
            <a:endParaRPr lang="fr-FR" sz="2400" dirty="0">
              <a:latin typeface="Open Sans Light"/>
            </a:endParaRPr>
          </a:p>
          <a:p>
            <a:endParaRPr lang="fr-FR" sz="2400" dirty="0">
              <a:latin typeface="Open Sans Light"/>
            </a:endParaRPr>
          </a:p>
          <a:p>
            <a:r>
              <a:rPr lang="nl-NL" sz="2400" dirty="0">
                <a:latin typeface="Open Sans Light"/>
              </a:rPr>
              <a:t>Neutrale stimulus kan, na voldoende associaties, geconditioneerde respons oproepen: </a:t>
            </a:r>
            <a:r>
              <a:rPr lang="nl-NL" sz="2400" dirty="0">
                <a:solidFill>
                  <a:srgbClr val="C00000"/>
                </a:solidFill>
                <a:latin typeface="Open Sans Light"/>
              </a:rPr>
              <a:t>stimulus-substitutie</a:t>
            </a:r>
            <a:r>
              <a:rPr lang="nl-NL" sz="2400" dirty="0">
                <a:latin typeface="Open Sans Light"/>
              </a:rPr>
              <a:t>.</a:t>
            </a:r>
          </a:p>
          <a:p>
            <a:endParaRPr lang="fr-FR" sz="2400" dirty="0">
              <a:latin typeface="Open Sans Light"/>
            </a:endParaRPr>
          </a:p>
        </p:txBody>
      </p:sp>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Behaviorisme</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Klassieke</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conditionering</a:t>
            </a:r>
            <a:endParaRPr lang="en-GB"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9" name="Picture 8" descr="twitmeyer1_2">
            <a:extLst>
              <a:ext uri="{FF2B5EF4-FFF2-40B4-BE49-F238E27FC236}">
                <a16:creationId xmlns:a16="http://schemas.microsoft.com/office/drawing/2014/main" id="{362A660E-C3AA-4FD9-AD7B-AACE6F64FB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5587" y="4528840"/>
            <a:ext cx="9144000" cy="206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descr="twitmeyer2">
            <a:extLst>
              <a:ext uri="{FF2B5EF4-FFF2-40B4-BE49-F238E27FC236}">
                <a16:creationId xmlns:a16="http://schemas.microsoft.com/office/drawing/2014/main" id="{4C104CF9-AE94-4CD0-B208-C8CAC18EF8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5587" y="4528840"/>
            <a:ext cx="9144000" cy="206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B9BE17E9-3C1F-7583-32EC-9440C8CF22BC}"/>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805505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142818-AA1C-49CD-A5A4-05FB094E4E6F}"/>
              </a:ext>
            </a:extLst>
          </p:cNvPr>
          <p:cNvSpPr txBox="1"/>
          <p:nvPr/>
        </p:nvSpPr>
        <p:spPr>
          <a:xfrm>
            <a:off x="1173163" y="1772816"/>
            <a:ext cx="10396537" cy="4801314"/>
          </a:xfrm>
          <a:prstGeom prst="rect">
            <a:avLst/>
          </a:prstGeom>
          <a:noFill/>
        </p:spPr>
        <p:txBody>
          <a:bodyPr wrap="square" lIns="0" tIns="0" rIns="0" bIns="0" rtlCol="0">
            <a:spAutoFit/>
          </a:bodyPr>
          <a:lstStyle/>
          <a:p>
            <a:r>
              <a:rPr lang="fr-FR" sz="2400" dirty="0" err="1">
                <a:latin typeface="Open Sans Light"/>
              </a:rPr>
              <a:t>Ongeconditioneerde</a:t>
            </a:r>
            <a:r>
              <a:rPr lang="fr-FR" sz="2400" dirty="0">
                <a:latin typeface="Open Sans Light"/>
              </a:rPr>
              <a:t> stimulus (</a:t>
            </a:r>
            <a:r>
              <a:rPr lang="fr-FR" sz="2400" dirty="0">
                <a:solidFill>
                  <a:srgbClr val="C00000"/>
                </a:solidFill>
                <a:latin typeface="Open Sans Light"/>
              </a:rPr>
              <a:t>UCS – </a:t>
            </a:r>
            <a:r>
              <a:rPr lang="fr-FR" sz="2400" dirty="0" err="1">
                <a:solidFill>
                  <a:srgbClr val="C00000"/>
                </a:solidFill>
                <a:latin typeface="Open Sans Light"/>
              </a:rPr>
              <a:t>unconditioned</a:t>
            </a:r>
            <a:r>
              <a:rPr lang="fr-FR" sz="2400" dirty="0">
                <a:solidFill>
                  <a:srgbClr val="C00000"/>
                </a:solidFill>
                <a:latin typeface="Open Sans Light"/>
              </a:rPr>
              <a:t> stimulus</a:t>
            </a:r>
            <a:r>
              <a:rPr lang="fr-FR" sz="2400" dirty="0">
                <a:latin typeface="Open Sans Light"/>
              </a:rPr>
              <a:t>): stimulus die van nature </a:t>
            </a:r>
            <a:r>
              <a:rPr lang="fr-FR" sz="2400" dirty="0" err="1">
                <a:latin typeface="Open Sans Light"/>
              </a:rPr>
              <a:t>automatisch</a:t>
            </a:r>
            <a:r>
              <a:rPr lang="fr-FR" sz="2400" dirty="0">
                <a:latin typeface="Open Sans Light"/>
              </a:rPr>
              <a:t> </a:t>
            </a:r>
            <a:r>
              <a:rPr lang="fr-FR" sz="2400" dirty="0" err="1">
                <a:latin typeface="Open Sans Light"/>
              </a:rPr>
              <a:t>een</a:t>
            </a:r>
            <a:r>
              <a:rPr lang="fr-FR" sz="2400" dirty="0">
                <a:latin typeface="Open Sans Light"/>
              </a:rPr>
              <a:t> </a:t>
            </a:r>
            <a:r>
              <a:rPr lang="fr-FR" sz="2400" dirty="0" err="1">
                <a:latin typeface="Open Sans Light"/>
              </a:rPr>
              <a:t>respons</a:t>
            </a:r>
            <a:r>
              <a:rPr lang="fr-FR" sz="2400" dirty="0">
                <a:latin typeface="Open Sans Light"/>
              </a:rPr>
              <a:t> </a:t>
            </a:r>
            <a:r>
              <a:rPr lang="fr-FR" sz="2400" dirty="0" err="1">
                <a:latin typeface="Open Sans Light"/>
              </a:rPr>
              <a:t>oproept</a:t>
            </a:r>
            <a:r>
              <a:rPr lang="fr-FR" sz="2400" dirty="0">
                <a:latin typeface="Open Sans Light"/>
              </a:rPr>
              <a:t>.</a:t>
            </a:r>
          </a:p>
          <a:p>
            <a:pPr algn="r"/>
            <a:r>
              <a:rPr lang="fr-FR" sz="2400" b="1" dirty="0" err="1">
                <a:solidFill>
                  <a:srgbClr val="C00000"/>
                </a:solidFill>
                <a:latin typeface="Open Sans Light"/>
              </a:rPr>
              <a:t>Tik</a:t>
            </a:r>
            <a:r>
              <a:rPr lang="fr-FR" sz="2400" b="1" dirty="0">
                <a:solidFill>
                  <a:srgbClr val="C00000"/>
                </a:solidFill>
                <a:latin typeface="Open Sans Light"/>
              </a:rPr>
              <a:t> van de </a:t>
            </a:r>
            <a:r>
              <a:rPr lang="fr-FR" sz="2400" b="1" dirty="0" err="1">
                <a:solidFill>
                  <a:srgbClr val="C00000"/>
                </a:solidFill>
                <a:latin typeface="Open Sans Light"/>
              </a:rPr>
              <a:t>hamer</a:t>
            </a:r>
            <a:endParaRPr lang="fr-FR" sz="2400" b="1" dirty="0">
              <a:solidFill>
                <a:srgbClr val="C00000"/>
              </a:solidFill>
              <a:latin typeface="Open Sans Light"/>
            </a:endParaRPr>
          </a:p>
          <a:p>
            <a:r>
              <a:rPr lang="fr-FR" sz="2400" dirty="0" err="1">
                <a:latin typeface="Open Sans Light"/>
              </a:rPr>
              <a:t>Ongeconditioneerde</a:t>
            </a:r>
            <a:r>
              <a:rPr lang="fr-FR" sz="2400" dirty="0">
                <a:latin typeface="Open Sans Light"/>
              </a:rPr>
              <a:t> </a:t>
            </a:r>
            <a:r>
              <a:rPr lang="fr-FR" sz="2400" dirty="0" err="1">
                <a:latin typeface="Open Sans Light"/>
              </a:rPr>
              <a:t>respons</a:t>
            </a:r>
            <a:r>
              <a:rPr lang="fr-FR" sz="2400" dirty="0">
                <a:latin typeface="Open Sans Light"/>
              </a:rPr>
              <a:t> (</a:t>
            </a:r>
            <a:r>
              <a:rPr lang="fr-FR" sz="2400" dirty="0">
                <a:solidFill>
                  <a:srgbClr val="C00000"/>
                </a:solidFill>
                <a:latin typeface="Open Sans Light"/>
              </a:rPr>
              <a:t>UCR – </a:t>
            </a:r>
            <a:r>
              <a:rPr lang="fr-FR" sz="2400" dirty="0" err="1">
                <a:solidFill>
                  <a:srgbClr val="C00000"/>
                </a:solidFill>
                <a:latin typeface="Open Sans Light"/>
              </a:rPr>
              <a:t>unconditioned</a:t>
            </a:r>
            <a:r>
              <a:rPr lang="fr-FR" sz="2400" dirty="0">
                <a:solidFill>
                  <a:srgbClr val="C00000"/>
                </a:solidFill>
                <a:latin typeface="Open Sans Light"/>
              </a:rPr>
              <a:t> </a:t>
            </a:r>
            <a:r>
              <a:rPr lang="fr-FR" sz="2400" dirty="0" err="1">
                <a:solidFill>
                  <a:srgbClr val="C00000"/>
                </a:solidFill>
                <a:latin typeface="Open Sans Light"/>
              </a:rPr>
              <a:t>respons</a:t>
            </a:r>
            <a:r>
              <a:rPr lang="fr-FR" sz="2400" dirty="0">
                <a:latin typeface="Open Sans Light"/>
              </a:rPr>
              <a:t>): de niet </a:t>
            </a:r>
            <a:r>
              <a:rPr lang="fr-FR" sz="2400" dirty="0" err="1">
                <a:latin typeface="Open Sans Light"/>
              </a:rPr>
              <a:t>geleerde</a:t>
            </a:r>
            <a:r>
              <a:rPr lang="fr-FR" sz="2400" dirty="0">
                <a:latin typeface="Open Sans Light"/>
              </a:rPr>
              <a:t> </a:t>
            </a:r>
            <a:r>
              <a:rPr lang="fr-FR" sz="2400" dirty="0" err="1">
                <a:latin typeface="Open Sans Light"/>
              </a:rPr>
              <a:t>respons</a:t>
            </a:r>
            <a:r>
              <a:rPr lang="fr-FR" sz="2400" dirty="0">
                <a:latin typeface="Open Sans Light"/>
              </a:rPr>
              <a:t> </a:t>
            </a:r>
            <a:r>
              <a:rPr lang="fr-FR" sz="2400" dirty="0" err="1">
                <a:latin typeface="Open Sans Light"/>
              </a:rPr>
              <a:t>als</a:t>
            </a:r>
            <a:r>
              <a:rPr lang="fr-FR" sz="2400" dirty="0">
                <a:latin typeface="Open Sans Light"/>
              </a:rPr>
              <a:t> </a:t>
            </a:r>
            <a:r>
              <a:rPr lang="fr-FR" sz="2400" dirty="0" err="1">
                <a:latin typeface="Open Sans Light"/>
              </a:rPr>
              <a:t>reactie</a:t>
            </a:r>
            <a:r>
              <a:rPr lang="fr-FR" sz="2400" dirty="0">
                <a:latin typeface="Open Sans Light"/>
              </a:rPr>
              <a:t> op </a:t>
            </a:r>
            <a:r>
              <a:rPr lang="fr-FR" sz="2400" dirty="0" err="1">
                <a:latin typeface="Open Sans Light"/>
              </a:rPr>
              <a:t>ongeconditioneerde</a:t>
            </a:r>
            <a:r>
              <a:rPr lang="fr-FR" sz="2400" dirty="0">
                <a:latin typeface="Open Sans Light"/>
              </a:rPr>
              <a:t> stimulus.</a:t>
            </a:r>
          </a:p>
          <a:p>
            <a:pPr algn="r"/>
            <a:r>
              <a:rPr lang="fr-FR" sz="2400" b="1" dirty="0" err="1">
                <a:solidFill>
                  <a:srgbClr val="C00000"/>
                </a:solidFill>
                <a:latin typeface="Open Sans Light"/>
              </a:rPr>
              <a:t>Reactie</a:t>
            </a:r>
            <a:r>
              <a:rPr lang="fr-FR" sz="2400" b="1" dirty="0">
                <a:solidFill>
                  <a:srgbClr val="C00000"/>
                </a:solidFill>
                <a:latin typeface="Open Sans Light"/>
              </a:rPr>
              <a:t> van de </a:t>
            </a:r>
            <a:r>
              <a:rPr lang="fr-FR" sz="2400" b="1" dirty="0" err="1">
                <a:solidFill>
                  <a:srgbClr val="C00000"/>
                </a:solidFill>
                <a:latin typeface="Open Sans Light"/>
              </a:rPr>
              <a:t>kniepees</a:t>
            </a:r>
            <a:endParaRPr lang="fr-FR" sz="2400" b="1" dirty="0">
              <a:solidFill>
                <a:srgbClr val="C00000"/>
              </a:solidFill>
              <a:latin typeface="Open Sans Light"/>
            </a:endParaRPr>
          </a:p>
          <a:p>
            <a:r>
              <a:rPr lang="fr-FR" sz="2400" dirty="0" err="1">
                <a:latin typeface="Open Sans Light"/>
              </a:rPr>
              <a:t>Geconditioneerde</a:t>
            </a:r>
            <a:r>
              <a:rPr lang="fr-FR" sz="2400" dirty="0">
                <a:latin typeface="Open Sans Light"/>
              </a:rPr>
              <a:t> stimulus (</a:t>
            </a:r>
            <a:r>
              <a:rPr lang="fr-FR" sz="2400" dirty="0">
                <a:solidFill>
                  <a:srgbClr val="C00000"/>
                </a:solidFill>
                <a:latin typeface="Open Sans Light"/>
              </a:rPr>
              <a:t>CS – </a:t>
            </a:r>
            <a:r>
              <a:rPr lang="fr-FR" sz="2400" dirty="0" err="1">
                <a:solidFill>
                  <a:srgbClr val="C00000"/>
                </a:solidFill>
                <a:latin typeface="Open Sans Light"/>
              </a:rPr>
              <a:t>conditioned</a:t>
            </a:r>
            <a:r>
              <a:rPr lang="fr-FR" sz="2400" dirty="0">
                <a:solidFill>
                  <a:srgbClr val="C00000"/>
                </a:solidFill>
                <a:latin typeface="Open Sans Light"/>
              </a:rPr>
              <a:t> stimulus</a:t>
            </a:r>
            <a:r>
              <a:rPr lang="fr-FR" sz="2400" dirty="0">
                <a:latin typeface="Open Sans Light"/>
              </a:rPr>
              <a:t>): </a:t>
            </a:r>
            <a:r>
              <a:rPr lang="fr-FR" sz="2400" dirty="0" err="1">
                <a:latin typeface="Open Sans Light"/>
              </a:rPr>
              <a:t>een</a:t>
            </a:r>
            <a:r>
              <a:rPr lang="fr-FR" sz="2400" dirty="0">
                <a:latin typeface="Open Sans Light"/>
              </a:rPr>
              <a:t> </a:t>
            </a:r>
            <a:r>
              <a:rPr lang="fr-FR" sz="2400" dirty="0" err="1">
                <a:latin typeface="Open Sans Light"/>
              </a:rPr>
              <a:t>voorheen</a:t>
            </a:r>
            <a:r>
              <a:rPr lang="fr-FR" sz="2400" dirty="0">
                <a:latin typeface="Open Sans Light"/>
              </a:rPr>
              <a:t> neutrale stimulus, die </a:t>
            </a:r>
            <a:r>
              <a:rPr lang="fr-FR" sz="2400" dirty="0" err="1">
                <a:latin typeface="Open Sans Light"/>
              </a:rPr>
              <a:t>door</a:t>
            </a:r>
            <a:r>
              <a:rPr lang="fr-FR" sz="2400" dirty="0">
                <a:latin typeface="Open Sans Light"/>
              </a:rPr>
              <a:t> </a:t>
            </a:r>
            <a:r>
              <a:rPr lang="fr-FR" sz="2400" dirty="0" err="1">
                <a:latin typeface="Open Sans Light"/>
              </a:rPr>
              <a:t>associatie</a:t>
            </a:r>
            <a:r>
              <a:rPr lang="fr-FR" sz="2400" dirty="0">
                <a:latin typeface="Open Sans Light"/>
              </a:rPr>
              <a:t> met de UCS, </a:t>
            </a:r>
            <a:r>
              <a:rPr lang="fr-FR" sz="2400" dirty="0" err="1">
                <a:latin typeface="Open Sans Light"/>
              </a:rPr>
              <a:t>een</a:t>
            </a:r>
            <a:r>
              <a:rPr lang="fr-FR" sz="2400" dirty="0">
                <a:latin typeface="Open Sans Light"/>
              </a:rPr>
              <a:t> </a:t>
            </a:r>
            <a:r>
              <a:rPr lang="fr-FR" sz="2400" dirty="0" err="1">
                <a:latin typeface="Open Sans Light"/>
              </a:rPr>
              <a:t>geconditioneerde</a:t>
            </a:r>
            <a:r>
              <a:rPr lang="fr-FR" sz="2400" dirty="0">
                <a:latin typeface="Open Sans Light"/>
              </a:rPr>
              <a:t> </a:t>
            </a:r>
            <a:r>
              <a:rPr lang="fr-FR" sz="2400" dirty="0" err="1">
                <a:latin typeface="Open Sans Light"/>
              </a:rPr>
              <a:t>respons</a:t>
            </a:r>
            <a:r>
              <a:rPr lang="fr-FR" sz="2400" dirty="0">
                <a:latin typeface="Open Sans Light"/>
              </a:rPr>
              <a:t> </a:t>
            </a:r>
            <a:r>
              <a:rPr lang="fr-FR" sz="2400" dirty="0" err="1">
                <a:latin typeface="Open Sans Light"/>
              </a:rPr>
              <a:t>oproept</a:t>
            </a:r>
            <a:r>
              <a:rPr lang="fr-FR" sz="2400" dirty="0">
                <a:latin typeface="Open Sans Light"/>
              </a:rPr>
              <a:t>.</a:t>
            </a:r>
          </a:p>
          <a:p>
            <a:pPr algn="r"/>
            <a:r>
              <a:rPr lang="fr-FR" sz="2400" b="1" dirty="0" err="1">
                <a:solidFill>
                  <a:srgbClr val="C00000"/>
                </a:solidFill>
                <a:latin typeface="Open Sans Light"/>
              </a:rPr>
              <a:t>Geluid</a:t>
            </a:r>
            <a:r>
              <a:rPr lang="fr-FR" sz="2400" b="1" dirty="0">
                <a:solidFill>
                  <a:srgbClr val="C00000"/>
                </a:solidFill>
                <a:latin typeface="Open Sans Light"/>
              </a:rPr>
              <a:t> van de bel</a:t>
            </a:r>
          </a:p>
          <a:p>
            <a:r>
              <a:rPr lang="fr-FR" sz="2400" dirty="0" err="1">
                <a:latin typeface="Open Sans Light"/>
              </a:rPr>
              <a:t>Geconditioneerde</a:t>
            </a:r>
            <a:r>
              <a:rPr lang="fr-FR" sz="2400" dirty="0">
                <a:latin typeface="Open Sans Light"/>
              </a:rPr>
              <a:t> </a:t>
            </a:r>
            <a:r>
              <a:rPr lang="fr-FR" sz="2400" dirty="0" err="1">
                <a:latin typeface="Open Sans Light"/>
              </a:rPr>
              <a:t>respons</a:t>
            </a:r>
            <a:r>
              <a:rPr lang="fr-FR" sz="2400" dirty="0">
                <a:latin typeface="Open Sans Light"/>
              </a:rPr>
              <a:t> (</a:t>
            </a:r>
            <a:r>
              <a:rPr lang="fr-FR" sz="2400" dirty="0">
                <a:solidFill>
                  <a:srgbClr val="C00000"/>
                </a:solidFill>
                <a:latin typeface="Open Sans Light"/>
              </a:rPr>
              <a:t>CR – </a:t>
            </a:r>
            <a:r>
              <a:rPr lang="fr-FR" sz="2400" dirty="0" err="1">
                <a:solidFill>
                  <a:srgbClr val="C00000"/>
                </a:solidFill>
                <a:latin typeface="Open Sans Light"/>
              </a:rPr>
              <a:t>conditioned</a:t>
            </a:r>
            <a:r>
              <a:rPr lang="fr-FR" sz="2400" dirty="0">
                <a:solidFill>
                  <a:srgbClr val="C00000"/>
                </a:solidFill>
                <a:latin typeface="Open Sans Light"/>
              </a:rPr>
              <a:t> </a:t>
            </a:r>
            <a:r>
              <a:rPr lang="fr-FR" sz="2400" dirty="0" err="1">
                <a:solidFill>
                  <a:srgbClr val="C00000"/>
                </a:solidFill>
                <a:latin typeface="Open Sans Light"/>
              </a:rPr>
              <a:t>respons</a:t>
            </a:r>
            <a:r>
              <a:rPr lang="fr-FR" sz="2400" dirty="0">
                <a:latin typeface="Open Sans Light"/>
              </a:rPr>
              <a:t>): </a:t>
            </a:r>
            <a:r>
              <a:rPr lang="fr-FR" sz="2400" dirty="0" err="1">
                <a:latin typeface="Open Sans Light"/>
              </a:rPr>
              <a:t>aangeleerde</a:t>
            </a:r>
            <a:r>
              <a:rPr lang="fr-FR" sz="2400" dirty="0">
                <a:latin typeface="Open Sans Light"/>
              </a:rPr>
              <a:t> </a:t>
            </a:r>
            <a:r>
              <a:rPr lang="fr-FR" sz="2400" dirty="0" err="1">
                <a:latin typeface="Open Sans Light"/>
              </a:rPr>
              <a:t>respons</a:t>
            </a:r>
            <a:r>
              <a:rPr lang="fr-FR" sz="2400" dirty="0">
                <a:latin typeface="Open Sans Light"/>
              </a:rPr>
              <a:t> </a:t>
            </a:r>
            <a:r>
              <a:rPr lang="fr-FR" sz="2400" dirty="0" err="1">
                <a:latin typeface="Open Sans Light"/>
              </a:rPr>
              <a:t>als</a:t>
            </a:r>
            <a:r>
              <a:rPr lang="fr-FR" sz="2400" dirty="0">
                <a:latin typeface="Open Sans Light"/>
              </a:rPr>
              <a:t> </a:t>
            </a:r>
            <a:r>
              <a:rPr lang="fr-FR" sz="2400" dirty="0" err="1">
                <a:latin typeface="Open Sans Light"/>
              </a:rPr>
              <a:t>reactie</a:t>
            </a:r>
            <a:r>
              <a:rPr lang="fr-FR" sz="2400" dirty="0">
                <a:latin typeface="Open Sans Light"/>
              </a:rPr>
              <a:t> op </a:t>
            </a:r>
            <a:r>
              <a:rPr lang="fr-FR" sz="2400" dirty="0" err="1">
                <a:latin typeface="Open Sans Light"/>
              </a:rPr>
              <a:t>een</a:t>
            </a:r>
            <a:r>
              <a:rPr lang="fr-FR" sz="2400" dirty="0">
                <a:latin typeface="Open Sans Light"/>
              </a:rPr>
              <a:t> </a:t>
            </a:r>
            <a:r>
              <a:rPr lang="fr-FR" sz="2400" dirty="0" err="1">
                <a:latin typeface="Open Sans Light"/>
              </a:rPr>
              <a:t>voorheen</a:t>
            </a:r>
            <a:r>
              <a:rPr lang="fr-FR" sz="2400" dirty="0">
                <a:latin typeface="Open Sans Light"/>
              </a:rPr>
              <a:t> neutrale stimulus.</a:t>
            </a:r>
          </a:p>
          <a:p>
            <a:pPr algn="r"/>
            <a:r>
              <a:rPr lang="fr-FR" sz="2400" b="1" dirty="0" err="1">
                <a:solidFill>
                  <a:srgbClr val="C00000"/>
                </a:solidFill>
                <a:latin typeface="Open Sans Light"/>
              </a:rPr>
              <a:t>Reactie</a:t>
            </a:r>
            <a:r>
              <a:rPr lang="fr-FR" sz="2400" b="1" dirty="0">
                <a:solidFill>
                  <a:srgbClr val="C00000"/>
                </a:solidFill>
                <a:latin typeface="Open Sans Light"/>
              </a:rPr>
              <a:t> van de </a:t>
            </a:r>
            <a:r>
              <a:rPr lang="fr-FR" sz="2400" b="1" dirty="0" err="1">
                <a:solidFill>
                  <a:srgbClr val="C00000"/>
                </a:solidFill>
                <a:latin typeface="Open Sans Light"/>
              </a:rPr>
              <a:t>kniepees</a:t>
            </a:r>
            <a:endParaRPr lang="fr-FR" sz="2400" b="1" dirty="0">
              <a:solidFill>
                <a:srgbClr val="C00000"/>
              </a:solidFill>
              <a:latin typeface="Open Sans Light"/>
            </a:endParaRPr>
          </a:p>
        </p:txBody>
      </p:sp>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Stimulus -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Respons</a:t>
            </a:r>
            <a:endParaRPr lang="en-GB"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 name="Rectangle 2">
            <a:extLst>
              <a:ext uri="{FF2B5EF4-FFF2-40B4-BE49-F238E27FC236}">
                <a16:creationId xmlns:a16="http://schemas.microsoft.com/office/drawing/2014/main" id="{A0BE7D8F-0A52-6550-0312-1076E4E7867B}"/>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4803031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Oefening</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voor</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jezelf</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thuis</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maken</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a:t>
            </a:r>
          </a:p>
        </p:txBody>
      </p:sp>
      <p:sp>
        <p:nvSpPr>
          <p:cNvPr id="3" name="Rectangle 2">
            <a:extLst>
              <a:ext uri="{FF2B5EF4-FFF2-40B4-BE49-F238E27FC236}">
                <a16:creationId xmlns:a16="http://schemas.microsoft.com/office/drawing/2014/main" id="{A0BE7D8F-0A52-6550-0312-1076E4E7867B}"/>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1026" name="Picture 2" descr="Pavlov cartoon">
            <a:extLst>
              <a:ext uri="{FF2B5EF4-FFF2-40B4-BE49-F238E27FC236}">
                <a16:creationId xmlns:a16="http://schemas.microsoft.com/office/drawing/2014/main" id="{4B9F2BEB-4137-1ABB-F67F-4FA5AE5AE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1331075">
            <a:off x="7581053" y="2516287"/>
            <a:ext cx="4169924" cy="3329762"/>
          </a:xfrm>
          <a:prstGeom prst="rect">
            <a:avLst/>
          </a:prstGeom>
          <a:solidFill>
            <a:srgbClr val="FFFFFF">
              <a:shade val="85000"/>
            </a:srgbClr>
          </a:solidFill>
          <a:ln w="190500" cap="rnd">
            <a:solidFill>
              <a:srgbClr val="FFFFFF"/>
            </a:solidFill>
          </a:ln>
          <a:effectLst>
            <a:outerShdw blurRad="50800" dist="38100" dir="2700000" algn="tl" rotWithShape="0">
              <a:prstClr val="black">
                <a:alpha val="40000"/>
              </a:prstClr>
            </a:outerShdw>
          </a:effectLst>
          <a:scene3d>
            <a:camera prst="orthographicFront"/>
            <a:lightRig rig="twoPt" dir="t">
              <a:rot lat="0" lon="0" rev="7800000"/>
            </a:lightRig>
          </a:scene3d>
          <a:sp3d contourW="6350">
            <a:bevelT w="50800" h="16510"/>
            <a:contourClr>
              <a:srgbClr val="C0C0C0"/>
            </a:contourClr>
          </a:sp3d>
        </p:spPr>
      </p:pic>
      <p:graphicFrame>
        <p:nvGraphicFramePr>
          <p:cNvPr id="2" name="Table 4">
            <a:extLst>
              <a:ext uri="{FF2B5EF4-FFF2-40B4-BE49-F238E27FC236}">
                <a16:creationId xmlns:a16="http://schemas.microsoft.com/office/drawing/2014/main" id="{2BC5E14B-7508-5C32-B065-A7F18F34627A}"/>
              </a:ext>
            </a:extLst>
          </p:cNvPr>
          <p:cNvGraphicFramePr>
            <a:graphicFrameLocks noGrp="1"/>
          </p:cNvGraphicFramePr>
          <p:nvPr>
            <p:extLst>
              <p:ext uri="{D42A27DB-BD31-4B8C-83A1-F6EECF244321}">
                <p14:modId xmlns:p14="http://schemas.microsoft.com/office/powerpoint/2010/main" val="2005536195"/>
              </p:ext>
            </p:extLst>
          </p:nvPr>
        </p:nvGraphicFramePr>
        <p:xfrm>
          <a:off x="696987" y="1980857"/>
          <a:ext cx="6408712" cy="2931160"/>
        </p:xfrm>
        <a:graphic>
          <a:graphicData uri="http://schemas.openxmlformats.org/drawingml/2006/table">
            <a:tbl>
              <a:tblPr firstRow="1" bandRow="1">
                <a:tableStyleId>{5C22544A-7EE6-4342-B048-85BDC9FD1C3A}</a:tableStyleId>
              </a:tblPr>
              <a:tblGrid>
                <a:gridCol w="2927436">
                  <a:extLst>
                    <a:ext uri="{9D8B030D-6E8A-4147-A177-3AD203B41FA5}">
                      <a16:colId xmlns:a16="http://schemas.microsoft.com/office/drawing/2014/main" val="3906285863"/>
                    </a:ext>
                  </a:extLst>
                </a:gridCol>
                <a:gridCol w="3481276">
                  <a:extLst>
                    <a:ext uri="{9D8B030D-6E8A-4147-A177-3AD203B41FA5}">
                      <a16:colId xmlns:a16="http://schemas.microsoft.com/office/drawing/2014/main" val="3946454519"/>
                    </a:ext>
                  </a:extLst>
                </a:gridCol>
              </a:tblGrid>
              <a:tr h="370840">
                <a:tc>
                  <a:txBody>
                    <a:bodyPr/>
                    <a:lstStyle/>
                    <a:p>
                      <a:r>
                        <a:rPr lang="en-GB" dirty="0">
                          <a:latin typeface="Open Sans Light" panose="020B0306030504020204" pitchFamily="34" charset="0"/>
                          <a:ea typeface="Open Sans Light" panose="020B0306030504020204" pitchFamily="34" charset="0"/>
                          <a:cs typeface="Open Sans Light" panose="020B0306030504020204" pitchFamily="34" charset="0"/>
                        </a:rPr>
                        <a:t>Begrip</a:t>
                      </a:r>
                      <a:endParaRPr lang="en-NL" dirty="0">
                        <a:latin typeface="Open Sans Light" panose="020B0306030504020204" pitchFamily="34" charset="0"/>
                        <a:ea typeface="Open Sans Light" panose="020B0306030504020204" pitchFamily="34" charset="0"/>
                        <a:cs typeface="Open Sans Light" panose="020B0306030504020204" pitchFamily="34" charset="0"/>
                      </a:endParaRPr>
                    </a:p>
                  </a:txBody>
                  <a:tcPr/>
                </a:tc>
                <a:tc>
                  <a:txBody>
                    <a:bodyPr/>
                    <a:lstStyle/>
                    <a:p>
                      <a:r>
                        <a:rPr lang="en-GB" dirty="0">
                          <a:latin typeface="Open Sans Light" panose="020B0306030504020204" pitchFamily="34" charset="0"/>
                          <a:ea typeface="Open Sans Light" panose="020B0306030504020204" pitchFamily="34" charset="0"/>
                          <a:cs typeface="Open Sans Light" panose="020B0306030504020204" pitchFamily="34" charset="0"/>
                        </a:rPr>
                        <a:t>Wat?</a:t>
                      </a:r>
                      <a:endParaRPr lang="en-NL" dirty="0">
                        <a:latin typeface="Open Sans Light" panose="020B0306030504020204" pitchFamily="34" charset="0"/>
                        <a:ea typeface="Open Sans Light" panose="020B0306030504020204" pitchFamily="34" charset="0"/>
                        <a:cs typeface="Open Sans Light" panose="020B0306030504020204" pitchFamily="34" charset="0"/>
                      </a:endParaRPr>
                    </a:p>
                  </a:txBody>
                  <a:tcPr/>
                </a:tc>
                <a:extLst>
                  <a:ext uri="{0D108BD9-81ED-4DB2-BD59-A6C34878D82A}">
                    <a16:rowId xmlns:a16="http://schemas.microsoft.com/office/drawing/2014/main" val="3641098353"/>
                  </a:ext>
                </a:extLst>
              </a:tr>
              <a:tr h="370840">
                <a:tc>
                  <a:txBody>
                    <a:bodyPr/>
                    <a:lstStyle/>
                    <a:p>
                      <a:r>
                        <a:rPr lang="en-GB" dirty="0" err="1">
                          <a:latin typeface="Open Sans Light" panose="020B0306030504020204" pitchFamily="34" charset="0"/>
                          <a:ea typeface="Open Sans Light" panose="020B0306030504020204" pitchFamily="34" charset="0"/>
                          <a:cs typeface="Open Sans Light" panose="020B0306030504020204" pitchFamily="34" charset="0"/>
                        </a:rPr>
                        <a:t>Ongeconditioneerde</a:t>
                      </a:r>
                      <a:r>
                        <a:rPr lang="en-GB" dirty="0">
                          <a:latin typeface="Open Sans Light" panose="020B0306030504020204" pitchFamily="34" charset="0"/>
                          <a:ea typeface="Open Sans Light" panose="020B0306030504020204" pitchFamily="34" charset="0"/>
                          <a:cs typeface="Open Sans Light" panose="020B0306030504020204" pitchFamily="34" charset="0"/>
                        </a:rPr>
                        <a:t> stimulus (UCS)</a:t>
                      </a:r>
                      <a:endParaRPr lang="en-NL" dirty="0">
                        <a:latin typeface="Open Sans Light" panose="020B0306030504020204" pitchFamily="34" charset="0"/>
                        <a:ea typeface="Open Sans Light" panose="020B0306030504020204" pitchFamily="34" charset="0"/>
                        <a:cs typeface="Open Sans Light" panose="020B0306030504020204" pitchFamily="34" charset="0"/>
                      </a:endParaRPr>
                    </a:p>
                  </a:txBody>
                  <a:tcPr/>
                </a:tc>
                <a:tc>
                  <a:txBody>
                    <a:bodyPr/>
                    <a:lstStyle/>
                    <a:p>
                      <a:endParaRPr lang="en-NL" dirty="0">
                        <a:latin typeface="Open Sans Light" panose="020B0306030504020204" pitchFamily="34" charset="0"/>
                        <a:ea typeface="Open Sans Light" panose="020B0306030504020204" pitchFamily="34" charset="0"/>
                        <a:cs typeface="Open Sans Light" panose="020B0306030504020204" pitchFamily="34" charset="0"/>
                      </a:endParaRPr>
                    </a:p>
                  </a:txBody>
                  <a:tcPr/>
                </a:tc>
                <a:extLst>
                  <a:ext uri="{0D108BD9-81ED-4DB2-BD59-A6C34878D82A}">
                    <a16:rowId xmlns:a16="http://schemas.microsoft.com/office/drawing/2014/main" val="4056471756"/>
                  </a:ext>
                </a:extLst>
              </a:tr>
              <a:tr h="370840">
                <a:tc>
                  <a:txBody>
                    <a:bodyPr/>
                    <a:lstStyle/>
                    <a:p>
                      <a:r>
                        <a:rPr lang="en-GB" dirty="0" err="1">
                          <a:latin typeface="Open Sans Light" panose="020B0306030504020204" pitchFamily="34" charset="0"/>
                          <a:ea typeface="Open Sans Light" panose="020B0306030504020204" pitchFamily="34" charset="0"/>
                          <a:cs typeface="Open Sans Light" panose="020B0306030504020204" pitchFamily="34" charset="0"/>
                        </a:rPr>
                        <a:t>Ongeconditioneerde</a:t>
                      </a:r>
                      <a:r>
                        <a:rPr lang="en-GB" dirty="0">
                          <a:latin typeface="Open Sans Light" panose="020B0306030504020204" pitchFamily="34" charset="0"/>
                          <a:ea typeface="Open Sans Light" panose="020B0306030504020204" pitchFamily="34" charset="0"/>
                          <a:cs typeface="Open Sans Light" panose="020B0306030504020204" pitchFamily="34" charset="0"/>
                        </a:rPr>
                        <a:t> </a:t>
                      </a:r>
                      <a:r>
                        <a:rPr lang="en-GB" dirty="0" err="1">
                          <a:latin typeface="Open Sans Light" panose="020B0306030504020204" pitchFamily="34" charset="0"/>
                          <a:ea typeface="Open Sans Light" panose="020B0306030504020204" pitchFamily="34" charset="0"/>
                          <a:cs typeface="Open Sans Light" panose="020B0306030504020204" pitchFamily="34" charset="0"/>
                        </a:rPr>
                        <a:t>respons</a:t>
                      </a:r>
                      <a:r>
                        <a:rPr lang="en-GB" dirty="0">
                          <a:latin typeface="Open Sans Light" panose="020B0306030504020204" pitchFamily="34" charset="0"/>
                          <a:ea typeface="Open Sans Light" panose="020B0306030504020204" pitchFamily="34" charset="0"/>
                          <a:cs typeface="Open Sans Light" panose="020B0306030504020204" pitchFamily="34" charset="0"/>
                        </a:rPr>
                        <a:t> (UCR)</a:t>
                      </a:r>
                      <a:endParaRPr lang="en-NL" dirty="0">
                        <a:latin typeface="Open Sans Light" panose="020B0306030504020204" pitchFamily="34" charset="0"/>
                        <a:ea typeface="Open Sans Light" panose="020B0306030504020204" pitchFamily="34" charset="0"/>
                        <a:cs typeface="Open Sans Light" panose="020B0306030504020204" pitchFamily="34" charset="0"/>
                      </a:endParaRPr>
                    </a:p>
                  </a:txBody>
                  <a:tcPr/>
                </a:tc>
                <a:tc>
                  <a:txBody>
                    <a:bodyPr/>
                    <a:lstStyle/>
                    <a:p>
                      <a:endParaRPr lang="en-NL" dirty="0">
                        <a:latin typeface="Open Sans Light" panose="020B0306030504020204" pitchFamily="34" charset="0"/>
                        <a:ea typeface="Open Sans Light" panose="020B0306030504020204" pitchFamily="34" charset="0"/>
                        <a:cs typeface="Open Sans Light" panose="020B0306030504020204" pitchFamily="34" charset="0"/>
                      </a:endParaRPr>
                    </a:p>
                  </a:txBody>
                  <a:tcPr/>
                </a:tc>
                <a:extLst>
                  <a:ext uri="{0D108BD9-81ED-4DB2-BD59-A6C34878D82A}">
                    <a16:rowId xmlns:a16="http://schemas.microsoft.com/office/drawing/2014/main" val="4072276311"/>
                  </a:ext>
                </a:extLst>
              </a:tr>
              <a:tr h="370840">
                <a:tc>
                  <a:txBody>
                    <a:bodyPr/>
                    <a:lstStyle/>
                    <a:p>
                      <a:r>
                        <a:rPr lang="en-GB" dirty="0" err="1">
                          <a:latin typeface="Open Sans Light" panose="020B0306030504020204" pitchFamily="34" charset="0"/>
                          <a:ea typeface="Open Sans Light" panose="020B0306030504020204" pitchFamily="34" charset="0"/>
                          <a:cs typeface="Open Sans Light" panose="020B0306030504020204" pitchFamily="34" charset="0"/>
                        </a:rPr>
                        <a:t>Geconditioneerde</a:t>
                      </a:r>
                      <a:r>
                        <a:rPr lang="en-GB" dirty="0">
                          <a:latin typeface="Open Sans Light" panose="020B0306030504020204" pitchFamily="34" charset="0"/>
                          <a:ea typeface="Open Sans Light" panose="020B0306030504020204" pitchFamily="34" charset="0"/>
                          <a:cs typeface="Open Sans Light" panose="020B0306030504020204" pitchFamily="34" charset="0"/>
                        </a:rPr>
                        <a:t> stimulus (CS)</a:t>
                      </a:r>
                      <a:endParaRPr lang="en-NL" dirty="0">
                        <a:latin typeface="Open Sans Light" panose="020B0306030504020204" pitchFamily="34" charset="0"/>
                        <a:ea typeface="Open Sans Light" panose="020B0306030504020204" pitchFamily="34" charset="0"/>
                        <a:cs typeface="Open Sans Light" panose="020B0306030504020204" pitchFamily="34" charset="0"/>
                      </a:endParaRPr>
                    </a:p>
                  </a:txBody>
                  <a:tcPr/>
                </a:tc>
                <a:tc>
                  <a:txBody>
                    <a:bodyPr/>
                    <a:lstStyle/>
                    <a:p>
                      <a:endParaRPr lang="en-NL" dirty="0">
                        <a:latin typeface="Open Sans Light" panose="020B0306030504020204" pitchFamily="34" charset="0"/>
                        <a:ea typeface="Open Sans Light" panose="020B0306030504020204" pitchFamily="34" charset="0"/>
                        <a:cs typeface="Open Sans Light" panose="020B0306030504020204" pitchFamily="34" charset="0"/>
                      </a:endParaRPr>
                    </a:p>
                  </a:txBody>
                  <a:tcPr/>
                </a:tc>
                <a:extLst>
                  <a:ext uri="{0D108BD9-81ED-4DB2-BD59-A6C34878D82A}">
                    <a16:rowId xmlns:a16="http://schemas.microsoft.com/office/drawing/2014/main" val="3667273090"/>
                  </a:ext>
                </a:extLst>
              </a:tr>
              <a:tr h="370840">
                <a:tc>
                  <a:txBody>
                    <a:bodyPr/>
                    <a:lstStyle/>
                    <a:p>
                      <a:r>
                        <a:rPr lang="en-GB" dirty="0" err="1">
                          <a:latin typeface="Open Sans Light" panose="020B0306030504020204" pitchFamily="34" charset="0"/>
                          <a:ea typeface="Open Sans Light" panose="020B0306030504020204" pitchFamily="34" charset="0"/>
                          <a:cs typeface="Open Sans Light" panose="020B0306030504020204" pitchFamily="34" charset="0"/>
                        </a:rPr>
                        <a:t>Geconditioneerde</a:t>
                      </a:r>
                      <a:r>
                        <a:rPr lang="en-GB" dirty="0">
                          <a:latin typeface="Open Sans Light" panose="020B0306030504020204" pitchFamily="34" charset="0"/>
                          <a:ea typeface="Open Sans Light" panose="020B0306030504020204" pitchFamily="34" charset="0"/>
                          <a:cs typeface="Open Sans Light" panose="020B0306030504020204" pitchFamily="34" charset="0"/>
                        </a:rPr>
                        <a:t> response (CR)</a:t>
                      </a:r>
                      <a:endParaRPr lang="en-NL" dirty="0">
                        <a:latin typeface="Open Sans Light" panose="020B0306030504020204" pitchFamily="34" charset="0"/>
                        <a:ea typeface="Open Sans Light" panose="020B0306030504020204" pitchFamily="34" charset="0"/>
                        <a:cs typeface="Open Sans Light" panose="020B0306030504020204" pitchFamily="34" charset="0"/>
                      </a:endParaRPr>
                    </a:p>
                  </a:txBody>
                  <a:tcPr/>
                </a:tc>
                <a:tc>
                  <a:txBody>
                    <a:bodyPr/>
                    <a:lstStyle/>
                    <a:p>
                      <a:endParaRPr lang="en-NL" dirty="0">
                        <a:latin typeface="Open Sans Light" panose="020B0306030504020204" pitchFamily="34" charset="0"/>
                        <a:ea typeface="Open Sans Light" panose="020B0306030504020204" pitchFamily="34" charset="0"/>
                        <a:cs typeface="Open Sans Light" panose="020B0306030504020204" pitchFamily="34" charset="0"/>
                      </a:endParaRPr>
                    </a:p>
                  </a:txBody>
                  <a:tcPr/>
                </a:tc>
                <a:extLst>
                  <a:ext uri="{0D108BD9-81ED-4DB2-BD59-A6C34878D82A}">
                    <a16:rowId xmlns:a16="http://schemas.microsoft.com/office/drawing/2014/main" val="932607462"/>
                  </a:ext>
                </a:extLst>
              </a:tr>
            </a:tbl>
          </a:graphicData>
        </a:graphic>
      </p:graphicFrame>
    </p:spTree>
    <p:extLst>
      <p:ext uri="{BB962C8B-B14F-4D97-AF65-F5344CB8AC3E}">
        <p14:creationId xmlns:p14="http://schemas.microsoft.com/office/powerpoint/2010/main" val="4151297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142818-AA1C-49CD-A5A4-05FB094E4E6F}"/>
              </a:ext>
            </a:extLst>
          </p:cNvPr>
          <p:cNvSpPr txBox="1"/>
          <p:nvPr/>
        </p:nvSpPr>
        <p:spPr>
          <a:xfrm>
            <a:off x="1173164" y="2132856"/>
            <a:ext cx="8020768" cy="3693319"/>
          </a:xfrm>
          <a:prstGeom prst="rect">
            <a:avLst/>
          </a:prstGeom>
          <a:noFill/>
        </p:spPr>
        <p:txBody>
          <a:bodyPr wrap="square" lIns="0" tIns="0" rIns="0" bIns="0" rtlCol="0">
            <a:spAutoFit/>
          </a:bodyPr>
          <a:lstStyle/>
          <a:p>
            <a:r>
              <a:rPr lang="nl-NL" sz="2400" dirty="0" err="1">
                <a:latin typeface="Open Sans Light"/>
              </a:rPr>
              <a:t>Burrhus</a:t>
            </a:r>
            <a:r>
              <a:rPr lang="nl-NL" sz="2400" dirty="0">
                <a:latin typeface="Open Sans Light"/>
              </a:rPr>
              <a:t> Frederic Skinner</a:t>
            </a:r>
          </a:p>
          <a:p>
            <a:endParaRPr lang="nl-NL" sz="2400" dirty="0">
              <a:latin typeface="Open Sans Light"/>
            </a:endParaRPr>
          </a:p>
          <a:p>
            <a:r>
              <a:rPr lang="nl-NL" sz="2400" dirty="0">
                <a:latin typeface="Open Sans Light"/>
              </a:rPr>
              <a:t>Teaching machines</a:t>
            </a:r>
          </a:p>
          <a:p>
            <a:endParaRPr lang="nl-NL" sz="2400" dirty="0">
              <a:latin typeface="Open Sans Light"/>
            </a:endParaRPr>
          </a:p>
          <a:p>
            <a:r>
              <a:rPr lang="nl-NL" sz="2400" dirty="0">
                <a:latin typeface="Open Sans Light"/>
              </a:rPr>
              <a:t>Focus op </a:t>
            </a:r>
            <a:r>
              <a:rPr lang="nl-NL" sz="2400" dirty="0">
                <a:solidFill>
                  <a:srgbClr val="C00000"/>
                </a:solidFill>
                <a:latin typeface="Open Sans Light"/>
              </a:rPr>
              <a:t>gevolgen/consequenties </a:t>
            </a:r>
            <a:r>
              <a:rPr lang="nl-NL" sz="2400" dirty="0">
                <a:latin typeface="Open Sans Light"/>
              </a:rPr>
              <a:t>van de respons. </a:t>
            </a:r>
          </a:p>
          <a:p>
            <a:endParaRPr lang="nl-NL" sz="2400" dirty="0">
              <a:latin typeface="Open Sans Light"/>
            </a:endParaRPr>
          </a:p>
          <a:p>
            <a:r>
              <a:rPr lang="nl-NL" sz="2400" dirty="0">
                <a:latin typeface="Open Sans Light"/>
              </a:rPr>
              <a:t>Basisidee: </a:t>
            </a:r>
            <a:br>
              <a:rPr lang="nl-NL" sz="2400" dirty="0">
                <a:latin typeface="Open Sans Light"/>
              </a:rPr>
            </a:br>
            <a:r>
              <a:rPr lang="nl-NL" sz="2400" dirty="0">
                <a:latin typeface="Open Sans Light"/>
              </a:rPr>
              <a:t>De </a:t>
            </a:r>
            <a:r>
              <a:rPr lang="nl-NL" sz="2400" dirty="0">
                <a:solidFill>
                  <a:srgbClr val="C00000"/>
                </a:solidFill>
                <a:latin typeface="Open Sans Light"/>
              </a:rPr>
              <a:t>omgeving controleert of beïnvloedt</a:t>
            </a:r>
            <a:r>
              <a:rPr lang="nl-NL" sz="2400" dirty="0">
                <a:latin typeface="Open Sans Light"/>
              </a:rPr>
              <a:t>, via bekrachtigers, de frequentie van het optreden van gedrag.</a:t>
            </a:r>
          </a:p>
          <a:p>
            <a:endParaRPr lang="fr-FR" sz="2400" dirty="0">
              <a:latin typeface="Open Sans Light"/>
            </a:endParaRPr>
          </a:p>
        </p:txBody>
      </p:sp>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Operante</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conditionering</a:t>
            </a:r>
            <a:endParaRPr lang="en-GB"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6" name="Picture 4" descr="http://t0.gstatic.com/images?q=tbn:ANd9GcTvTpoSDyJkWmSzUjX92dEzd49EcLFcCUH2TJgh53F-qXdvr-aVxw">
            <a:extLst>
              <a:ext uri="{FF2B5EF4-FFF2-40B4-BE49-F238E27FC236}">
                <a16:creationId xmlns:a16="http://schemas.microsoft.com/office/drawing/2014/main" id="{F9BAB123-96B4-4FAB-86E7-811D05FF3B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1014482">
            <a:off x="9718279" y="3890555"/>
            <a:ext cx="1369505" cy="2055671"/>
          </a:xfrm>
          <a:prstGeom prst="rect">
            <a:avLst/>
          </a:prstGeom>
          <a:solidFill>
            <a:srgbClr val="FFFFFF">
              <a:shade val="85000"/>
            </a:srgbClr>
          </a:solidFill>
          <a:ln w="190500" cap="rnd">
            <a:solidFill>
              <a:srgbClr val="FFFFFF"/>
            </a:solidFill>
          </a:ln>
          <a:effectLst>
            <a:outerShdw blurRad="50800" dist="38100" dir="2700000" algn="tl" rotWithShape="0">
              <a:prstClr val="black">
                <a:alpha val="40000"/>
              </a:prstClr>
            </a:outerShdw>
          </a:effectLst>
          <a:scene3d>
            <a:camera prst="orthographicFront"/>
            <a:lightRig rig="twoPt" dir="t">
              <a:rot lat="0" lon="0" rev="7800000"/>
            </a:lightRig>
          </a:scene3d>
          <a:sp3d contourW="6350">
            <a:bevelT w="50800" h="16510"/>
            <a:contourClr>
              <a:srgbClr val="C0C0C0"/>
            </a:contourClr>
          </a:sp3d>
        </p:spPr>
      </p:pic>
      <p:sp>
        <p:nvSpPr>
          <p:cNvPr id="3" name="Rectangle 2">
            <a:extLst>
              <a:ext uri="{FF2B5EF4-FFF2-40B4-BE49-F238E27FC236}">
                <a16:creationId xmlns:a16="http://schemas.microsoft.com/office/drawing/2014/main" id="{1CAB9C52-5C06-5D73-0618-9A51018B9442}"/>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2050" name="Picture 2" descr="Teaching machine - Wikipedia">
            <a:extLst>
              <a:ext uri="{FF2B5EF4-FFF2-40B4-BE49-F238E27FC236}">
                <a16:creationId xmlns:a16="http://schemas.microsoft.com/office/drawing/2014/main" id="{F3E53ACE-31B2-DC0B-EAC6-1A2CB1A782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232284">
            <a:off x="8462918" y="641914"/>
            <a:ext cx="3491867" cy="2420938"/>
          </a:xfrm>
          <a:prstGeom prst="rect">
            <a:avLst/>
          </a:prstGeom>
          <a:solidFill>
            <a:srgbClr val="FFFFFF">
              <a:shade val="85000"/>
            </a:srgbClr>
          </a:solidFill>
          <a:ln w="190500" cap="rnd">
            <a:solidFill>
              <a:srgbClr val="FFFFFF"/>
            </a:solidFill>
          </a:ln>
          <a:effectLst>
            <a:outerShdw blurRad="50800" dist="38100" dir="2700000" algn="tl" rotWithShape="0">
              <a:prstClr val="black">
                <a:alpha val="40000"/>
              </a:prstClr>
            </a:outerShdw>
          </a:effectLst>
          <a:scene3d>
            <a:camera prst="orthographicFront"/>
            <a:lightRig rig="twoPt" dir="t">
              <a:rot lat="0" lon="0" rev="7800000"/>
            </a:lightRig>
          </a:scene3d>
          <a:sp3d contourW="6350">
            <a:bevelT w="50800" h="16510"/>
            <a:contourClr>
              <a:srgbClr val="C0C0C0"/>
            </a:contourClr>
          </a:sp3d>
        </p:spPr>
      </p:pic>
      <p:pic>
        <p:nvPicPr>
          <p:cNvPr id="2052" name="Picture 4" descr="Skinner Teaching Machine | National Museum of American History">
            <a:extLst>
              <a:ext uri="{FF2B5EF4-FFF2-40B4-BE49-F238E27FC236}">
                <a16:creationId xmlns:a16="http://schemas.microsoft.com/office/drawing/2014/main" id="{06C619B0-1869-8929-DE59-891D89A010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20998581">
            <a:off x="6464483" y="627765"/>
            <a:ext cx="1710530" cy="2564904"/>
          </a:xfrm>
          <a:prstGeom prst="rect">
            <a:avLst/>
          </a:prstGeom>
          <a:solidFill>
            <a:srgbClr val="FFFFFF">
              <a:shade val="85000"/>
            </a:srgbClr>
          </a:solidFill>
          <a:ln w="190500" cap="rnd">
            <a:solidFill>
              <a:srgbClr val="FFFFFF"/>
            </a:solidFill>
          </a:ln>
          <a:effectLst>
            <a:outerShdw blurRad="50800" dist="38100" dir="2700000" algn="tl" rotWithShape="0">
              <a:prstClr val="black">
                <a:alpha val="40000"/>
              </a:prst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356894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29000">
              <a:schemeClr val="tx1"/>
            </a:gs>
            <a:gs pos="100000">
              <a:srgbClr val="474872"/>
            </a:gs>
          </a:gsLst>
          <a:lin ang="5400000" scaled="1"/>
        </a:gradFill>
        <a:effectLst/>
      </p:bgPr>
    </p:bg>
    <p:spTree>
      <p:nvGrpSpPr>
        <p:cNvPr id="1" name=""/>
        <p:cNvGrpSpPr/>
        <p:nvPr/>
      </p:nvGrpSpPr>
      <p:grpSpPr>
        <a:xfrm>
          <a:off x="0" y="0"/>
          <a:ext cx="0" cy="0"/>
          <a:chOff x="0" y="0"/>
          <a:chExt cx="0" cy="0"/>
        </a:xfrm>
      </p:grpSpPr>
      <p:graphicFrame>
        <p:nvGraphicFramePr>
          <p:cNvPr id="4" name="Tabel 3"/>
          <p:cNvGraphicFramePr>
            <a:graphicFrameLocks noGrp="1"/>
          </p:cNvGraphicFramePr>
          <p:nvPr/>
        </p:nvGraphicFramePr>
        <p:xfrm>
          <a:off x="2553397" y="3284985"/>
          <a:ext cx="6912768" cy="2779647"/>
        </p:xfrm>
        <a:graphic>
          <a:graphicData uri="http://schemas.openxmlformats.org/drawingml/2006/table">
            <a:tbl>
              <a:tblPr firstRow="1" bandRow="1">
                <a:tableStyleId>{21E4AEA4-8DFA-4A89-87EB-49C32662AFE0}</a:tableStyleId>
              </a:tblPr>
              <a:tblGrid>
                <a:gridCol w="2304256">
                  <a:extLst>
                    <a:ext uri="{9D8B030D-6E8A-4147-A177-3AD203B41FA5}">
                      <a16:colId xmlns:a16="http://schemas.microsoft.com/office/drawing/2014/main" val="20000"/>
                    </a:ext>
                  </a:extLst>
                </a:gridCol>
                <a:gridCol w="2304256">
                  <a:extLst>
                    <a:ext uri="{9D8B030D-6E8A-4147-A177-3AD203B41FA5}">
                      <a16:colId xmlns:a16="http://schemas.microsoft.com/office/drawing/2014/main" val="20001"/>
                    </a:ext>
                  </a:extLst>
                </a:gridCol>
                <a:gridCol w="2304256">
                  <a:extLst>
                    <a:ext uri="{9D8B030D-6E8A-4147-A177-3AD203B41FA5}">
                      <a16:colId xmlns:a16="http://schemas.microsoft.com/office/drawing/2014/main" val="20002"/>
                    </a:ext>
                  </a:extLst>
                </a:gridCol>
              </a:tblGrid>
              <a:tr h="926549">
                <a:tc>
                  <a:txBody>
                    <a:bodyPr/>
                    <a:lstStyle/>
                    <a:p>
                      <a:endParaRPr lang="en-US" sz="2400" dirty="0">
                        <a:effectLst>
                          <a:outerShdw blurRad="38100" dist="38100" dir="2700000" algn="tl">
                            <a:srgbClr val="000000">
                              <a:alpha val="43137"/>
                            </a:srgbClr>
                          </a:outerShdw>
                        </a:effectLst>
                        <a:latin typeface="Gill Sans MT" pitchFamily="34" charset="0"/>
                      </a:endParaRPr>
                    </a:p>
                    <a:p>
                      <a:r>
                        <a:rPr lang="en-US" sz="2400" dirty="0" err="1">
                          <a:effectLst>
                            <a:outerShdw blurRad="38100" dist="38100" dir="2700000" algn="tl">
                              <a:srgbClr val="000000">
                                <a:alpha val="43137"/>
                              </a:srgbClr>
                            </a:outerShdw>
                          </a:effectLst>
                          <a:latin typeface="Gill Sans MT" pitchFamily="34" charset="0"/>
                        </a:rPr>
                        <a:t>Uitkomst</a:t>
                      </a:r>
                      <a:r>
                        <a:rPr lang="en-US" sz="2400" dirty="0">
                          <a:effectLst>
                            <a:outerShdw blurRad="38100" dist="38100" dir="2700000" algn="tl">
                              <a:srgbClr val="000000">
                                <a:alpha val="43137"/>
                              </a:srgbClr>
                            </a:outerShdw>
                          </a:effectLst>
                          <a:latin typeface="Gill Sans MT" pitchFamily="34" charset="0"/>
                        </a:rPr>
                        <a:t>:</a:t>
                      </a:r>
                      <a:endParaRPr lang="nl-NL" sz="2400" dirty="0">
                        <a:effectLst>
                          <a:outerShdw blurRad="38100" dist="38100" dir="2700000" algn="tl">
                            <a:srgbClr val="000000">
                              <a:alpha val="43137"/>
                            </a:srgbClr>
                          </a:outerShdw>
                        </a:effectLst>
                        <a:latin typeface="Gill Sans MT" pitchFamily="34" charset="0"/>
                      </a:endParaRPr>
                    </a:p>
                  </a:txBody>
                  <a:tcPr>
                    <a:solidFill>
                      <a:srgbClr val="C00000"/>
                    </a:solidFill>
                  </a:tcPr>
                </a:tc>
                <a:tc>
                  <a:txBody>
                    <a:bodyPr/>
                    <a:lstStyle/>
                    <a:p>
                      <a:r>
                        <a:rPr lang="en-US" sz="2400" dirty="0">
                          <a:effectLst>
                            <a:outerShdw blurRad="38100" dist="38100" dir="2700000" algn="tl">
                              <a:srgbClr val="000000">
                                <a:alpha val="43137"/>
                              </a:srgbClr>
                            </a:outerShdw>
                          </a:effectLst>
                          <a:latin typeface="Gill Sans MT" pitchFamily="34" charset="0"/>
                        </a:rPr>
                        <a:t>Stimulus </a:t>
                      </a:r>
                      <a:r>
                        <a:rPr lang="en-US" sz="2400" dirty="0" err="1">
                          <a:effectLst>
                            <a:outerShdw blurRad="38100" dist="38100" dir="2700000" algn="tl">
                              <a:srgbClr val="000000">
                                <a:alpha val="43137"/>
                              </a:srgbClr>
                            </a:outerShdw>
                          </a:effectLst>
                          <a:latin typeface="Gill Sans MT" pitchFamily="34" charset="0"/>
                        </a:rPr>
                        <a:t>aanbieden</a:t>
                      </a:r>
                      <a:endParaRPr lang="nl-NL" sz="2400" dirty="0">
                        <a:effectLst>
                          <a:outerShdw blurRad="38100" dist="38100" dir="2700000" algn="tl">
                            <a:srgbClr val="000000">
                              <a:alpha val="43137"/>
                            </a:srgbClr>
                          </a:outerShdw>
                        </a:effectLst>
                        <a:latin typeface="Gill Sans MT" pitchFamily="34" charset="0"/>
                      </a:endParaRPr>
                    </a:p>
                  </a:txBody>
                  <a:tcPr>
                    <a:solidFill>
                      <a:srgbClr val="C00000"/>
                    </a:solidFill>
                  </a:tcPr>
                </a:tc>
                <a:tc>
                  <a:txBody>
                    <a:bodyPr/>
                    <a:lstStyle/>
                    <a:p>
                      <a:r>
                        <a:rPr lang="en-US" sz="2400">
                          <a:effectLst>
                            <a:outerShdw blurRad="38100" dist="38100" dir="2700000" algn="tl">
                              <a:srgbClr val="000000">
                                <a:alpha val="43137"/>
                              </a:srgbClr>
                            </a:outerShdw>
                          </a:effectLst>
                          <a:latin typeface="Gill Sans MT" pitchFamily="34" charset="0"/>
                        </a:rPr>
                        <a:t>Stimulus verwijderen</a:t>
                      </a:r>
                      <a:endParaRPr lang="nl-NL" sz="2400" dirty="0">
                        <a:effectLst>
                          <a:outerShdw blurRad="38100" dist="38100" dir="2700000" algn="tl">
                            <a:srgbClr val="000000">
                              <a:alpha val="43137"/>
                            </a:srgbClr>
                          </a:outerShdw>
                        </a:effectLst>
                        <a:latin typeface="Gill Sans MT" pitchFamily="34" charset="0"/>
                      </a:endParaRPr>
                    </a:p>
                  </a:txBody>
                  <a:tcPr>
                    <a:solidFill>
                      <a:srgbClr val="C00000"/>
                    </a:solidFill>
                  </a:tcPr>
                </a:tc>
                <a:extLst>
                  <a:ext uri="{0D108BD9-81ED-4DB2-BD59-A6C34878D82A}">
                    <a16:rowId xmlns:a16="http://schemas.microsoft.com/office/drawing/2014/main" val="10000"/>
                  </a:ext>
                </a:extLst>
              </a:tr>
              <a:tr h="926549">
                <a:tc>
                  <a:txBody>
                    <a:bodyPr/>
                    <a:lstStyle/>
                    <a:p>
                      <a:r>
                        <a:rPr lang="en-US" sz="2400" dirty="0" err="1">
                          <a:effectLst>
                            <a:outerShdw blurRad="38100" dist="38100" dir="2700000" algn="tl">
                              <a:srgbClr val="000000">
                                <a:alpha val="43137"/>
                              </a:srgbClr>
                            </a:outerShdw>
                          </a:effectLst>
                          <a:latin typeface="Gill Sans MT" pitchFamily="34" charset="0"/>
                        </a:rPr>
                        <a:t>Toename</a:t>
                      </a:r>
                      <a:r>
                        <a:rPr lang="en-US" sz="2400" baseline="0" dirty="0">
                          <a:effectLst>
                            <a:outerShdw blurRad="38100" dist="38100" dir="2700000" algn="tl">
                              <a:srgbClr val="000000">
                                <a:alpha val="43137"/>
                              </a:srgbClr>
                            </a:outerShdw>
                          </a:effectLst>
                          <a:latin typeface="Gill Sans MT" pitchFamily="34" charset="0"/>
                        </a:rPr>
                        <a:t> </a:t>
                      </a:r>
                      <a:r>
                        <a:rPr lang="en-US" sz="2400" baseline="0" dirty="0" err="1">
                          <a:effectLst>
                            <a:outerShdw blurRad="38100" dist="38100" dir="2700000" algn="tl">
                              <a:srgbClr val="000000">
                                <a:alpha val="43137"/>
                              </a:srgbClr>
                            </a:outerShdw>
                          </a:effectLst>
                          <a:latin typeface="Gill Sans MT" pitchFamily="34" charset="0"/>
                        </a:rPr>
                        <a:t>gedrag</a:t>
                      </a:r>
                      <a:endParaRPr lang="nl-NL" sz="2400" dirty="0">
                        <a:effectLst>
                          <a:outerShdw blurRad="38100" dist="38100" dir="2700000" algn="tl">
                            <a:srgbClr val="000000">
                              <a:alpha val="43137"/>
                            </a:srgbClr>
                          </a:outerShdw>
                        </a:effectLst>
                        <a:latin typeface="Gill Sans MT" pitchFamily="34" charset="0"/>
                      </a:endParaRPr>
                    </a:p>
                  </a:txBody>
                  <a:tcPr/>
                </a:tc>
                <a:tc>
                  <a:txBody>
                    <a:bodyPr/>
                    <a:lstStyle/>
                    <a:p>
                      <a:r>
                        <a:rPr lang="en-US" sz="2400" dirty="0" err="1">
                          <a:effectLst>
                            <a:outerShdw blurRad="38100" dist="38100" dir="2700000" algn="tl">
                              <a:srgbClr val="000000">
                                <a:alpha val="43137"/>
                              </a:srgbClr>
                            </a:outerShdw>
                          </a:effectLst>
                          <a:latin typeface="Gill Sans MT" pitchFamily="34" charset="0"/>
                        </a:rPr>
                        <a:t>Positieve</a:t>
                      </a:r>
                      <a:r>
                        <a:rPr lang="en-US" sz="2400" dirty="0">
                          <a:effectLst>
                            <a:outerShdw blurRad="38100" dist="38100" dir="2700000" algn="tl">
                              <a:srgbClr val="000000">
                                <a:alpha val="43137"/>
                              </a:srgbClr>
                            </a:outerShdw>
                          </a:effectLst>
                          <a:latin typeface="Gill Sans MT" pitchFamily="34" charset="0"/>
                        </a:rPr>
                        <a:t> reinforcement</a:t>
                      </a:r>
                      <a:endParaRPr lang="nl-NL" sz="2400" dirty="0">
                        <a:effectLst>
                          <a:outerShdw blurRad="38100" dist="38100" dir="2700000" algn="tl">
                            <a:srgbClr val="000000">
                              <a:alpha val="43137"/>
                            </a:srgbClr>
                          </a:outerShdw>
                        </a:effectLst>
                        <a:latin typeface="Gill Sans MT" pitchFamily="34" charset="0"/>
                      </a:endParaRPr>
                    </a:p>
                  </a:txBody>
                  <a:tcPr/>
                </a:tc>
                <a:tc>
                  <a:txBody>
                    <a:bodyPr/>
                    <a:lstStyle/>
                    <a:p>
                      <a:r>
                        <a:rPr lang="en-US" sz="2400" dirty="0" err="1">
                          <a:effectLst>
                            <a:outerShdw blurRad="38100" dist="38100" dir="2700000" algn="tl">
                              <a:srgbClr val="000000">
                                <a:alpha val="43137"/>
                              </a:srgbClr>
                            </a:outerShdw>
                          </a:effectLst>
                          <a:latin typeface="Gill Sans MT" pitchFamily="34" charset="0"/>
                        </a:rPr>
                        <a:t>Negatieve</a:t>
                      </a:r>
                      <a:r>
                        <a:rPr lang="en-US" sz="2400" baseline="0" dirty="0">
                          <a:effectLst>
                            <a:outerShdw blurRad="38100" dist="38100" dir="2700000" algn="tl">
                              <a:srgbClr val="000000">
                                <a:alpha val="43137"/>
                              </a:srgbClr>
                            </a:outerShdw>
                          </a:effectLst>
                          <a:latin typeface="Gill Sans MT" pitchFamily="34" charset="0"/>
                        </a:rPr>
                        <a:t> reinforcement</a:t>
                      </a:r>
                      <a:endParaRPr lang="nl-NL" sz="2400" dirty="0">
                        <a:effectLst>
                          <a:outerShdw blurRad="38100" dist="38100" dir="2700000" algn="tl">
                            <a:srgbClr val="000000">
                              <a:alpha val="43137"/>
                            </a:srgbClr>
                          </a:outerShdw>
                        </a:effectLst>
                        <a:latin typeface="Gill Sans MT" pitchFamily="34" charset="0"/>
                      </a:endParaRPr>
                    </a:p>
                  </a:txBody>
                  <a:tcPr/>
                </a:tc>
                <a:extLst>
                  <a:ext uri="{0D108BD9-81ED-4DB2-BD59-A6C34878D82A}">
                    <a16:rowId xmlns:a16="http://schemas.microsoft.com/office/drawing/2014/main" val="10001"/>
                  </a:ext>
                </a:extLst>
              </a:tr>
              <a:tr h="926549">
                <a:tc>
                  <a:txBody>
                    <a:bodyPr/>
                    <a:lstStyle/>
                    <a:p>
                      <a:r>
                        <a:rPr lang="en-US" sz="2400" dirty="0" err="1">
                          <a:effectLst>
                            <a:outerShdw blurRad="38100" dist="38100" dir="2700000" algn="tl">
                              <a:srgbClr val="000000">
                                <a:alpha val="43137"/>
                              </a:srgbClr>
                            </a:outerShdw>
                          </a:effectLst>
                          <a:latin typeface="Gill Sans MT" pitchFamily="34" charset="0"/>
                        </a:rPr>
                        <a:t>Afname</a:t>
                      </a:r>
                      <a:r>
                        <a:rPr lang="en-US" sz="2400" dirty="0">
                          <a:effectLst>
                            <a:outerShdw blurRad="38100" dist="38100" dir="2700000" algn="tl">
                              <a:srgbClr val="000000">
                                <a:alpha val="43137"/>
                              </a:srgbClr>
                            </a:outerShdw>
                          </a:effectLst>
                          <a:latin typeface="Gill Sans MT" pitchFamily="34" charset="0"/>
                        </a:rPr>
                        <a:t> </a:t>
                      </a:r>
                      <a:r>
                        <a:rPr lang="en-US" sz="2400" dirty="0" err="1">
                          <a:effectLst>
                            <a:outerShdw blurRad="38100" dist="38100" dir="2700000" algn="tl">
                              <a:srgbClr val="000000">
                                <a:alpha val="43137"/>
                              </a:srgbClr>
                            </a:outerShdw>
                          </a:effectLst>
                          <a:latin typeface="Gill Sans MT" pitchFamily="34" charset="0"/>
                        </a:rPr>
                        <a:t>gedrag</a:t>
                      </a:r>
                      <a:endParaRPr lang="nl-NL" sz="2400" dirty="0">
                        <a:effectLst>
                          <a:outerShdw blurRad="38100" dist="38100" dir="2700000" algn="tl">
                            <a:srgbClr val="000000">
                              <a:alpha val="43137"/>
                            </a:srgbClr>
                          </a:outerShdw>
                        </a:effectLst>
                        <a:latin typeface="Gill Sans MT" pitchFamily="34" charset="0"/>
                      </a:endParaRPr>
                    </a:p>
                  </a:txBody>
                  <a:tcPr/>
                </a:tc>
                <a:tc>
                  <a:txBody>
                    <a:bodyPr/>
                    <a:lstStyle/>
                    <a:p>
                      <a:r>
                        <a:rPr lang="en-US" sz="2400" dirty="0" err="1">
                          <a:effectLst>
                            <a:outerShdw blurRad="38100" dist="38100" dir="2700000" algn="tl">
                              <a:srgbClr val="000000">
                                <a:alpha val="43137"/>
                              </a:srgbClr>
                            </a:outerShdw>
                          </a:effectLst>
                          <a:latin typeface="Gill Sans MT" pitchFamily="34" charset="0"/>
                        </a:rPr>
                        <a:t>Positieve</a:t>
                      </a:r>
                      <a:r>
                        <a:rPr lang="en-US" sz="2400" baseline="0" dirty="0">
                          <a:effectLst>
                            <a:outerShdw blurRad="38100" dist="38100" dir="2700000" algn="tl">
                              <a:srgbClr val="000000">
                                <a:alpha val="43137"/>
                              </a:srgbClr>
                            </a:outerShdw>
                          </a:effectLst>
                          <a:latin typeface="Gill Sans MT" pitchFamily="34" charset="0"/>
                        </a:rPr>
                        <a:t> punishment</a:t>
                      </a:r>
                      <a:endParaRPr lang="nl-NL" sz="2400" dirty="0">
                        <a:effectLst>
                          <a:outerShdw blurRad="38100" dist="38100" dir="2700000" algn="tl">
                            <a:srgbClr val="000000">
                              <a:alpha val="43137"/>
                            </a:srgbClr>
                          </a:outerShdw>
                        </a:effectLst>
                        <a:latin typeface="Gill Sans MT" pitchFamily="34" charset="0"/>
                      </a:endParaRPr>
                    </a:p>
                  </a:txBody>
                  <a:tcPr/>
                </a:tc>
                <a:tc>
                  <a:txBody>
                    <a:bodyPr/>
                    <a:lstStyle/>
                    <a:p>
                      <a:r>
                        <a:rPr lang="en-US" sz="2400" dirty="0" err="1">
                          <a:effectLst>
                            <a:outerShdw blurRad="38100" dist="38100" dir="2700000" algn="tl">
                              <a:srgbClr val="000000">
                                <a:alpha val="43137"/>
                              </a:srgbClr>
                            </a:outerShdw>
                          </a:effectLst>
                          <a:latin typeface="Gill Sans MT" pitchFamily="34" charset="0"/>
                        </a:rPr>
                        <a:t>Negatieve</a:t>
                      </a:r>
                      <a:r>
                        <a:rPr lang="en-US" sz="2400" dirty="0">
                          <a:effectLst>
                            <a:outerShdw blurRad="38100" dist="38100" dir="2700000" algn="tl">
                              <a:srgbClr val="000000">
                                <a:alpha val="43137"/>
                              </a:srgbClr>
                            </a:outerShdw>
                          </a:effectLst>
                          <a:latin typeface="Gill Sans MT" pitchFamily="34" charset="0"/>
                        </a:rPr>
                        <a:t> punishment.</a:t>
                      </a:r>
                      <a:endParaRPr lang="nl-NL" sz="2400" dirty="0">
                        <a:effectLst>
                          <a:outerShdw blurRad="38100" dist="38100" dir="2700000" algn="tl">
                            <a:srgbClr val="000000">
                              <a:alpha val="43137"/>
                            </a:srgbClr>
                          </a:outerShdw>
                        </a:effectLst>
                        <a:latin typeface="Gill Sans MT" pitchFamily="34" charset="0"/>
                      </a:endParaRPr>
                    </a:p>
                  </a:txBody>
                  <a:tcPr/>
                </a:tc>
                <a:extLst>
                  <a:ext uri="{0D108BD9-81ED-4DB2-BD59-A6C34878D82A}">
                    <a16:rowId xmlns:a16="http://schemas.microsoft.com/office/drawing/2014/main" val="10002"/>
                  </a:ext>
                </a:extLst>
              </a:tr>
            </a:tbl>
          </a:graphicData>
        </a:graphic>
      </p:graphicFrame>
      <p:pic>
        <p:nvPicPr>
          <p:cNvPr id="5" name="Afbeelding 5">
            <a:extLst>
              <a:ext uri="{FF2B5EF4-FFF2-40B4-BE49-F238E27FC236}">
                <a16:creationId xmlns:a16="http://schemas.microsoft.com/office/drawing/2014/main" id="{68B7FF86-010A-49DD-8826-876031F2B9C0}"/>
              </a:ext>
            </a:extLst>
          </p:cNvPr>
          <p:cNvPicPr>
            <a:picLocks noChangeAspect="1"/>
          </p:cNvPicPr>
          <p:nvPr/>
        </p:nvPicPr>
        <p:blipFill>
          <a:blip r:embed="rId4"/>
          <a:srcRect/>
          <a:stretch>
            <a:fillRect/>
          </a:stretch>
        </p:blipFill>
        <p:spPr bwMode="auto">
          <a:xfrm>
            <a:off x="3793331" y="2708920"/>
            <a:ext cx="1781175" cy="1704975"/>
          </a:xfrm>
          <a:prstGeom prst="rect">
            <a:avLst/>
          </a:prstGeom>
          <a:noFill/>
          <a:ln w="9525">
            <a:noFill/>
            <a:miter lim="800000"/>
            <a:headEnd/>
            <a:tailEnd/>
          </a:ln>
        </p:spPr>
      </p:pic>
      <p:sp>
        <p:nvSpPr>
          <p:cNvPr id="6" name="Tekstvak 6">
            <a:extLst>
              <a:ext uri="{FF2B5EF4-FFF2-40B4-BE49-F238E27FC236}">
                <a16:creationId xmlns:a16="http://schemas.microsoft.com/office/drawing/2014/main" id="{71F549A7-6A8D-426D-BEE9-F3649B792770}"/>
              </a:ext>
            </a:extLst>
          </p:cNvPr>
          <p:cNvSpPr txBox="1">
            <a:spLocks noChangeArrowheads="1"/>
          </p:cNvSpPr>
          <p:nvPr/>
        </p:nvSpPr>
        <p:spPr bwMode="auto">
          <a:xfrm>
            <a:off x="3864768" y="2781945"/>
            <a:ext cx="1657350" cy="646331"/>
          </a:xfrm>
          <a:prstGeom prst="rect">
            <a:avLst/>
          </a:prstGeom>
          <a:noFill/>
          <a:ln w="9525">
            <a:noFill/>
            <a:miter lim="800000"/>
            <a:headEnd/>
            <a:tailEnd/>
          </a:ln>
        </p:spPr>
        <p:txBody>
          <a:bodyPr>
            <a:spAutoFit/>
          </a:bodyPr>
          <a:lstStyle/>
          <a:p>
            <a:pPr algn="ctr"/>
            <a:r>
              <a:rPr lang="nl-NL" b="1" dirty="0">
                <a:solidFill>
                  <a:srgbClr val="C00000"/>
                </a:solidFill>
                <a:effectLst>
                  <a:outerShdw blurRad="38100" dist="38100" dir="2700000" algn="tl">
                    <a:srgbClr val="000000">
                      <a:alpha val="43137"/>
                    </a:srgbClr>
                  </a:outerShdw>
                </a:effectLst>
                <a:latin typeface="Gill Sans MT" pitchFamily="34" charset="0"/>
              </a:rPr>
              <a:t>Een sticker in je schrift</a:t>
            </a:r>
          </a:p>
        </p:txBody>
      </p:sp>
      <p:pic>
        <p:nvPicPr>
          <p:cNvPr id="2" name="Afbeelding 7">
            <a:extLst>
              <a:ext uri="{FF2B5EF4-FFF2-40B4-BE49-F238E27FC236}">
                <a16:creationId xmlns:a16="http://schemas.microsoft.com/office/drawing/2014/main" id="{47CDC556-AF3E-A6F4-32D5-72F35A1FA5C5}"/>
              </a:ext>
            </a:extLst>
          </p:cNvPr>
          <p:cNvPicPr>
            <a:picLocks noChangeAspect="1"/>
          </p:cNvPicPr>
          <p:nvPr/>
        </p:nvPicPr>
        <p:blipFill>
          <a:blip r:embed="rId4"/>
          <a:srcRect/>
          <a:stretch>
            <a:fillRect/>
          </a:stretch>
        </p:blipFill>
        <p:spPr bwMode="auto">
          <a:xfrm>
            <a:off x="6674222" y="2750295"/>
            <a:ext cx="1781175" cy="1704975"/>
          </a:xfrm>
          <a:prstGeom prst="rect">
            <a:avLst/>
          </a:prstGeom>
          <a:noFill/>
          <a:ln w="9525">
            <a:noFill/>
            <a:miter lim="800000"/>
            <a:headEnd/>
            <a:tailEnd/>
          </a:ln>
        </p:spPr>
      </p:pic>
      <p:sp>
        <p:nvSpPr>
          <p:cNvPr id="3" name="Tekstvak 8">
            <a:extLst>
              <a:ext uri="{FF2B5EF4-FFF2-40B4-BE49-F238E27FC236}">
                <a16:creationId xmlns:a16="http://schemas.microsoft.com/office/drawing/2014/main" id="{3D451061-657E-99C9-DEFE-530203C160F2}"/>
              </a:ext>
            </a:extLst>
          </p:cNvPr>
          <p:cNvSpPr txBox="1">
            <a:spLocks noChangeArrowheads="1"/>
          </p:cNvSpPr>
          <p:nvPr/>
        </p:nvSpPr>
        <p:spPr bwMode="auto">
          <a:xfrm>
            <a:off x="6745659" y="2823320"/>
            <a:ext cx="1657350" cy="923330"/>
          </a:xfrm>
          <a:prstGeom prst="rect">
            <a:avLst/>
          </a:prstGeom>
          <a:noFill/>
          <a:ln w="9525">
            <a:noFill/>
            <a:miter lim="800000"/>
            <a:headEnd/>
            <a:tailEnd/>
          </a:ln>
        </p:spPr>
        <p:txBody>
          <a:bodyPr>
            <a:spAutoFit/>
          </a:bodyPr>
          <a:lstStyle/>
          <a:p>
            <a:pPr algn="ctr"/>
            <a:r>
              <a:rPr lang="nl-NL" b="1" dirty="0">
                <a:solidFill>
                  <a:srgbClr val="C00000"/>
                </a:solidFill>
                <a:effectLst>
                  <a:outerShdw blurRad="38100" dist="38100" dir="2700000" algn="tl">
                    <a:srgbClr val="000000">
                      <a:alpha val="43137"/>
                    </a:srgbClr>
                  </a:outerShdw>
                </a:effectLst>
                <a:latin typeface="Gill Sans MT" pitchFamily="34" charset="0"/>
              </a:rPr>
              <a:t>Geen huiswerk als je oplet</a:t>
            </a:r>
          </a:p>
        </p:txBody>
      </p:sp>
      <p:pic>
        <p:nvPicPr>
          <p:cNvPr id="7" name="Afbeelding 7">
            <a:extLst>
              <a:ext uri="{FF2B5EF4-FFF2-40B4-BE49-F238E27FC236}">
                <a16:creationId xmlns:a16="http://schemas.microsoft.com/office/drawing/2014/main" id="{D6F14D41-9FEA-285D-84D6-514B1C61F584}"/>
              </a:ext>
            </a:extLst>
          </p:cNvPr>
          <p:cNvPicPr>
            <a:picLocks noChangeAspect="1"/>
          </p:cNvPicPr>
          <p:nvPr/>
        </p:nvPicPr>
        <p:blipFill>
          <a:blip r:embed="rId4"/>
          <a:srcRect/>
          <a:stretch>
            <a:fillRect/>
          </a:stretch>
        </p:blipFill>
        <p:spPr bwMode="auto">
          <a:xfrm>
            <a:off x="3505201" y="3603660"/>
            <a:ext cx="1781175" cy="1704975"/>
          </a:xfrm>
          <a:prstGeom prst="rect">
            <a:avLst/>
          </a:prstGeom>
          <a:noFill/>
          <a:ln w="9525">
            <a:noFill/>
            <a:miter lim="800000"/>
            <a:headEnd/>
            <a:tailEnd/>
          </a:ln>
        </p:spPr>
      </p:pic>
      <p:sp>
        <p:nvSpPr>
          <p:cNvPr id="8" name="Tekstvak 7">
            <a:extLst>
              <a:ext uri="{FF2B5EF4-FFF2-40B4-BE49-F238E27FC236}">
                <a16:creationId xmlns:a16="http://schemas.microsoft.com/office/drawing/2014/main" id="{DD470036-F869-315E-CFAB-08D827DAAC3A}"/>
              </a:ext>
            </a:extLst>
          </p:cNvPr>
          <p:cNvSpPr txBox="1">
            <a:spLocks noChangeArrowheads="1"/>
          </p:cNvSpPr>
          <p:nvPr/>
        </p:nvSpPr>
        <p:spPr bwMode="auto">
          <a:xfrm>
            <a:off x="3576638" y="3676685"/>
            <a:ext cx="1657350" cy="923330"/>
          </a:xfrm>
          <a:prstGeom prst="rect">
            <a:avLst/>
          </a:prstGeom>
          <a:noFill/>
          <a:ln w="9525">
            <a:noFill/>
            <a:miter lim="800000"/>
            <a:headEnd/>
            <a:tailEnd/>
          </a:ln>
        </p:spPr>
        <p:txBody>
          <a:bodyPr>
            <a:spAutoFit/>
          </a:bodyPr>
          <a:lstStyle/>
          <a:p>
            <a:pPr algn="ctr"/>
            <a:r>
              <a:rPr lang="nl-NL" b="1" dirty="0">
                <a:solidFill>
                  <a:srgbClr val="C00000"/>
                </a:solidFill>
                <a:effectLst>
                  <a:outerShdw blurRad="38100" dist="38100" dir="2700000" algn="tl">
                    <a:srgbClr val="000000">
                      <a:alpha val="43137"/>
                    </a:srgbClr>
                  </a:outerShdw>
                </a:effectLst>
                <a:latin typeface="Gill Sans MT" pitchFamily="34" charset="0"/>
              </a:rPr>
              <a:t>Strafwerk wanneer je te laat komt</a:t>
            </a:r>
          </a:p>
        </p:txBody>
      </p:sp>
      <p:pic>
        <p:nvPicPr>
          <p:cNvPr id="9" name="Afbeelding 7">
            <a:extLst>
              <a:ext uri="{FF2B5EF4-FFF2-40B4-BE49-F238E27FC236}">
                <a16:creationId xmlns:a16="http://schemas.microsoft.com/office/drawing/2014/main" id="{E374AC92-789A-DA49-BE9D-66DDC4990606}"/>
              </a:ext>
            </a:extLst>
          </p:cNvPr>
          <p:cNvPicPr>
            <a:picLocks noChangeAspect="1"/>
          </p:cNvPicPr>
          <p:nvPr/>
        </p:nvPicPr>
        <p:blipFill>
          <a:blip r:embed="rId4"/>
          <a:srcRect/>
          <a:stretch>
            <a:fillRect/>
          </a:stretch>
        </p:blipFill>
        <p:spPr bwMode="auto">
          <a:xfrm rot="4418421">
            <a:off x="9198064" y="3879205"/>
            <a:ext cx="1781175" cy="1704975"/>
          </a:xfrm>
          <a:prstGeom prst="rect">
            <a:avLst/>
          </a:prstGeom>
          <a:noFill/>
          <a:ln w="9525">
            <a:noFill/>
            <a:miter lim="800000"/>
            <a:headEnd/>
            <a:tailEnd/>
          </a:ln>
        </p:spPr>
      </p:pic>
      <p:sp>
        <p:nvSpPr>
          <p:cNvPr id="10" name="Tekstvak 8">
            <a:extLst>
              <a:ext uri="{FF2B5EF4-FFF2-40B4-BE49-F238E27FC236}">
                <a16:creationId xmlns:a16="http://schemas.microsoft.com/office/drawing/2014/main" id="{F11F8C16-2BE3-B577-C168-FC1482581229}"/>
              </a:ext>
            </a:extLst>
          </p:cNvPr>
          <p:cNvSpPr txBox="1">
            <a:spLocks noChangeArrowheads="1"/>
          </p:cNvSpPr>
          <p:nvPr/>
        </p:nvSpPr>
        <p:spPr bwMode="auto">
          <a:xfrm rot="4418421">
            <a:off x="9530565" y="4171786"/>
            <a:ext cx="1657350" cy="923330"/>
          </a:xfrm>
          <a:prstGeom prst="rect">
            <a:avLst/>
          </a:prstGeom>
          <a:noFill/>
          <a:ln w="9525">
            <a:noFill/>
            <a:miter lim="800000"/>
            <a:headEnd/>
            <a:tailEnd/>
          </a:ln>
        </p:spPr>
        <p:txBody>
          <a:bodyPr>
            <a:spAutoFit/>
          </a:bodyPr>
          <a:lstStyle/>
          <a:p>
            <a:pPr algn="ctr"/>
            <a:r>
              <a:rPr lang="nl-NL" b="1" dirty="0">
                <a:solidFill>
                  <a:srgbClr val="C00000"/>
                </a:solidFill>
                <a:effectLst>
                  <a:outerShdw blurRad="38100" dist="38100" dir="2700000" algn="tl">
                    <a:srgbClr val="000000">
                      <a:alpha val="43137"/>
                    </a:srgbClr>
                  </a:outerShdw>
                </a:effectLst>
                <a:latin typeface="Gill Sans MT" pitchFamily="34" charset="0"/>
              </a:rPr>
              <a:t>Geen zakgeld als je ruzie maakt</a:t>
            </a:r>
          </a:p>
        </p:txBody>
      </p:sp>
    </p:spTree>
    <p:extLst>
      <p:ext uri="{BB962C8B-B14F-4D97-AF65-F5344CB8AC3E}">
        <p14:creationId xmlns:p14="http://schemas.microsoft.com/office/powerpoint/2010/main" val="42666527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99491"/>
    </mc:Choice>
    <mc:Fallback xmlns="">
      <p:transition spd="slow" advTm="9949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AE03A60-18A9-4862-A12D-45052E30ADAA}"/>
              </a:ext>
            </a:extLst>
          </p:cNvPr>
          <p:cNvSpPr txBox="1">
            <a:spLocks/>
          </p:cNvSpPr>
          <p:nvPr/>
        </p:nvSpPr>
        <p:spPr>
          <a:xfrm>
            <a:off x="985019" y="343109"/>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Oefening</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voor</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jezelf</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thuis</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maken</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a:t>
            </a:r>
          </a:p>
        </p:txBody>
      </p:sp>
      <p:sp>
        <p:nvSpPr>
          <p:cNvPr id="3" name="Rectangle 2">
            <a:extLst>
              <a:ext uri="{FF2B5EF4-FFF2-40B4-BE49-F238E27FC236}">
                <a16:creationId xmlns:a16="http://schemas.microsoft.com/office/drawing/2014/main" id="{A0BE7D8F-0A52-6550-0312-1076E4E7867B}"/>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5" name="Afbeelding 4">
            <a:extLst>
              <a:ext uri="{FF2B5EF4-FFF2-40B4-BE49-F238E27FC236}">
                <a16:creationId xmlns:a16="http://schemas.microsoft.com/office/drawing/2014/main" id="{29A8C41E-FC52-B700-41EA-D9B1581D04E2}"/>
              </a:ext>
            </a:extLst>
          </p:cNvPr>
          <p:cNvPicPr>
            <a:picLocks noChangeAspect="1"/>
          </p:cNvPicPr>
          <p:nvPr/>
        </p:nvPicPr>
        <p:blipFill>
          <a:blip r:embed="rId3"/>
          <a:stretch>
            <a:fillRect/>
          </a:stretch>
        </p:blipFill>
        <p:spPr>
          <a:xfrm rot="21335593">
            <a:off x="7910283" y="2146036"/>
            <a:ext cx="4183849" cy="2395591"/>
          </a:xfrm>
          <a:prstGeom prst="rect">
            <a:avLst/>
          </a:prstGeom>
        </p:spPr>
      </p:pic>
      <p:sp>
        <p:nvSpPr>
          <p:cNvPr id="6" name="TextBox 5">
            <a:extLst>
              <a:ext uri="{FF2B5EF4-FFF2-40B4-BE49-F238E27FC236}">
                <a16:creationId xmlns:a16="http://schemas.microsoft.com/office/drawing/2014/main" id="{5CA07E2A-EFF7-B617-C77F-D1BF8B05C109}"/>
              </a:ext>
            </a:extLst>
          </p:cNvPr>
          <p:cNvSpPr txBox="1"/>
          <p:nvPr/>
        </p:nvSpPr>
        <p:spPr>
          <a:xfrm>
            <a:off x="842328" y="976457"/>
            <a:ext cx="7163944" cy="5786199"/>
          </a:xfrm>
          <a:prstGeom prst="rect">
            <a:avLst/>
          </a:prstGeom>
          <a:noFill/>
        </p:spPr>
        <p:txBody>
          <a:bodyPr wrap="square" lIns="0" tIns="0" rIns="0" bIns="0" rtlCol="0">
            <a:spAutoFit/>
          </a:bodyPr>
          <a:lstStyle/>
          <a:p>
            <a:pPr marL="457200" indent="-457200">
              <a:buFont typeface="+mj-lt"/>
              <a:buAutoNum type="arabicPeriod"/>
            </a:pPr>
            <a:r>
              <a:rPr lang="nl-NL" sz="2400" dirty="0">
                <a:solidFill>
                  <a:srgbClr val="C00000"/>
                </a:solidFill>
                <a:latin typeface="Open Sans Light"/>
              </a:rPr>
              <a:t>Leg aan jezelf </a:t>
            </a:r>
            <a:r>
              <a:rPr lang="nl-NL" sz="2400" dirty="0">
                <a:latin typeface="Open Sans Light"/>
              </a:rPr>
              <a:t>uit waarom token </a:t>
            </a:r>
            <a:r>
              <a:rPr lang="nl-NL" sz="2400" dirty="0" err="1">
                <a:latin typeface="Open Sans Light"/>
              </a:rPr>
              <a:t>economy</a:t>
            </a:r>
            <a:r>
              <a:rPr lang="nl-NL" sz="2400" dirty="0">
                <a:latin typeface="Open Sans Light"/>
              </a:rPr>
              <a:t> een voorbeeld van de toepassing van </a:t>
            </a:r>
            <a:r>
              <a:rPr lang="nl-NL" sz="2400" dirty="0" err="1">
                <a:solidFill>
                  <a:srgbClr val="C00000"/>
                </a:solidFill>
                <a:latin typeface="Open Sans Light"/>
              </a:rPr>
              <a:t>operante</a:t>
            </a:r>
            <a:r>
              <a:rPr lang="nl-NL" sz="2400" dirty="0">
                <a:solidFill>
                  <a:srgbClr val="C00000"/>
                </a:solidFill>
                <a:latin typeface="Open Sans Light"/>
              </a:rPr>
              <a:t> conditionering </a:t>
            </a:r>
            <a:r>
              <a:rPr lang="nl-NL" sz="2400" dirty="0">
                <a:latin typeface="Open Sans Light"/>
              </a:rPr>
              <a:t>is.</a:t>
            </a:r>
          </a:p>
          <a:p>
            <a:pPr marL="457200" indent="-457200">
              <a:buFont typeface="+mj-lt"/>
              <a:buAutoNum type="arabicPeriod"/>
            </a:pPr>
            <a:endParaRPr lang="nl-NL" sz="2400" dirty="0">
              <a:latin typeface="Open Sans Light"/>
            </a:endParaRPr>
          </a:p>
          <a:p>
            <a:pPr marL="457200" indent="-457200">
              <a:buFont typeface="+mj-lt"/>
              <a:buAutoNum type="arabicPeriod"/>
            </a:pPr>
            <a:r>
              <a:rPr lang="nl-NL" sz="2400" dirty="0">
                <a:latin typeface="Open Sans Light"/>
              </a:rPr>
              <a:t>In het voorbeeld in de video krijgt een leerling een ster (token) elke keer als deze een taak afheeft. Dan is er dus sprake van </a:t>
            </a:r>
            <a:r>
              <a:rPr lang="nl-NL" sz="2400" dirty="0">
                <a:solidFill>
                  <a:srgbClr val="C00000"/>
                </a:solidFill>
                <a:latin typeface="Open Sans Light"/>
              </a:rPr>
              <a:t>positieve/negatieve</a:t>
            </a:r>
            <a:r>
              <a:rPr lang="nl-NL" sz="2400" baseline="30000" dirty="0">
                <a:latin typeface="Open Sans Light"/>
              </a:rPr>
              <a:t>*</a:t>
            </a:r>
            <a:r>
              <a:rPr lang="nl-NL" sz="2400" dirty="0">
                <a:latin typeface="Open Sans Light"/>
              </a:rPr>
              <a:t> </a:t>
            </a:r>
            <a:r>
              <a:rPr lang="nl-NL" sz="2400" dirty="0" err="1">
                <a:solidFill>
                  <a:srgbClr val="C00000"/>
                </a:solidFill>
                <a:latin typeface="Open Sans Light"/>
              </a:rPr>
              <a:t>reinforcement</a:t>
            </a:r>
            <a:r>
              <a:rPr lang="nl-NL" sz="2400" dirty="0">
                <a:solidFill>
                  <a:srgbClr val="C00000"/>
                </a:solidFill>
                <a:latin typeface="Open Sans Light"/>
              </a:rPr>
              <a:t>/punishment</a:t>
            </a:r>
            <a:r>
              <a:rPr lang="nl-NL" sz="2400" dirty="0">
                <a:latin typeface="Open Sans Light"/>
              </a:rPr>
              <a:t>.</a:t>
            </a:r>
            <a:r>
              <a:rPr lang="nl-NL" sz="2400" baseline="30000" dirty="0">
                <a:latin typeface="Open Sans Light"/>
              </a:rPr>
              <a:t>*</a:t>
            </a:r>
            <a:endParaRPr lang="nl-NL" sz="2400" dirty="0">
              <a:latin typeface="Open Sans Light"/>
            </a:endParaRPr>
          </a:p>
          <a:p>
            <a:pPr marL="457200" indent="-457200">
              <a:buFont typeface="+mj-lt"/>
              <a:buAutoNum type="arabicPeriod"/>
            </a:pPr>
            <a:endParaRPr lang="nl-NL" sz="2400" baseline="30000" dirty="0">
              <a:latin typeface="Open Sans Light"/>
            </a:endParaRPr>
          </a:p>
          <a:p>
            <a:pPr marL="457200" indent="-457200">
              <a:buFont typeface="+mj-lt"/>
              <a:buAutoNum type="arabicPeriod"/>
            </a:pPr>
            <a:r>
              <a:rPr lang="nl-NL" sz="2400" dirty="0">
                <a:latin typeface="Open Sans Light"/>
              </a:rPr>
              <a:t>Miss </a:t>
            </a:r>
            <a:r>
              <a:rPr lang="nl-NL" sz="2400" dirty="0" err="1">
                <a:latin typeface="Open Sans Light"/>
              </a:rPr>
              <a:t>Renee</a:t>
            </a:r>
            <a:r>
              <a:rPr lang="nl-NL" sz="2400" dirty="0">
                <a:latin typeface="Open Sans Light"/>
              </a:rPr>
              <a:t> zegt dat je een tijd intensiteit van de token </a:t>
            </a:r>
            <a:r>
              <a:rPr lang="nl-NL" sz="2400" dirty="0" err="1">
                <a:latin typeface="Open Sans Light"/>
              </a:rPr>
              <a:t>economy</a:t>
            </a:r>
            <a:r>
              <a:rPr lang="nl-NL" sz="2400" dirty="0">
                <a:latin typeface="Open Sans Light"/>
              </a:rPr>
              <a:t> terug kunt schroeven, door bijvoorbeeld niet bij elke gemaakte taak een token te geven. Hoe kun je volgens </a:t>
            </a:r>
            <a:r>
              <a:rPr lang="nl-NL" sz="2400" dirty="0">
                <a:solidFill>
                  <a:srgbClr val="C00000"/>
                </a:solidFill>
                <a:latin typeface="Open Sans Light"/>
              </a:rPr>
              <a:t>behavioristische principes </a:t>
            </a:r>
            <a:r>
              <a:rPr lang="nl-NL" sz="2400" dirty="0">
                <a:latin typeface="Open Sans Light"/>
              </a:rPr>
              <a:t>verklaren dat leerlingen dan niet terugvallen in het oude gedrag?</a:t>
            </a:r>
          </a:p>
        </p:txBody>
      </p:sp>
    </p:spTree>
    <p:extLst>
      <p:ext uri="{BB962C8B-B14F-4D97-AF65-F5344CB8AC3E}">
        <p14:creationId xmlns:p14="http://schemas.microsoft.com/office/powerpoint/2010/main" val="32908727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142818-AA1C-49CD-A5A4-05FB094E4E6F}"/>
              </a:ext>
            </a:extLst>
          </p:cNvPr>
          <p:cNvSpPr txBox="1"/>
          <p:nvPr/>
        </p:nvSpPr>
        <p:spPr>
          <a:xfrm>
            <a:off x="1173163" y="1844824"/>
            <a:ext cx="10109000" cy="3693319"/>
          </a:xfrm>
          <a:prstGeom prst="rect">
            <a:avLst/>
          </a:prstGeom>
          <a:noFill/>
        </p:spPr>
        <p:txBody>
          <a:bodyPr wrap="square" lIns="0" tIns="0" rIns="0" bIns="0" rtlCol="0">
            <a:spAutoFit/>
          </a:bodyPr>
          <a:lstStyle/>
          <a:p>
            <a:r>
              <a:rPr lang="nl-NL" sz="2400" dirty="0">
                <a:solidFill>
                  <a:srgbClr val="C00000"/>
                </a:solidFill>
                <a:latin typeface="Open Sans Light"/>
              </a:rPr>
              <a:t>Informatieverwerking</a:t>
            </a:r>
            <a:r>
              <a:rPr lang="nl-NL" sz="2400" dirty="0">
                <a:latin typeface="Open Sans Light"/>
              </a:rPr>
              <a:t> (kennisopbouw en leren) gebeurt in stappen.</a:t>
            </a:r>
          </a:p>
          <a:p>
            <a:endParaRPr lang="nl-NL" sz="2400" dirty="0">
              <a:latin typeface="Open Sans Light"/>
            </a:endParaRPr>
          </a:p>
          <a:p>
            <a:r>
              <a:rPr lang="nl-NL" sz="2400" dirty="0">
                <a:latin typeface="Open Sans Light"/>
              </a:rPr>
              <a:t>Er zijn </a:t>
            </a:r>
            <a:r>
              <a:rPr lang="nl-NL" sz="2400" dirty="0">
                <a:solidFill>
                  <a:srgbClr val="C00000"/>
                </a:solidFill>
                <a:latin typeface="Open Sans Light"/>
              </a:rPr>
              <a:t>grenzen</a:t>
            </a:r>
            <a:r>
              <a:rPr lang="nl-NL" sz="2400" dirty="0">
                <a:latin typeface="Open Sans Light"/>
              </a:rPr>
              <a:t> aan wat verwerkt kan worden.</a:t>
            </a:r>
          </a:p>
          <a:p>
            <a:endParaRPr lang="nl-NL" sz="2400" dirty="0">
              <a:latin typeface="Open Sans Light"/>
            </a:endParaRPr>
          </a:p>
          <a:p>
            <a:r>
              <a:rPr lang="nl-NL" sz="2400" dirty="0">
                <a:latin typeface="Open Sans Light"/>
              </a:rPr>
              <a:t>De </a:t>
            </a:r>
            <a:r>
              <a:rPr lang="nl-NL" sz="2400" dirty="0" err="1">
                <a:latin typeface="Open Sans Light"/>
              </a:rPr>
              <a:t>informatieverwerkende</a:t>
            </a:r>
            <a:r>
              <a:rPr lang="nl-NL" sz="2400" dirty="0">
                <a:latin typeface="Open Sans Light"/>
              </a:rPr>
              <a:t> activiteit is </a:t>
            </a:r>
            <a:r>
              <a:rPr lang="nl-NL" sz="2400" dirty="0">
                <a:solidFill>
                  <a:srgbClr val="C00000"/>
                </a:solidFill>
                <a:latin typeface="Open Sans Light"/>
              </a:rPr>
              <a:t>interactief</a:t>
            </a:r>
            <a:r>
              <a:rPr lang="nl-NL" sz="2400" dirty="0">
                <a:latin typeface="Open Sans Light"/>
              </a:rPr>
              <a:t>: invloed van wat we reeds weten (voorkennis, bv. door aandacht te richten). </a:t>
            </a:r>
          </a:p>
          <a:p>
            <a:endParaRPr lang="nl-NL" sz="2400" dirty="0">
              <a:latin typeface="Open Sans Light"/>
            </a:endParaRPr>
          </a:p>
          <a:p>
            <a:r>
              <a:rPr lang="nl-NL" sz="2400" dirty="0">
                <a:latin typeface="Open Sans Light"/>
              </a:rPr>
              <a:t>Reeks </a:t>
            </a:r>
            <a:r>
              <a:rPr lang="nl-NL" sz="2400" dirty="0">
                <a:solidFill>
                  <a:srgbClr val="C00000"/>
                </a:solidFill>
                <a:latin typeface="Open Sans Light"/>
              </a:rPr>
              <a:t>mentale processen</a:t>
            </a:r>
            <a:r>
              <a:rPr lang="nl-NL" sz="2400" dirty="0">
                <a:latin typeface="Open Sans Light"/>
              </a:rPr>
              <a:t> spelen een rol bij informatie verwerken:  waarnemen, herhalen, denken/reflecteren, problemen oplossen; herinneren, vergeten, zich inbeelden, elaboratie.</a:t>
            </a:r>
          </a:p>
        </p:txBody>
      </p:sp>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Assumpties</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cognitieve</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psychologie</a:t>
            </a:r>
            <a:endParaRPr lang="en-GB"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 name="Rectangle 2">
            <a:extLst>
              <a:ext uri="{FF2B5EF4-FFF2-40B4-BE49-F238E27FC236}">
                <a16:creationId xmlns:a16="http://schemas.microsoft.com/office/drawing/2014/main" id="{FF415769-8F55-C24C-4FA4-B4E294CE517E}"/>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4162246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Information processing model</a:t>
            </a:r>
          </a:p>
        </p:txBody>
      </p:sp>
      <p:pic>
        <p:nvPicPr>
          <p:cNvPr id="3" name="Picture 2">
            <a:extLst>
              <a:ext uri="{FF2B5EF4-FFF2-40B4-BE49-F238E27FC236}">
                <a16:creationId xmlns:a16="http://schemas.microsoft.com/office/drawing/2014/main" id="{E49590FC-80D1-4632-8CD1-2F8BB1FFDE54}"/>
              </a:ext>
            </a:extLst>
          </p:cNvPr>
          <p:cNvPicPr>
            <a:picLocks noChangeAspect="1"/>
          </p:cNvPicPr>
          <p:nvPr/>
        </p:nvPicPr>
        <p:blipFill>
          <a:blip r:embed="rId3"/>
          <a:stretch>
            <a:fillRect/>
          </a:stretch>
        </p:blipFill>
        <p:spPr>
          <a:xfrm>
            <a:off x="2425179" y="2420938"/>
            <a:ext cx="8029575" cy="3152775"/>
          </a:xfrm>
          <a:prstGeom prst="rect">
            <a:avLst/>
          </a:prstGeom>
        </p:spPr>
      </p:pic>
      <p:sp>
        <p:nvSpPr>
          <p:cNvPr id="4" name="Rectangle 3">
            <a:extLst>
              <a:ext uri="{FF2B5EF4-FFF2-40B4-BE49-F238E27FC236}">
                <a16:creationId xmlns:a16="http://schemas.microsoft.com/office/drawing/2014/main" id="{21678B1C-83EC-8B14-190D-04C267412CFE}"/>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1728745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142818-AA1C-49CD-A5A4-05FB094E4E6F}"/>
              </a:ext>
            </a:extLst>
          </p:cNvPr>
          <p:cNvSpPr txBox="1"/>
          <p:nvPr/>
        </p:nvSpPr>
        <p:spPr>
          <a:xfrm>
            <a:off x="1173163" y="2132856"/>
            <a:ext cx="10613056" cy="3323987"/>
          </a:xfrm>
          <a:prstGeom prst="rect">
            <a:avLst/>
          </a:prstGeom>
          <a:noFill/>
        </p:spPr>
        <p:txBody>
          <a:bodyPr wrap="square" lIns="0" tIns="0" rIns="0" bIns="0" rtlCol="0">
            <a:spAutoFit/>
          </a:bodyPr>
          <a:lstStyle/>
          <a:p>
            <a:r>
              <a:rPr lang="nl-NL" sz="2400" dirty="0">
                <a:latin typeface="Open Sans Light"/>
              </a:rPr>
              <a:t>Werkgeheugen heeft </a:t>
            </a:r>
            <a:r>
              <a:rPr lang="nl-NL" sz="2400" dirty="0">
                <a:solidFill>
                  <a:srgbClr val="C00000"/>
                </a:solidFill>
                <a:latin typeface="Open Sans Light"/>
              </a:rPr>
              <a:t>beperkte capaciteit</a:t>
            </a:r>
            <a:r>
              <a:rPr lang="nl-NL" sz="2400" dirty="0">
                <a:latin typeface="Open Sans Light"/>
              </a:rPr>
              <a:t>.</a:t>
            </a:r>
          </a:p>
          <a:p>
            <a:endParaRPr lang="nl-NL" sz="2400" dirty="0">
              <a:latin typeface="Open Sans Light"/>
            </a:endParaRPr>
          </a:p>
          <a:p>
            <a:r>
              <a:rPr lang="nl-NL" sz="2400" dirty="0">
                <a:latin typeface="Open Sans Light"/>
              </a:rPr>
              <a:t>“The </a:t>
            </a:r>
            <a:r>
              <a:rPr lang="nl-NL" sz="2400" dirty="0" err="1">
                <a:latin typeface="Open Sans Light"/>
              </a:rPr>
              <a:t>Magical</a:t>
            </a:r>
            <a:r>
              <a:rPr lang="nl-NL" sz="2400" dirty="0">
                <a:latin typeface="Open Sans Light"/>
              </a:rPr>
              <a:t> </a:t>
            </a:r>
            <a:r>
              <a:rPr lang="nl-NL" sz="2400" dirty="0" err="1">
                <a:latin typeface="Open Sans Light"/>
              </a:rPr>
              <a:t>Number</a:t>
            </a:r>
            <a:r>
              <a:rPr lang="nl-NL" sz="2400" dirty="0">
                <a:latin typeface="Open Sans Light"/>
              </a:rPr>
              <a:t> </a:t>
            </a:r>
            <a:r>
              <a:rPr lang="nl-NL" sz="2400" dirty="0" err="1">
                <a:latin typeface="Open Sans Light"/>
              </a:rPr>
              <a:t>Seven</a:t>
            </a:r>
            <a:r>
              <a:rPr lang="nl-NL" sz="2400" dirty="0">
                <a:latin typeface="Open Sans Light"/>
              </a:rPr>
              <a:t>, Plus or Minus </a:t>
            </a:r>
            <a:r>
              <a:rPr lang="nl-NL" sz="2400" dirty="0" err="1">
                <a:latin typeface="Open Sans Light"/>
              </a:rPr>
              <a:t>Two</a:t>
            </a:r>
            <a:r>
              <a:rPr lang="nl-NL" sz="2400" dirty="0">
                <a:latin typeface="Open Sans Light"/>
              </a:rPr>
              <a:t>” (Miller, 1956)</a:t>
            </a:r>
          </a:p>
          <a:p>
            <a:endParaRPr lang="nl-NL" sz="2400" dirty="0">
              <a:latin typeface="Open Sans Light"/>
            </a:endParaRPr>
          </a:p>
          <a:p>
            <a:r>
              <a:rPr lang="nl-NL" sz="2400" dirty="0">
                <a:latin typeface="Open Sans Light"/>
              </a:rPr>
              <a:t>7 ± 2 elementen of </a:t>
            </a:r>
            <a:r>
              <a:rPr lang="nl-NL" sz="2400" dirty="0" err="1">
                <a:latin typeface="Open Sans Light"/>
              </a:rPr>
              <a:t>chunks</a:t>
            </a:r>
            <a:r>
              <a:rPr lang="nl-NL" sz="2400" dirty="0">
                <a:latin typeface="Open Sans Light"/>
              </a:rPr>
              <a:t> (maar misschien ook wel minder, zie </a:t>
            </a:r>
            <a:r>
              <a:rPr lang="nl-NL" sz="2400" dirty="0" err="1">
                <a:latin typeface="Open Sans Light"/>
              </a:rPr>
              <a:t>Cowan</a:t>
            </a:r>
            <a:r>
              <a:rPr lang="nl-NL" sz="2400" dirty="0">
                <a:latin typeface="Open Sans Light"/>
              </a:rPr>
              <a:t>, 2001)</a:t>
            </a:r>
          </a:p>
          <a:p>
            <a:endParaRPr lang="nl-NL" sz="2400" dirty="0">
              <a:latin typeface="Open Sans Light"/>
            </a:endParaRPr>
          </a:p>
          <a:p>
            <a:r>
              <a:rPr lang="nl-NL" sz="2400" dirty="0">
                <a:latin typeface="Open Sans Light"/>
              </a:rPr>
              <a:t>Strategieën kunnen helpen, maar maken beperking niet ongedaan.</a:t>
            </a:r>
          </a:p>
          <a:p>
            <a:pPr marL="342900" indent="-342900">
              <a:buFont typeface="Arial" panose="020B0604020202020204" pitchFamily="34" charset="0"/>
              <a:buChar char="•"/>
            </a:pPr>
            <a:r>
              <a:rPr lang="nl-NL" sz="2400" dirty="0" err="1">
                <a:latin typeface="Open Sans Light"/>
              </a:rPr>
              <a:t>Chunking</a:t>
            </a:r>
            <a:endParaRPr lang="nl-NL" sz="2400" dirty="0">
              <a:latin typeface="Open Sans Light"/>
            </a:endParaRPr>
          </a:p>
          <a:p>
            <a:pPr marL="342900" indent="-342900">
              <a:buFont typeface="Arial" panose="020B0604020202020204" pitchFamily="34" charset="0"/>
              <a:buChar char="•"/>
            </a:pPr>
            <a:r>
              <a:rPr lang="nl-NL" sz="2400" dirty="0" err="1">
                <a:latin typeface="Open Sans Light"/>
              </a:rPr>
              <a:t>Mnemonics</a:t>
            </a:r>
            <a:endParaRPr lang="nl-NL" sz="2400" dirty="0">
              <a:latin typeface="Open Sans Light"/>
            </a:endParaRPr>
          </a:p>
        </p:txBody>
      </p:sp>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Beperking</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werkgeheugen</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 name="Rectangle 2">
            <a:extLst>
              <a:ext uri="{FF2B5EF4-FFF2-40B4-BE49-F238E27FC236}">
                <a16:creationId xmlns:a16="http://schemas.microsoft.com/office/drawing/2014/main" id="{79440300-CFA2-B05D-DEFB-5F232F7EFB21}"/>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41720306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Cognitieve</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belasting</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(cognitive load)</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3" name="Picture 2">
            <a:extLst>
              <a:ext uri="{FF2B5EF4-FFF2-40B4-BE49-F238E27FC236}">
                <a16:creationId xmlns:a16="http://schemas.microsoft.com/office/drawing/2014/main" id="{5323E65C-51E5-1796-0A42-C10C4E5228A7}"/>
              </a:ext>
            </a:extLst>
          </p:cNvPr>
          <p:cNvPicPr>
            <a:picLocks noChangeAspect="1"/>
          </p:cNvPicPr>
          <p:nvPr/>
        </p:nvPicPr>
        <p:blipFill>
          <a:blip r:embed="rId3"/>
          <a:stretch>
            <a:fillRect/>
          </a:stretch>
        </p:blipFill>
        <p:spPr>
          <a:xfrm>
            <a:off x="1098218" y="2420938"/>
            <a:ext cx="7056784" cy="286118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8555204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142818-AA1C-49CD-A5A4-05FB094E4E6F}"/>
              </a:ext>
            </a:extLst>
          </p:cNvPr>
          <p:cNvSpPr txBox="1"/>
          <p:nvPr/>
        </p:nvSpPr>
        <p:spPr>
          <a:xfrm>
            <a:off x="1173163" y="2132856"/>
            <a:ext cx="5500488" cy="2215991"/>
          </a:xfrm>
          <a:prstGeom prst="rect">
            <a:avLst/>
          </a:prstGeom>
          <a:noFill/>
        </p:spPr>
        <p:txBody>
          <a:bodyPr wrap="square" lIns="0" tIns="0" rIns="0" bIns="0" rtlCol="0">
            <a:spAutoFit/>
          </a:bodyPr>
          <a:lstStyle/>
          <a:p>
            <a:r>
              <a:rPr lang="nl-NL" sz="2400" dirty="0">
                <a:latin typeface="Open Sans Light"/>
              </a:rPr>
              <a:t>Informatie ‘</a:t>
            </a:r>
            <a:r>
              <a:rPr lang="nl-NL" sz="2400" dirty="0">
                <a:solidFill>
                  <a:srgbClr val="C00000"/>
                </a:solidFill>
                <a:latin typeface="Open Sans Light"/>
              </a:rPr>
              <a:t>belast</a:t>
            </a:r>
            <a:r>
              <a:rPr lang="nl-NL" sz="2400" dirty="0">
                <a:latin typeface="Open Sans Light"/>
              </a:rPr>
              <a:t>’ het werkgeheugen.</a:t>
            </a:r>
          </a:p>
          <a:p>
            <a:endParaRPr lang="nl-NL" sz="2400" dirty="0">
              <a:latin typeface="Open Sans Light"/>
            </a:endParaRPr>
          </a:p>
          <a:p>
            <a:pPr marL="342900" indent="-342900">
              <a:buFont typeface="Arial" panose="020B0604020202020204" pitchFamily="34" charset="0"/>
              <a:buChar char="•"/>
            </a:pPr>
            <a:r>
              <a:rPr lang="nl-NL" sz="2400" dirty="0">
                <a:solidFill>
                  <a:srgbClr val="C00000"/>
                </a:solidFill>
                <a:latin typeface="Open Sans Light"/>
              </a:rPr>
              <a:t>Beperkt</a:t>
            </a:r>
            <a:r>
              <a:rPr lang="nl-NL" sz="2400" dirty="0">
                <a:latin typeface="Open Sans Light"/>
              </a:rPr>
              <a:t> werkgeheugen (flessenhals)</a:t>
            </a:r>
          </a:p>
          <a:p>
            <a:pPr marL="342900" indent="-342900">
              <a:buFont typeface="Arial" panose="020B0604020202020204" pitchFamily="34" charset="0"/>
              <a:buChar char="•"/>
            </a:pPr>
            <a:r>
              <a:rPr lang="nl-NL" sz="2400" dirty="0">
                <a:latin typeface="Open Sans Light"/>
              </a:rPr>
              <a:t>Onbeperkt lange termijngeheugen</a:t>
            </a:r>
          </a:p>
          <a:p>
            <a:endParaRPr lang="nl-NL" sz="2400" dirty="0">
              <a:latin typeface="Open Sans Light"/>
            </a:endParaRPr>
          </a:p>
          <a:p>
            <a:r>
              <a:rPr lang="nl-NL" sz="2400" u="sng" dirty="0">
                <a:solidFill>
                  <a:srgbClr val="C00000"/>
                </a:solidFill>
                <a:latin typeface="Open Sans Light"/>
              </a:rPr>
              <a:t>Twee</a:t>
            </a:r>
            <a:r>
              <a:rPr lang="nl-NL" sz="2400" dirty="0">
                <a:solidFill>
                  <a:srgbClr val="C00000"/>
                </a:solidFill>
                <a:latin typeface="Open Sans Light"/>
              </a:rPr>
              <a:t> soorten </a:t>
            </a:r>
            <a:r>
              <a:rPr lang="nl-NL" sz="2400" dirty="0" err="1">
                <a:latin typeface="Open Sans Light"/>
              </a:rPr>
              <a:t>cognitive</a:t>
            </a:r>
            <a:r>
              <a:rPr lang="nl-NL" sz="2400" dirty="0">
                <a:latin typeface="Open Sans Light"/>
              </a:rPr>
              <a:t> load </a:t>
            </a:r>
          </a:p>
        </p:txBody>
      </p:sp>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Cognitive load theory (CLT)</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1026" name="Picture 2" descr="John Sweller's Cognitive Load Theorie - Eenmeesterinleren.nl">
            <a:extLst>
              <a:ext uri="{FF2B5EF4-FFF2-40B4-BE49-F238E27FC236}">
                <a16:creationId xmlns:a16="http://schemas.microsoft.com/office/drawing/2014/main" id="{C76FA69F-6C01-68D2-569A-D30EC0A747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86429" y="2171114"/>
            <a:ext cx="5504335" cy="3346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0900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142818-AA1C-49CD-A5A4-05FB094E4E6F}"/>
              </a:ext>
            </a:extLst>
          </p:cNvPr>
          <p:cNvSpPr txBox="1"/>
          <p:nvPr/>
        </p:nvSpPr>
        <p:spPr>
          <a:xfrm>
            <a:off x="1173163" y="2132856"/>
            <a:ext cx="10613056" cy="1846659"/>
          </a:xfrm>
          <a:prstGeom prst="rect">
            <a:avLst/>
          </a:prstGeom>
          <a:noFill/>
        </p:spPr>
        <p:txBody>
          <a:bodyPr wrap="square" lIns="0" tIns="0" rIns="0" bIns="0" rtlCol="0">
            <a:spAutoFit/>
          </a:bodyPr>
          <a:lstStyle/>
          <a:p>
            <a:r>
              <a:rPr lang="nl-NL" sz="2400" dirty="0">
                <a:latin typeface="Open Sans Light"/>
              </a:rPr>
              <a:t>Bepaald door </a:t>
            </a:r>
            <a:r>
              <a:rPr lang="nl-NL" sz="2400" dirty="0">
                <a:solidFill>
                  <a:srgbClr val="C00000"/>
                </a:solidFill>
                <a:latin typeface="Open Sans Light"/>
              </a:rPr>
              <a:t>complexiteit</a:t>
            </a:r>
            <a:r>
              <a:rPr lang="nl-NL" sz="2400" dirty="0">
                <a:latin typeface="Open Sans Light"/>
              </a:rPr>
              <a:t> informatie:</a:t>
            </a:r>
          </a:p>
          <a:p>
            <a:pPr marL="342900" indent="-342900">
              <a:buFont typeface="Arial" panose="020B0604020202020204" pitchFamily="34" charset="0"/>
              <a:buChar char="•"/>
            </a:pPr>
            <a:r>
              <a:rPr lang="nl-NL" sz="2400" dirty="0">
                <a:solidFill>
                  <a:srgbClr val="C00000"/>
                </a:solidFill>
                <a:latin typeface="Open Sans Light"/>
              </a:rPr>
              <a:t>aantal</a:t>
            </a:r>
            <a:r>
              <a:rPr lang="nl-NL" sz="2400" dirty="0">
                <a:latin typeface="Open Sans Light"/>
              </a:rPr>
              <a:t> informatie-elementen</a:t>
            </a:r>
          </a:p>
          <a:p>
            <a:pPr marL="342900" indent="-342900">
              <a:buFont typeface="Arial" panose="020B0604020202020204" pitchFamily="34" charset="0"/>
              <a:buChar char="•"/>
            </a:pPr>
            <a:r>
              <a:rPr lang="nl-NL" sz="2400" dirty="0">
                <a:solidFill>
                  <a:srgbClr val="C00000"/>
                </a:solidFill>
                <a:latin typeface="Open Sans Light"/>
              </a:rPr>
              <a:t>interactie</a:t>
            </a:r>
            <a:r>
              <a:rPr lang="nl-NL" sz="2400" dirty="0">
                <a:latin typeface="Open Sans Light"/>
              </a:rPr>
              <a:t> tussen informatie-elementen (element </a:t>
            </a:r>
            <a:r>
              <a:rPr lang="nl-NL" sz="2400" dirty="0" err="1">
                <a:latin typeface="Open Sans Light"/>
              </a:rPr>
              <a:t>interactivity</a:t>
            </a:r>
            <a:r>
              <a:rPr lang="nl-NL" sz="2400" dirty="0">
                <a:latin typeface="Open Sans Light"/>
              </a:rPr>
              <a:t>).</a:t>
            </a:r>
          </a:p>
          <a:p>
            <a:endParaRPr lang="nl-NL" sz="2400" dirty="0">
              <a:latin typeface="Open Sans Light"/>
            </a:endParaRPr>
          </a:p>
          <a:p>
            <a:r>
              <a:rPr lang="nl-NL" sz="2400" dirty="0">
                <a:latin typeface="Open Sans Light"/>
              </a:rPr>
              <a:t>Niet te veranderen, wel optimaliseren.</a:t>
            </a:r>
          </a:p>
        </p:txBody>
      </p:sp>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Intrinsic cognitive load (1)</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5" name="Picture 2" descr="http://speakingaboutpresenting.com/wp-content/uploads/2009/10/Cognitive-load3-400x396.jpg">
            <a:extLst>
              <a:ext uri="{FF2B5EF4-FFF2-40B4-BE49-F238E27FC236}">
                <a16:creationId xmlns:a16="http://schemas.microsoft.com/office/drawing/2014/main" id="{903C465D-407C-4A69-AB58-2230FCA64D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3488" y="4256529"/>
            <a:ext cx="2027850" cy="200757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E32664AC-446B-620A-23DE-76B188224A5D}"/>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023436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142818-AA1C-49CD-A5A4-05FB094E4E6F}"/>
              </a:ext>
            </a:extLst>
          </p:cNvPr>
          <p:cNvSpPr txBox="1"/>
          <p:nvPr/>
        </p:nvSpPr>
        <p:spPr>
          <a:xfrm>
            <a:off x="1173163" y="2132856"/>
            <a:ext cx="10613056" cy="3323987"/>
          </a:xfrm>
          <a:prstGeom prst="rect">
            <a:avLst/>
          </a:prstGeom>
          <a:noFill/>
        </p:spPr>
        <p:txBody>
          <a:bodyPr wrap="square" lIns="0" tIns="0" rIns="0" bIns="0" rtlCol="0">
            <a:spAutoFit/>
          </a:bodyPr>
          <a:lstStyle/>
          <a:p>
            <a:r>
              <a:rPr lang="nl-NL" sz="2400" dirty="0">
                <a:latin typeface="Open Sans Light"/>
              </a:rPr>
              <a:t>Laag:</a:t>
            </a:r>
          </a:p>
          <a:p>
            <a:endParaRPr lang="nl-NL" sz="2400" dirty="0">
              <a:latin typeface="Open Sans Light"/>
            </a:endParaRPr>
          </a:p>
          <a:p>
            <a:r>
              <a:rPr lang="nl-NL" sz="2400" dirty="0">
                <a:latin typeface="Open Sans Light"/>
              </a:rPr>
              <a:t>Als het vandaag maandag is, dan is het over twee dagen…</a:t>
            </a:r>
          </a:p>
          <a:p>
            <a:pPr algn="r"/>
            <a:r>
              <a:rPr lang="nl-NL" sz="2400" dirty="0">
                <a:solidFill>
                  <a:srgbClr val="C00000"/>
                </a:solidFill>
                <a:latin typeface="Open Sans Light"/>
              </a:rPr>
              <a:t>… woensdag</a:t>
            </a:r>
          </a:p>
          <a:p>
            <a:endParaRPr lang="nl-NL" sz="2400" dirty="0">
              <a:latin typeface="Open Sans Light"/>
            </a:endParaRPr>
          </a:p>
          <a:p>
            <a:r>
              <a:rPr lang="nl-NL" sz="2400" dirty="0">
                <a:latin typeface="Open Sans Light"/>
              </a:rPr>
              <a:t>Hoog:</a:t>
            </a:r>
          </a:p>
          <a:p>
            <a:endParaRPr lang="nl-NL" sz="2400" dirty="0">
              <a:latin typeface="Open Sans Light"/>
            </a:endParaRPr>
          </a:p>
          <a:p>
            <a:r>
              <a:rPr lang="nl-NL" sz="2400" dirty="0">
                <a:latin typeface="Open Sans Light"/>
              </a:rPr>
              <a:t>Als het eergisteren zondag was, dan is het over twee dagen…</a:t>
            </a:r>
          </a:p>
          <a:p>
            <a:pPr algn="r"/>
            <a:r>
              <a:rPr lang="nl-NL" sz="2400" dirty="0">
                <a:solidFill>
                  <a:srgbClr val="C00000"/>
                </a:solidFill>
                <a:latin typeface="Open Sans Light"/>
              </a:rPr>
              <a:t>… donderdag</a:t>
            </a:r>
          </a:p>
        </p:txBody>
      </p:sp>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Intrinsic cognitive load (2)</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 name="Rectangle 2">
            <a:extLst>
              <a:ext uri="{FF2B5EF4-FFF2-40B4-BE49-F238E27FC236}">
                <a16:creationId xmlns:a16="http://schemas.microsoft.com/office/drawing/2014/main" id="{E32664AC-446B-620A-23DE-76B188224A5D}"/>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647305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142818-AA1C-49CD-A5A4-05FB094E4E6F}"/>
              </a:ext>
            </a:extLst>
          </p:cNvPr>
          <p:cNvSpPr txBox="1"/>
          <p:nvPr/>
        </p:nvSpPr>
        <p:spPr>
          <a:xfrm>
            <a:off x="1173163" y="2132856"/>
            <a:ext cx="10613056" cy="2585323"/>
          </a:xfrm>
          <a:prstGeom prst="rect">
            <a:avLst/>
          </a:prstGeom>
          <a:noFill/>
        </p:spPr>
        <p:txBody>
          <a:bodyPr wrap="square" lIns="0" tIns="0" rIns="0" bIns="0" rtlCol="0">
            <a:spAutoFit/>
          </a:bodyPr>
          <a:lstStyle/>
          <a:p>
            <a:r>
              <a:rPr lang="nl-NL" sz="2400" dirty="0" err="1">
                <a:latin typeface="Open Sans Light"/>
              </a:rPr>
              <a:t>Extraneous</a:t>
            </a:r>
            <a:r>
              <a:rPr lang="nl-NL" sz="2400" dirty="0">
                <a:latin typeface="Open Sans Light"/>
              </a:rPr>
              <a:t> </a:t>
            </a:r>
            <a:r>
              <a:rPr lang="nl-NL" sz="2400" dirty="0" err="1">
                <a:latin typeface="Open Sans Light"/>
              </a:rPr>
              <a:t>cognitive</a:t>
            </a:r>
            <a:r>
              <a:rPr lang="nl-NL" sz="2400" dirty="0">
                <a:latin typeface="Open Sans Light"/>
              </a:rPr>
              <a:t> load wordt veroorzaakt door de manier waarop </a:t>
            </a:r>
            <a:r>
              <a:rPr lang="nl-NL" sz="2400" dirty="0">
                <a:solidFill>
                  <a:srgbClr val="C00000"/>
                </a:solidFill>
                <a:latin typeface="Open Sans Light"/>
              </a:rPr>
              <a:t>informatie wordt gepresenteerd</a:t>
            </a:r>
            <a:r>
              <a:rPr lang="nl-NL" sz="2400" dirty="0">
                <a:latin typeface="Open Sans Light"/>
              </a:rPr>
              <a:t>.</a:t>
            </a:r>
          </a:p>
          <a:p>
            <a:endParaRPr lang="nl-NL" sz="2400" dirty="0">
              <a:latin typeface="Open Sans Light"/>
            </a:endParaRPr>
          </a:p>
          <a:p>
            <a:r>
              <a:rPr lang="nl-NL" sz="2400" dirty="0">
                <a:latin typeface="Open Sans Light"/>
              </a:rPr>
              <a:t>Sommige manieren van presenteren zijn </a:t>
            </a:r>
            <a:r>
              <a:rPr lang="nl-NL" sz="2400" dirty="0">
                <a:solidFill>
                  <a:srgbClr val="C00000"/>
                </a:solidFill>
                <a:latin typeface="Open Sans Light"/>
              </a:rPr>
              <a:t>beter dan andere</a:t>
            </a:r>
            <a:r>
              <a:rPr lang="nl-NL" sz="2400" dirty="0">
                <a:latin typeface="Open Sans Light"/>
              </a:rPr>
              <a:t>.</a:t>
            </a:r>
          </a:p>
          <a:p>
            <a:endParaRPr lang="nl-NL" sz="2400" dirty="0">
              <a:latin typeface="Open Sans Light"/>
            </a:endParaRPr>
          </a:p>
          <a:p>
            <a:r>
              <a:rPr lang="nl-NL" sz="2400" dirty="0">
                <a:latin typeface="Open Sans Light"/>
              </a:rPr>
              <a:t>Implicatie voor instructie: </a:t>
            </a:r>
            <a:r>
              <a:rPr lang="nl-NL" sz="2400" dirty="0" err="1">
                <a:latin typeface="Open Sans Light"/>
              </a:rPr>
              <a:t>Extraneous</a:t>
            </a:r>
            <a:r>
              <a:rPr lang="nl-NL" sz="2400" dirty="0">
                <a:latin typeface="Open Sans Light"/>
              </a:rPr>
              <a:t> </a:t>
            </a:r>
            <a:r>
              <a:rPr lang="nl-NL" sz="2400" dirty="0" err="1">
                <a:latin typeface="Open Sans Light"/>
              </a:rPr>
              <a:t>cognitive</a:t>
            </a:r>
            <a:r>
              <a:rPr lang="nl-NL" sz="2400" dirty="0">
                <a:latin typeface="Open Sans Light"/>
              </a:rPr>
              <a:t> load </a:t>
            </a:r>
            <a:r>
              <a:rPr lang="nl-NL" sz="2400" dirty="0">
                <a:solidFill>
                  <a:srgbClr val="C00000"/>
                </a:solidFill>
                <a:latin typeface="Open Sans Light"/>
              </a:rPr>
              <a:t>vermijden</a:t>
            </a:r>
            <a:r>
              <a:rPr lang="nl-NL" sz="2400" dirty="0">
                <a:latin typeface="Open Sans Light"/>
              </a:rPr>
              <a:t>.</a:t>
            </a:r>
          </a:p>
          <a:p>
            <a:endParaRPr lang="nl-NL" sz="2400" dirty="0">
              <a:latin typeface="Open Sans Light"/>
            </a:endParaRPr>
          </a:p>
        </p:txBody>
      </p:sp>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Extraneous cognitive load</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 name="Rectangle 2">
            <a:extLst>
              <a:ext uri="{FF2B5EF4-FFF2-40B4-BE49-F238E27FC236}">
                <a16:creationId xmlns:a16="http://schemas.microsoft.com/office/drawing/2014/main" id="{DB92A250-E101-F923-E701-B2A60C179691}"/>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327370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Oefening</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voor</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jezelf</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thuis</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maken</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 name="Rectangle 2">
            <a:extLst>
              <a:ext uri="{FF2B5EF4-FFF2-40B4-BE49-F238E27FC236}">
                <a16:creationId xmlns:a16="http://schemas.microsoft.com/office/drawing/2014/main" id="{DB92A250-E101-F923-E701-B2A60C179691}"/>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5" name="Picture 4">
            <a:extLst>
              <a:ext uri="{FF2B5EF4-FFF2-40B4-BE49-F238E27FC236}">
                <a16:creationId xmlns:a16="http://schemas.microsoft.com/office/drawing/2014/main" id="{AA90E7C5-13DF-6578-1D27-15FBE3CA19AC}"/>
              </a:ext>
            </a:extLst>
          </p:cNvPr>
          <p:cNvPicPr>
            <a:picLocks noChangeAspect="1"/>
          </p:cNvPicPr>
          <p:nvPr/>
        </p:nvPicPr>
        <p:blipFill>
          <a:blip r:embed="rId3"/>
          <a:stretch>
            <a:fillRect/>
          </a:stretch>
        </p:blipFill>
        <p:spPr>
          <a:xfrm rot="21326008">
            <a:off x="1277497" y="1875862"/>
            <a:ext cx="6551801" cy="3613835"/>
          </a:xfrm>
          <a:prstGeom prst="rect">
            <a:avLst/>
          </a:prstGeom>
          <a:solidFill>
            <a:srgbClr val="FFFFFF">
              <a:shade val="85000"/>
            </a:srgbClr>
          </a:solidFill>
          <a:ln w="190500" cap="rnd">
            <a:solidFill>
              <a:srgbClr val="FFFFFF"/>
            </a:solidFill>
          </a:ln>
          <a:effectLst>
            <a:outerShdw blurRad="50800" dist="38100" dir="2700000" algn="tl" rotWithShape="0">
              <a:prstClr val="black">
                <a:alpha val="40000"/>
              </a:prstClr>
            </a:outerShdw>
          </a:effectLst>
          <a:scene3d>
            <a:camera prst="orthographicFront"/>
            <a:lightRig rig="twoPt" dir="t">
              <a:rot lat="0" lon="0" rev="7800000"/>
            </a:lightRig>
          </a:scene3d>
          <a:sp3d contourW="6350">
            <a:bevelT w="50800" h="16510"/>
            <a:contourClr>
              <a:srgbClr val="C0C0C0"/>
            </a:contourClr>
          </a:sp3d>
        </p:spPr>
      </p:pic>
      <p:sp>
        <p:nvSpPr>
          <p:cNvPr id="6" name="TextBox 5">
            <a:extLst>
              <a:ext uri="{FF2B5EF4-FFF2-40B4-BE49-F238E27FC236}">
                <a16:creationId xmlns:a16="http://schemas.microsoft.com/office/drawing/2014/main" id="{774ECEAD-44D2-FEF0-55B6-1BFF20DC2446}"/>
              </a:ext>
            </a:extLst>
          </p:cNvPr>
          <p:cNvSpPr txBox="1"/>
          <p:nvPr/>
        </p:nvSpPr>
        <p:spPr>
          <a:xfrm>
            <a:off x="1173163" y="6028253"/>
            <a:ext cx="10613056" cy="738664"/>
          </a:xfrm>
          <a:prstGeom prst="rect">
            <a:avLst/>
          </a:prstGeom>
          <a:noFill/>
        </p:spPr>
        <p:txBody>
          <a:bodyPr wrap="square" lIns="0" tIns="0" rIns="0" bIns="0" rtlCol="0">
            <a:spAutoFit/>
          </a:bodyPr>
          <a:lstStyle/>
          <a:p>
            <a:r>
              <a:rPr lang="nl-NL" sz="2400" dirty="0">
                <a:solidFill>
                  <a:srgbClr val="C00000"/>
                </a:solidFill>
                <a:latin typeface="Open Sans Light"/>
              </a:rPr>
              <a:t>Hoe zou John </a:t>
            </a:r>
            <a:r>
              <a:rPr lang="nl-NL" sz="2400" dirty="0" err="1">
                <a:solidFill>
                  <a:srgbClr val="C00000"/>
                </a:solidFill>
                <a:latin typeface="Open Sans Light"/>
              </a:rPr>
              <a:t>Sweller</a:t>
            </a:r>
            <a:r>
              <a:rPr lang="nl-NL" sz="2400" dirty="0">
                <a:solidFill>
                  <a:srgbClr val="C00000"/>
                </a:solidFill>
                <a:latin typeface="Open Sans Light"/>
              </a:rPr>
              <a:t> deze slide verbeteren? Gebruik begrippen uit zijn </a:t>
            </a:r>
            <a:r>
              <a:rPr lang="nl-NL" sz="2400" dirty="0" err="1">
                <a:solidFill>
                  <a:srgbClr val="C00000"/>
                </a:solidFill>
                <a:latin typeface="Open Sans Light"/>
              </a:rPr>
              <a:t>cognitive</a:t>
            </a:r>
            <a:r>
              <a:rPr lang="nl-NL" sz="2400" dirty="0">
                <a:solidFill>
                  <a:srgbClr val="C00000"/>
                </a:solidFill>
                <a:latin typeface="Open Sans Light"/>
              </a:rPr>
              <a:t> load </a:t>
            </a:r>
            <a:r>
              <a:rPr lang="nl-NL" sz="2400" dirty="0" err="1">
                <a:solidFill>
                  <a:srgbClr val="C00000"/>
                </a:solidFill>
                <a:latin typeface="Open Sans Light"/>
              </a:rPr>
              <a:t>theory</a:t>
            </a:r>
            <a:r>
              <a:rPr lang="nl-NL" sz="2400" dirty="0">
                <a:solidFill>
                  <a:srgbClr val="C00000"/>
                </a:solidFill>
                <a:latin typeface="Open Sans Light"/>
              </a:rPr>
              <a:t> om dit uit te beargumenteren.</a:t>
            </a:r>
          </a:p>
        </p:txBody>
      </p:sp>
    </p:spTree>
    <p:extLst>
      <p:ext uri="{BB962C8B-B14F-4D97-AF65-F5344CB8AC3E}">
        <p14:creationId xmlns:p14="http://schemas.microsoft.com/office/powerpoint/2010/main" val="40768282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341C6-0380-04A3-B311-FB238F1A7F8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31B8DA8-43BF-255F-7A2A-02719FE6FBCB}"/>
              </a:ext>
            </a:extLst>
          </p:cNvPr>
          <p:cNvSpPr txBox="1"/>
          <p:nvPr/>
        </p:nvSpPr>
        <p:spPr>
          <a:xfrm>
            <a:off x="1173163" y="2132856"/>
            <a:ext cx="5500488" cy="3693319"/>
          </a:xfrm>
          <a:prstGeom prst="rect">
            <a:avLst/>
          </a:prstGeom>
          <a:noFill/>
        </p:spPr>
        <p:txBody>
          <a:bodyPr wrap="square" lIns="0" tIns="0" rIns="0" bIns="0" rtlCol="0">
            <a:spAutoFit/>
          </a:bodyPr>
          <a:lstStyle/>
          <a:p>
            <a:r>
              <a:rPr lang="nl-NL" sz="2400" dirty="0" err="1">
                <a:latin typeface="Open Sans Light"/>
              </a:rPr>
              <a:t>Intrinsic</a:t>
            </a:r>
            <a:r>
              <a:rPr lang="nl-NL" sz="2400" dirty="0">
                <a:latin typeface="Open Sans Light"/>
              </a:rPr>
              <a:t> load verlagen:</a:t>
            </a:r>
          </a:p>
          <a:p>
            <a:pPr marL="342900" indent="-342900">
              <a:buFont typeface="Arial" panose="020B0604020202020204" pitchFamily="34" charset="0"/>
              <a:buChar char="•"/>
            </a:pPr>
            <a:r>
              <a:rPr lang="nl-NL" sz="2400" dirty="0">
                <a:latin typeface="Open Sans Light"/>
              </a:rPr>
              <a:t>Nieuwe stof in </a:t>
            </a:r>
            <a:r>
              <a:rPr lang="nl-NL" sz="2400" dirty="0">
                <a:solidFill>
                  <a:srgbClr val="C00000"/>
                </a:solidFill>
                <a:latin typeface="Open Sans Light"/>
              </a:rPr>
              <a:t>kleine stappen </a:t>
            </a:r>
            <a:r>
              <a:rPr lang="nl-NL" sz="2400" dirty="0">
                <a:latin typeface="Open Sans Light"/>
              </a:rPr>
              <a:t>aanbieden</a:t>
            </a:r>
          </a:p>
          <a:p>
            <a:pPr marL="342900" indent="-342900">
              <a:buFont typeface="Arial" panose="020B0604020202020204" pitchFamily="34" charset="0"/>
              <a:buChar char="•"/>
            </a:pPr>
            <a:endParaRPr lang="nl-NL" sz="2400" dirty="0">
              <a:latin typeface="Open Sans Light"/>
            </a:endParaRPr>
          </a:p>
          <a:p>
            <a:r>
              <a:rPr lang="nl-NL" sz="2400" dirty="0" err="1">
                <a:latin typeface="Open Sans Light"/>
              </a:rPr>
              <a:t>Extraneous</a:t>
            </a:r>
            <a:r>
              <a:rPr lang="nl-NL" sz="2400" dirty="0">
                <a:latin typeface="Open Sans Light"/>
              </a:rPr>
              <a:t> load verlagen:</a:t>
            </a:r>
          </a:p>
          <a:p>
            <a:pPr marL="342900" indent="-342900">
              <a:buFont typeface="Arial" panose="020B0604020202020204" pitchFamily="34" charset="0"/>
              <a:buChar char="•"/>
            </a:pPr>
            <a:r>
              <a:rPr lang="nl-NL" sz="2400" dirty="0">
                <a:latin typeface="Open Sans Light"/>
              </a:rPr>
              <a:t>Weinig </a:t>
            </a:r>
            <a:r>
              <a:rPr lang="nl-NL" sz="2400" dirty="0">
                <a:solidFill>
                  <a:srgbClr val="C00000"/>
                </a:solidFill>
                <a:latin typeface="Open Sans Light"/>
              </a:rPr>
              <a:t>afleiding</a:t>
            </a:r>
            <a:r>
              <a:rPr lang="nl-NL" sz="2400" dirty="0">
                <a:latin typeface="Open Sans Light"/>
              </a:rPr>
              <a:t> (bv. </a:t>
            </a:r>
            <a:r>
              <a:rPr lang="nl-NL" sz="2400" dirty="0" err="1">
                <a:latin typeface="Open Sans Light"/>
              </a:rPr>
              <a:t>seductive</a:t>
            </a:r>
            <a:r>
              <a:rPr lang="nl-NL" sz="2400" dirty="0">
                <a:latin typeface="Open Sans Light"/>
              </a:rPr>
              <a:t> details)</a:t>
            </a:r>
          </a:p>
          <a:p>
            <a:pPr marL="342900" indent="-342900">
              <a:buFont typeface="Arial" panose="020B0604020202020204" pitchFamily="34" charset="0"/>
              <a:buChar char="•"/>
            </a:pPr>
            <a:r>
              <a:rPr lang="nl-NL" sz="2400" dirty="0">
                <a:solidFill>
                  <a:srgbClr val="C00000"/>
                </a:solidFill>
                <a:latin typeface="Open Sans Light"/>
              </a:rPr>
              <a:t>Voorkennis</a:t>
            </a:r>
            <a:r>
              <a:rPr lang="nl-NL" sz="2400" dirty="0">
                <a:latin typeface="Open Sans Light"/>
              </a:rPr>
              <a:t> verhogen: makkelijker herkennen wat relevant is</a:t>
            </a:r>
          </a:p>
          <a:p>
            <a:pPr marL="342900" indent="-342900">
              <a:buFont typeface="Arial" panose="020B0604020202020204" pitchFamily="34" charset="0"/>
              <a:buChar char="•"/>
            </a:pPr>
            <a:r>
              <a:rPr lang="nl-NL" sz="2400" dirty="0">
                <a:solidFill>
                  <a:srgbClr val="C00000"/>
                </a:solidFill>
                <a:latin typeface="Open Sans Light"/>
              </a:rPr>
              <a:t>Automatiseren</a:t>
            </a:r>
            <a:r>
              <a:rPr lang="nl-NL" sz="2400" dirty="0">
                <a:latin typeface="Open Sans Light"/>
              </a:rPr>
              <a:t>: je hoeft niet meer na te denken over wat je doet</a:t>
            </a:r>
          </a:p>
        </p:txBody>
      </p:sp>
      <p:sp>
        <p:nvSpPr>
          <p:cNvPr id="7" name="Title 1">
            <a:extLst>
              <a:ext uri="{FF2B5EF4-FFF2-40B4-BE49-F238E27FC236}">
                <a16:creationId xmlns:a16="http://schemas.microsoft.com/office/drawing/2014/main" id="{B3737E50-DCFF-37FE-B57B-4C4C282AF5F5}"/>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Goede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instructie</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Optimaliseren</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van cognitive load</a:t>
            </a:r>
            <a:endParaRPr lang="en-NL"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2" name="Picture 1">
            <a:extLst>
              <a:ext uri="{FF2B5EF4-FFF2-40B4-BE49-F238E27FC236}">
                <a16:creationId xmlns:a16="http://schemas.microsoft.com/office/drawing/2014/main" id="{7CAC69AF-8244-5754-F7C1-E178EF80AFA3}"/>
              </a:ext>
            </a:extLst>
          </p:cNvPr>
          <p:cNvPicPr>
            <a:picLocks noChangeAspect="1"/>
          </p:cNvPicPr>
          <p:nvPr/>
        </p:nvPicPr>
        <p:blipFill>
          <a:blip r:embed="rId3"/>
          <a:stretch>
            <a:fillRect/>
          </a:stretch>
        </p:blipFill>
        <p:spPr>
          <a:xfrm>
            <a:off x="7395627" y="2248390"/>
            <a:ext cx="4462600" cy="3304797"/>
          </a:xfrm>
          <a:prstGeom prst="rect">
            <a:avLst/>
          </a:prstGeom>
        </p:spPr>
      </p:pic>
      <p:sp>
        <p:nvSpPr>
          <p:cNvPr id="3" name="TextBox 2">
            <a:extLst>
              <a:ext uri="{FF2B5EF4-FFF2-40B4-BE49-F238E27FC236}">
                <a16:creationId xmlns:a16="http://schemas.microsoft.com/office/drawing/2014/main" id="{49C71BC1-274F-63B7-86EA-90A4A68FA588}"/>
              </a:ext>
            </a:extLst>
          </p:cNvPr>
          <p:cNvSpPr txBox="1"/>
          <p:nvPr/>
        </p:nvSpPr>
        <p:spPr>
          <a:xfrm>
            <a:off x="7321723" y="5553187"/>
            <a:ext cx="4752528" cy="984885"/>
          </a:xfrm>
          <a:prstGeom prst="rect">
            <a:avLst/>
          </a:prstGeom>
          <a:noFill/>
        </p:spPr>
        <p:txBody>
          <a:bodyPr wrap="square" lIns="0" tIns="0" rIns="0" bIns="0" rtlCol="0">
            <a:spAutoFit/>
          </a:bodyPr>
          <a:lstStyle/>
          <a:p>
            <a:r>
              <a:rPr lang="nl-NL" sz="1600" dirty="0">
                <a:latin typeface="Open Sans Light"/>
              </a:rPr>
              <a:t>Uit: Kirschner, P. A., Claessens, C., &amp; Raaijmakers, S. (2019). </a:t>
            </a:r>
            <a:r>
              <a:rPr lang="nl-NL" sz="1600" i="1" dirty="0">
                <a:latin typeface="Open Sans Light"/>
              </a:rPr>
              <a:t>Op de schouders van reuzen: Inspirerende inzichten uit de cognitieve psychologie voor leerkrachten. </a:t>
            </a:r>
            <a:r>
              <a:rPr lang="nl-NL" sz="1600" dirty="0">
                <a:latin typeface="Open Sans Light"/>
              </a:rPr>
              <a:t>Ten Brink Uitgevers.</a:t>
            </a:r>
          </a:p>
        </p:txBody>
      </p:sp>
    </p:spTree>
    <p:extLst>
      <p:ext uri="{BB962C8B-B14F-4D97-AF65-F5344CB8AC3E}">
        <p14:creationId xmlns:p14="http://schemas.microsoft.com/office/powerpoint/2010/main" val="32661907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5B3F388-3A0F-F3E6-154A-7FFC115F3638}"/>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Kennis</a:t>
            </a:r>
            <a:endParaRPr lang="en-GB"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6" name="Oval 5">
            <a:extLst>
              <a:ext uri="{FF2B5EF4-FFF2-40B4-BE49-F238E27FC236}">
                <a16:creationId xmlns:a16="http://schemas.microsoft.com/office/drawing/2014/main" id="{DB9F9E76-2730-4BF3-BD02-397BE6F39C48}"/>
              </a:ext>
            </a:extLst>
          </p:cNvPr>
          <p:cNvSpPr/>
          <p:nvPr/>
        </p:nvSpPr>
        <p:spPr>
          <a:xfrm>
            <a:off x="2855405" y="692696"/>
            <a:ext cx="6984776" cy="2808312"/>
          </a:xfrm>
          <a:prstGeom prst="ellipse">
            <a:avLst/>
          </a:prstGeom>
          <a:solidFill>
            <a:schemeClr val="accent1">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t" anchorCtr="0"/>
          <a:lstStyle/>
          <a:p>
            <a:r>
              <a:rPr lang="nl-NL"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Kennis van de </a:t>
            </a:r>
          </a:p>
          <a:p>
            <a:r>
              <a:rPr lang="nl-NL"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instructieverantwoordelijke</a:t>
            </a:r>
          </a:p>
        </p:txBody>
      </p:sp>
      <p:sp>
        <p:nvSpPr>
          <p:cNvPr id="8" name="Oval 7">
            <a:extLst>
              <a:ext uri="{FF2B5EF4-FFF2-40B4-BE49-F238E27FC236}">
                <a16:creationId xmlns:a16="http://schemas.microsoft.com/office/drawing/2014/main" id="{21CF2C66-C55D-4FB0-98C2-FD9B8B26250E}"/>
              </a:ext>
            </a:extLst>
          </p:cNvPr>
          <p:cNvSpPr/>
          <p:nvPr/>
        </p:nvSpPr>
        <p:spPr>
          <a:xfrm>
            <a:off x="4885401" y="1679255"/>
            <a:ext cx="4298324" cy="1728192"/>
          </a:xfrm>
          <a:prstGeom prst="ellipse">
            <a:avLst/>
          </a:prstGeom>
          <a:solidFill>
            <a:srgbClr val="ADF67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t" anchorCtr="0"/>
          <a:lstStyle/>
          <a:p>
            <a:r>
              <a:rPr lang="nl-NL"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Kennis van de </a:t>
            </a:r>
          </a:p>
          <a:p>
            <a:r>
              <a:rPr lang="nl-NL"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lerende NA de les</a:t>
            </a:r>
          </a:p>
        </p:txBody>
      </p:sp>
      <p:sp>
        <p:nvSpPr>
          <p:cNvPr id="9" name="Oval 8">
            <a:extLst>
              <a:ext uri="{FF2B5EF4-FFF2-40B4-BE49-F238E27FC236}">
                <a16:creationId xmlns:a16="http://schemas.microsoft.com/office/drawing/2014/main" id="{7F8CECE6-44BC-4999-98D7-C0334EF2FCF7}"/>
              </a:ext>
            </a:extLst>
          </p:cNvPr>
          <p:cNvSpPr/>
          <p:nvPr/>
        </p:nvSpPr>
        <p:spPr>
          <a:xfrm>
            <a:off x="6615239" y="2255319"/>
            <a:ext cx="2232248" cy="897502"/>
          </a:xfrm>
          <a:prstGeom prst="ellipse">
            <a:avLst/>
          </a:prstGeom>
          <a:solidFill>
            <a:srgbClr val="F3D97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t" anchorCtr="0"/>
          <a:lstStyle/>
          <a:p>
            <a:pPr algn="ctr"/>
            <a:r>
              <a:rPr lang="nl-NL"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Kennis van de </a:t>
            </a:r>
          </a:p>
          <a:p>
            <a:pPr algn="ctr"/>
            <a:r>
              <a:rPr lang="nl-NL"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lerende VOOR </a:t>
            </a:r>
          </a:p>
          <a:p>
            <a:pPr algn="ctr"/>
            <a:r>
              <a:rPr lang="nl-NL"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de les</a:t>
            </a:r>
          </a:p>
        </p:txBody>
      </p:sp>
      <p:sp>
        <p:nvSpPr>
          <p:cNvPr id="10" name="TextBox 9">
            <a:extLst>
              <a:ext uri="{FF2B5EF4-FFF2-40B4-BE49-F238E27FC236}">
                <a16:creationId xmlns:a16="http://schemas.microsoft.com/office/drawing/2014/main" id="{57FD3561-A220-4404-96FC-EA11FB5FD8F9}"/>
              </a:ext>
            </a:extLst>
          </p:cNvPr>
          <p:cNvSpPr txBox="1"/>
          <p:nvPr/>
        </p:nvSpPr>
        <p:spPr>
          <a:xfrm>
            <a:off x="480963" y="1627329"/>
            <a:ext cx="2212232" cy="646331"/>
          </a:xfrm>
          <a:prstGeom prst="rect">
            <a:avLst/>
          </a:prstGeom>
          <a:noFill/>
          <a:ln>
            <a:solidFill>
              <a:schemeClr val="tx1"/>
            </a:solidFill>
          </a:ln>
        </p:spPr>
        <p:txBody>
          <a:bodyPr wrap="square" rtlCol="0">
            <a:spAutoFit/>
          </a:bodyPr>
          <a:lstStyle/>
          <a:p>
            <a:pPr algn="ctr"/>
            <a:r>
              <a:rPr lang="nl-NL" dirty="0" err="1">
                <a:latin typeface="Open Sans Light" panose="020B0306030504020204" pitchFamily="34" charset="0"/>
                <a:ea typeface="Open Sans Light" panose="020B0306030504020204" pitchFamily="34" charset="0"/>
                <a:cs typeface="Open Sans Light" panose="020B0306030504020204" pitchFamily="34" charset="0"/>
              </a:rPr>
              <a:t>Cognitivistische</a:t>
            </a:r>
            <a:r>
              <a:rPr lang="nl-NL" dirty="0">
                <a:latin typeface="Open Sans Light" panose="020B0306030504020204" pitchFamily="34" charset="0"/>
                <a:ea typeface="Open Sans Light" panose="020B0306030504020204" pitchFamily="34" charset="0"/>
                <a:cs typeface="Open Sans Light" panose="020B0306030504020204" pitchFamily="34" charset="0"/>
              </a:rPr>
              <a:t> visie</a:t>
            </a:r>
          </a:p>
        </p:txBody>
      </p:sp>
      <p:sp>
        <p:nvSpPr>
          <p:cNvPr id="11" name="Oval 10">
            <a:extLst>
              <a:ext uri="{FF2B5EF4-FFF2-40B4-BE49-F238E27FC236}">
                <a16:creationId xmlns:a16="http://schemas.microsoft.com/office/drawing/2014/main" id="{982DF2B8-0D25-44B1-8876-7CACE6A16586}"/>
              </a:ext>
            </a:extLst>
          </p:cNvPr>
          <p:cNvSpPr/>
          <p:nvPr/>
        </p:nvSpPr>
        <p:spPr>
          <a:xfrm>
            <a:off x="3507003" y="4097155"/>
            <a:ext cx="5424006" cy="2808312"/>
          </a:xfrm>
          <a:prstGeom prst="ellipse">
            <a:avLst/>
          </a:prstGeom>
          <a:solidFill>
            <a:schemeClr val="accent1">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t" anchorCtr="0"/>
          <a:lstStyle/>
          <a:p>
            <a:r>
              <a:rPr lang="nl-NL"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p>
        </p:txBody>
      </p:sp>
      <p:sp>
        <p:nvSpPr>
          <p:cNvPr id="14" name="TextBox 13">
            <a:extLst>
              <a:ext uri="{FF2B5EF4-FFF2-40B4-BE49-F238E27FC236}">
                <a16:creationId xmlns:a16="http://schemas.microsoft.com/office/drawing/2014/main" id="{E2279B80-FFE0-4F45-949B-589F7E56607C}"/>
              </a:ext>
            </a:extLst>
          </p:cNvPr>
          <p:cNvSpPr txBox="1"/>
          <p:nvPr/>
        </p:nvSpPr>
        <p:spPr>
          <a:xfrm>
            <a:off x="503268" y="4631215"/>
            <a:ext cx="2415954" cy="646331"/>
          </a:xfrm>
          <a:prstGeom prst="rect">
            <a:avLst/>
          </a:prstGeom>
          <a:noFill/>
          <a:ln>
            <a:solidFill>
              <a:schemeClr val="tx1"/>
            </a:solidFill>
          </a:ln>
        </p:spPr>
        <p:txBody>
          <a:bodyPr wrap="square" rtlCol="0">
            <a:spAutoFit/>
          </a:bodyPr>
          <a:lstStyle/>
          <a:p>
            <a:pPr algn="ctr"/>
            <a:r>
              <a:rPr lang="nl-NL" dirty="0">
                <a:latin typeface="Open Sans Light" panose="020B0306030504020204" pitchFamily="34" charset="0"/>
                <a:ea typeface="Open Sans Light" panose="020B0306030504020204" pitchFamily="34" charset="0"/>
                <a:cs typeface="Open Sans Light" panose="020B0306030504020204" pitchFamily="34" charset="0"/>
              </a:rPr>
              <a:t>Constructivistische visie</a:t>
            </a:r>
          </a:p>
        </p:txBody>
      </p:sp>
      <p:sp>
        <p:nvSpPr>
          <p:cNvPr id="15" name="TextBox 14">
            <a:extLst>
              <a:ext uri="{FF2B5EF4-FFF2-40B4-BE49-F238E27FC236}">
                <a16:creationId xmlns:a16="http://schemas.microsoft.com/office/drawing/2014/main" id="{93E6E46A-EA1E-4F19-AD2E-425A64DBAB18}"/>
              </a:ext>
            </a:extLst>
          </p:cNvPr>
          <p:cNvSpPr txBox="1"/>
          <p:nvPr/>
        </p:nvSpPr>
        <p:spPr>
          <a:xfrm>
            <a:off x="3919231" y="5016335"/>
            <a:ext cx="2629514" cy="954107"/>
          </a:xfrm>
          <a:prstGeom prst="rect">
            <a:avLst/>
          </a:prstGeom>
          <a:noFill/>
          <a:ln>
            <a:noFill/>
          </a:ln>
        </p:spPr>
        <p:txBody>
          <a:bodyPr wrap="square" rtlCol="0">
            <a:spAutoFit/>
          </a:bodyPr>
          <a:lstStyle/>
          <a:p>
            <a:r>
              <a:rPr lang="nl-NL" sz="1400" dirty="0">
                <a:latin typeface="Open Sans Light" panose="020B0306030504020204" pitchFamily="34" charset="0"/>
                <a:ea typeface="Open Sans Light" panose="020B0306030504020204" pitchFamily="34" charset="0"/>
                <a:cs typeface="Open Sans Light" panose="020B0306030504020204" pitchFamily="34" charset="0"/>
              </a:rPr>
              <a:t>    Kennis van de </a:t>
            </a:r>
          </a:p>
          <a:p>
            <a:r>
              <a:rPr lang="nl-NL" sz="1400" dirty="0">
                <a:latin typeface="Open Sans Light" panose="020B0306030504020204" pitchFamily="34" charset="0"/>
                <a:ea typeface="Open Sans Light" panose="020B0306030504020204" pitchFamily="34" charset="0"/>
                <a:cs typeface="Open Sans Light" panose="020B0306030504020204" pitchFamily="34" charset="0"/>
              </a:rPr>
              <a:t> instructie-</a:t>
            </a:r>
          </a:p>
          <a:p>
            <a:r>
              <a:rPr lang="nl-NL" sz="1400" dirty="0">
                <a:latin typeface="Open Sans Light" panose="020B0306030504020204" pitchFamily="34" charset="0"/>
                <a:ea typeface="Open Sans Light" panose="020B0306030504020204" pitchFamily="34" charset="0"/>
                <a:cs typeface="Open Sans Light" panose="020B0306030504020204" pitchFamily="34" charset="0"/>
              </a:rPr>
              <a:t>verantwoordelijke </a:t>
            </a:r>
          </a:p>
          <a:p>
            <a:r>
              <a:rPr lang="nl-NL" sz="1400" dirty="0">
                <a:latin typeface="Open Sans Light" panose="020B0306030504020204" pitchFamily="34" charset="0"/>
                <a:ea typeface="Open Sans Light" panose="020B0306030504020204" pitchFamily="34" charset="0"/>
                <a:cs typeface="Open Sans Light" panose="020B0306030504020204" pitchFamily="34" charset="0"/>
              </a:rPr>
              <a:t>  NA de les</a:t>
            </a:r>
          </a:p>
        </p:txBody>
      </p:sp>
      <p:sp>
        <p:nvSpPr>
          <p:cNvPr id="17" name="Oval 16">
            <a:extLst>
              <a:ext uri="{FF2B5EF4-FFF2-40B4-BE49-F238E27FC236}">
                <a16:creationId xmlns:a16="http://schemas.microsoft.com/office/drawing/2014/main" id="{CF7ECA92-4BC1-45BE-87E1-5E19BE609A72}"/>
              </a:ext>
            </a:extLst>
          </p:cNvPr>
          <p:cNvSpPr/>
          <p:nvPr/>
        </p:nvSpPr>
        <p:spPr>
          <a:xfrm>
            <a:off x="5377507" y="4209969"/>
            <a:ext cx="5424006" cy="2808312"/>
          </a:xfrm>
          <a:prstGeom prst="ellipse">
            <a:avLst/>
          </a:prstGeom>
          <a:solidFill>
            <a:schemeClr val="accent1">
              <a:lumMod val="60000"/>
              <a:lumOff val="4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t" anchorCtr="0"/>
          <a:lstStyle/>
          <a:p>
            <a:r>
              <a:rPr lang="nl-NL"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p>
        </p:txBody>
      </p:sp>
      <p:sp>
        <p:nvSpPr>
          <p:cNvPr id="12" name="Oval 11">
            <a:extLst>
              <a:ext uri="{FF2B5EF4-FFF2-40B4-BE49-F238E27FC236}">
                <a16:creationId xmlns:a16="http://schemas.microsoft.com/office/drawing/2014/main" id="{E9AECDAA-6C20-4901-99C2-97E909F710E6}"/>
              </a:ext>
            </a:extLst>
          </p:cNvPr>
          <p:cNvSpPr/>
          <p:nvPr/>
        </p:nvSpPr>
        <p:spPr>
          <a:xfrm>
            <a:off x="7194075" y="4856393"/>
            <a:ext cx="4298324" cy="1728192"/>
          </a:xfrm>
          <a:prstGeom prst="ellipse">
            <a:avLst/>
          </a:prstGeom>
          <a:solidFill>
            <a:srgbClr val="ADF67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t" anchorCtr="0"/>
          <a:lstStyle/>
          <a:p>
            <a:r>
              <a:rPr lang="nl-NL"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a:t>
            </a:r>
          </a:p>
          <a:p>
            <a:endParaRPr lang="nl-NL"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endParaRPr>
          </a:p>
          <a:p>
            <a:r>
              <a:rPr lang="nl-NL"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Kennis van de </a:t>
            </a:r>
          </a:p>
          <a:p>
            <a:r>
              <a:rPr lang="nl-NL"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lerende NA de les</a:t>
            </a:r>
          </a:p>
        </p:txBody>
      </p:sp>
      <p:sp>
        <p:nvSpPr>
          <p:cNvPr id="13" name="Oval 12">
            <a:extLst>
              <a:ext uri="{FF2B5EF4-FFF2-40B4-BE49-F238E27FC236}">
                <a16:creationId xmlns:a16="http://schemas.microsoft.com/office/drawing/2014/main" id="{82443CD0-47F6-4B09-A68E-01C37FE672AA}"/>
              </a:ext>
            </a:extLst>
          </p:cNvPr>
          <p:cNvSpPr/>
          <p:nvPr/>
        </p:nvSpPr>
        <p:spPr>
          <a:xfrm>
            <a:off x="8830312" y="4743579"/>
            <a:ext cx="2232248" cy="897502"/>
          </a:xfrm>
          <a:prstGeom prst="ellipse">
            <a:avLst/>
          </a:prstGeom>
          <a:solidFill>
            <a:srgbClr val="F3D97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tlCol="0" anchor="t" anchorCtr="0"/>
          <a:lstStyle/>
          <a:p>
            <a:pPr algn="ctr"/>
            <a:r>
              <a:rPr lang="nl-NL"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Kennis van de </a:t>
            </a:r>
          </a:p>
          <a:p>
            <a:pPr algn="ctr"/>
            <a:r>
              <a:rPr lang="nl-NL"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lerende VOOR </a:t>
            </a:r>
          </a:p>
          <a:p>
            <a:pPr algn="ctr"/>
            <a:r>
              <a:rPr lang="nl-NL" sz="1400" dirty="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rPr>
              <a:t>  de les</a:t>
            </a:r>
          </a:p>
        </p:txBody>
      </p:sp>
      <p:sp>
        <p:nvSpPr>
          <p:cNvPr id="18" name="TextBox 17">
            <a:extLst>
              <a:ext uri="{FF2B5EF4-FFF2-40B4-BE49-F238E27FC236}">
                <a16:creationId xmlns:a16="http://schemas.microsoft.com/office/drawing/2014/main" id="{8CECB0A5-424F-45FC-8555-58DBBB6E467F}"/>
              </a:ext>
            </a:extLst>
          </p:cNvPr>
          <p:cNvSpPr txBox="1"/>
          <p:nvPr/>
        </p:nvSpPr>
        <p:spPr>
          <a:xfrm>
            <a:off x="5645051" y="5129149"/>
            <a:ext cx="2629514" cy="954107"/>
          </a:xfrm>
          <a:prstGeom prst="rect">
            <a:avLst/>
          </a:prstGeom>
          <a:noFill/>
          <a:ln>
            <a:noFill/>
          </a:ln>
        </p:spPr>
        <p:txBody>
          <a:bodyPr wrap="square" rtlCol="0">
            <a:spAutoFit/>
          </a:bodyPr>
          <a:lstStyle/>
          <a:p>
            <a:r>
              <a:rPr lang="nl-NL" sz="1400" dirty="0">
                <a:latin typeface="Open Sans Light" panose="020B0306030504020204" pitchFamily="34" charset="0"/>
                <a:ea typeface="Open Sans Light" panose="020B0306030504020204" pitchFamily="34" charset="0"/>
                <a:cs typeface="Open Sans Light" panose="020B0306030504020204" pitchFamily="34" charset="0"/>
              </a:rPr>
              <a:t>    Kennis van de </a:t>
            </a:r>
          </a:p>
          <a:p>
            <a:r>
              <a:rPr lang="nl-NL" sz="1400" dirty="0">
                <a:latin typeface="Open Sans Light" panose="020B0306030504020204" pitchFamily="34" charset="0"/>
                <a:ea typeface="Open Sans Light" panose="020B0306030504020204" pitchFamily="34" charset="0"/>
                <a:cs typeface="Open Sans Light" panose="020B0306030504020204" pitchFamily="34" charset="0"/>
              </a:rPr>
              <a:t> instructie-</a:t>
            </a:r>
          </a:p>
          <a:p>
            <a:r>
              <a:rPr lang="nl-NL" sz="1400" dirty="0">
                <a:latin typeface="Open Sans Light" panose="020B0306030504020204" pitchFamily="34" charset="0"/>
                <a:ea typeface="Open Sans Light" panose="020B0306030504020204" pitchFamily="34" charset="0"/>
                <a:cs typeface="Open Sans Light" panose="020B0306030504020204" pitchFamily="34" charset="0"/>
              </a:rPr>
              <a:t>verantwoordelijke </a:t>
            </a:r>
          </a:p>
          <a:p>
            <a:r>
              <a:rPr lang="nl-NL" sz="1400" dirty="0">
                <a:latin typeface="Open Sans Light" panose="020B0306030504020204" pitchFamily="34" charset="0"/>
                <a:ea typeface="Open Sans Light" panose="020B0306030504020204" pitchFamily="34" charset="0"/>
                <a:cs typeface="Open Sans Light" panose="020B0306030504020204" pitchFamily="34" charset="0"/>
              </a:rPr>
              <a:t>  VOOR de les</a:t>
            </a:r>
          </a:p>
        </p:txBody>
      </p:sp>
    </p:spTree>
    <p:extLst>
      <p:ext uri="{BB962C8B-B14F-4D97-AF65-F5344CB8AC3E}">
        <p14:creationId xmlns:p14="http://schemas.microsoft.com/office/powerpoint/2010/main" val="3866163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142818-AA1C-49CD-A5A4-05FB094E4E6F}"/>
              </a:ext>
            </a:extLst>
          </p:cNvPr>
          <p:cNvSpPr txBox="1"/>
          <p:nvPr/>
        </p:nvSpPr>
        <p:spPr>
          <a:xfrm>
            <a:off x="1173163" y="2132856"/>
            <a:ext cx="10613056" cy="4431983"/>
          </a:xfrm>
          <a:prstGeom prst="rect">
            <a:avLst/>
          </a:prstGeom>
          <a:noFill/>
        </p:spPr>
        <p:txBody>
          <a:bodyPr wrap="square" lIns="0" tIns="0" rIns="0" bIns="0" rtlCol="0">
            <a:spAutoFit/>
          </a:bodyPr>
          <a:lstStyle/>
          <a:p>
            <a:endParaRPr lang="nl-NL" sz="2400" dirty="0">
              <a:latin typeface="Open Sans Light"/>
            </a:endParaRPr>
          </a:p>
          <a:p>
            <a:r>
              <a:rPr lang="nl-NL" sz="2400" dirty="0">
                <a:latin typeface="Open Sans Light"/>
              </a:rPr>
              <a:t>Kennis is een </a:t>
            </a:r>
            <a:r>
              <a:rPr lang="nl-NL" sz="2400" dirty="0">
                <a:solidFill>
                  <a:srgbClr val="C00000"/>
                </a:solidFill>
                <a:latin typeface="Open Sans Light"/>
              </a:rPr>
              <a:t>constructie</a:t>
            </a:r>
            <a:r>
              <a:rPr lang="nl-NL" sz="2400" dirty="0">
                <a:latin typeface="Open Sans Light"/>
              </a:rPr>
              <a:t> van de werkelijkheid</a:t>
            </a:r>
          </a:p>
          <a:p>
            <a:endParaRPr lang="nl-NL" sz="2400" dirty="0">
              <a:latin typeface="Open Sans Light"/>
            </a:endParaRPr>
          </a:p>
          <a:p>
            <a:r>
              <a:rPr lang="nl-NL" sz="2400" dirty="0">
                <a:latin typeface="Open Sans Light"/>
              </a:rPr>
              <a:t>Kennis is </a:t>
            </a:r>
            <a:r>
              <a:rPr lang="nl-NL" sz="2400" dirty="0">
                <a:solidFill>
                  <a:srgbClr val="C00000"/>
                </a:solidFill>
                <a:latin typeface="Open Sans Light"/>
              </a:rPr>
              <a:t>niet</a:t>
            </a:r>
            <a:r>
              <a:rPr lang="nl-NL" sz="2400" dirty="0">
                <a:latin typeface="Open Sans Light"/>
              </a:rPr>
              <a:t> (zonder meer) </a:t>
            </a:r>
            <a:r>
              <a:rPr lang="nl-NL" sz="2400" dirty="0">
                <a:solidFill>
                  <a:srgbClr val="C00000"/>
                </a:solidFill>
                <a:latin typeface="Open Sans Light"/>
              </a:rPr>
              <a:t>overdraagbaar</a:t>
            </a:r>
            <a:r>
              <a:rPr lang="nl-NL" sz="2400" dirty="0">
                <a:latin typeface="Open Sans Light"/>
              </a:rPr>
              <a:t> van de ene persoon naar de andere</a:t>
            </a:r>
          </a:p>
          <a:p>
            <a:r>
              <a:rPr lang="nl-NL" sz="2400" dirty="0">
                <a:latin typeface="Open Sans Light"/>
              </a:rPr>
              <a:t>	</a:t>
            </a:r>
            <a:r>
              <a:rPr lang="nl-NL" sz="2400" i="1" dirty="0">
                <a:latin typeface="Open Sans Light"/>
              </a:rPr>
              <a:t>Implicatie: Leren is een constructief proces</a:t>
            </a:r>
          </a:p>
          <a:p>
            <a:endParaRPr lang="nl-NL" sz="2400" dirty="0">
              <a:latin typeface="Open Sans Light"/>
            </a:endParaRPr>
          </a:p>
          <a:p>
            <a:r>
              <a:rPr lang="nl-NL" sz="2400" dirty="0">
                <a:latin typeface="Open Sans Light"/>
              </a:rPr>
              <a:t>Kennis is </a:t>
            </a:r>
            <a:r>
              <a:rPr lang="nl-NL" sz="2400" dirty="0" err="1">
                <a:solidFill>
                  <a:srgbClr val="C00000"/>
                </a:solidFill>
                <a:latin typeface="Open Sans Light"/>
              </a:rPr>
              <a:t>contextgebonden</a:t>
            </a:r>
            <a:endParaRPr lang="nl-NL" sz="2400" dirty="0">
              <a:solidFill>
                <a:srgbClr val="C00000"/>
              </a:solidFill>
              <a:latin typeface="Open Sans Light"/>
            </a:endParaRPr>
          </a:p>
          <a:p>
            <a:r>
              <a:rPr lang="nl-NL" sz="2400" dirty="0">
                <a:latin typeface="Open Sans Light"/>
              </a:rPr>
              <a:t>	</a:t>
            </a:r>
            <a:r>
              <a:rPr lang="nl-NL" sz="2400" i="1" dirty="0">
                <a:latin typeface="Open Sans Light"/>
              </a:rPr>
              <a:t>Implicatie: Leren moet plaatsvinden in een betekenisvolle context</a:t>
            </a:r>
          </a:p>
          <a:p>
            <a:endParaRPr lang="nl-NL" sz="2400" dirty="0">
              <a:latin typeface="Open Sans Light"/>
            </a:endParaRPr>
          </a:p>
          <a:p>
            <a:r>
              <a:rPr lang="nl-NL" sz="2400" dirty="0">
                <a:latin typeface="Open Sans Light"/>
              </a:rPr>
              <a:t>Kennis is een </a:t>
            </a:r>
            <a:r>
              <a:rPr lang="nl-NL" sz="2400" dirty="0">
                <a:solidFill>
                  <a:srgbClr val="C00000"/>
                </a:solidFill>
                <a:latin typeface="Open Sans Light"/>
              </a:rPr>
              <a:t>sociale constructie</a:t>
            </a:r>
          </a:p>
          <a:p>
            <a:r>
              <a:rPr lang="nl-NL" sz="2400" dirty="0">
                <a:latin typeface="Open Sans Light"/>
              </a:rPr>
              <a:t>	</a:t>
            </a:r>
            <a:r>
              <a:rPr lang="nl-NL" sz="2400" i="1" dirty="0">
                <a:latin typeface="Open Sans Light"/>
              </a:rPr>
              <a:t>Implicatie: Leren moet plaatsvinden in interactie met anderen</a:t>
            </a:r>
          </a:p>
        </p:txBody>
      </p:sp>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Kenmerken</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constructivisme</a:t>
            </a:r>
            <a:endParaRPr lang="en-GB"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 name="Rectangle 2">
            <a:extLst>
              <a:ext uri="{FF2B5EF4-FFF2-40B4-BE49-F238E27FC236}">
                <a16:creationId xmlns:a16="http://schemas.microsoft.com/office/drawing/2014/main" id="{A16F598C-2793-9E5B-FCBC-530872812FDB}"/>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8576896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142818-AA1C-49CD-A5A4-05FB094E4E6F}"/>
              </a:ext>
            </a:extLst>
          </p:cNvPr>
          <p:cNvSpPr txBox="1"/>
          <p:nvPr/>
        </p:nvSpPr>
        <p:spPr>
          <a:xfrm>
            <a:off x="1173163" y="1844824"/>
            <a:ext cx="6994525" cy="2585323"/>
          </a:xfrm>
          <a:prstGeom prst="rect">
            <a:avLst/>
          </a:prstGeom>
          <a:noFill/>
        </p:spPr>
        <p:txBody>
          <a:bodyPr wrap="square" lIns="0" tIns="0" rIns="0" bIns="0" rtlCol="0">
            <a:spAutoFit/>
          </a:bodyPr>
          <a:lstStyle/>
          <a:p>
            <a:r>
              <a:rPr lang="nl-NL" sz="2400" dirty="0">
                <a:latin typeface="Open Sans Light"/>
              </a:rPr>
              <a:t>Verschillende stromingen:</a:t>
            </a:r>
          </a:p>
          <a:p>
            <a:endParaRPr lang="nl-NL" sz="2400" dirty="0">
              <a:latin typeface="Open Sans Light"/>
            </a:endParaRPr>
          </a:p>
          <a:p>
            <a:pPr marL="457200" indent="-457200">
              <a:buFont typeface="+mj-lt"/>
              <a:buAutoNum type="arabicPeriod"/>
            </a:pPr>
            <a:r>
              <a:rPr lang="nl-NL" sz="2400" dirty="0">
                <a:solidFill>
                  <a:srgbClr val="C00000"/>
                </a:solidFill>
                <a:latin typeface="Open Sans Light"/>
              </a:rPr>
              <a:t>Cognitief</a:t>
            </a:r>
            <a:r>
              <a:rPr lang="nl-NL" sz="2400" dirty="0">
                <a:latin typeface="Open Sans Light"/>
              </a:rPr>
              <a:t> constructivisme: Individueel, kennisconstructie, rol voorkennis</a:t>
            </a:r>
          </a:p>
          <a:p>
            <a:pPr marL="457200" indent="-457200">
              <a:buFont typeface="+mj-lt"/>
              <a:buAutoNum type="arabicPeriod"/>
            </a:pPr>
            <a:endParaRPr lang="nl-NL" sz="2400" dirty="0">
              <a:latin typeface="Open Sans Light"/>
            </a:endParaRPr>
          </a:p>
          <a:p>
            <a:pPr marL="457200" indent="-457200">
              <a:buFont typeface="+mj-lt"/>
              <a:buAutoNum type="arabicPeriod"/>
            </a:pPr>
            <a:r>
              <a:rPr lang="nl-NL" sz="2400" dirty="0">
                <a:solidFill>
                  <a:srgbClr val="C00000"/>
                </a:solidFill>
                <a:latin typeface="Open Sans Light"/>
              </a:rPr>
              <a:t>Sociaal</a:t>
            </a:r>
            <a:r>
              <a:rPr lang="nl-NL" sz="2400" dirty="0">
                <a:latin typeface="Open Sans Light"/>
              </a:rPr>
              <a:t> constructivisme: Leren in sociaal verband, co-constructie van kennis</a:t>
            </a:r>
          </a:p>
        </p:txBody>
      </p:sp>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Geen</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eenvormige</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theorie</a:t>
            </a:r>
            <a:endParaRPr lang="en-GB"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pic>
        <p:nvPicPr>
          <p:cNvPr id="9" name="Picture 2" descr="C:\Users\horns003\AppData\Local\Microsoft\Windows\Temporary Internet Files\Content.IE5\5H82SLH6\head-316654_640[1].jpg">
            <a:extLst>
              <a:ext uri="{FF2B5EF4-FFF2-40B4-BE49-F238E27FC236}">
                <a16:creationId xmlns:a16="http://schemas.microsoft.com/office/drawing/2014/main" id="{B759CC33-BEFA-4ED6-A263-6FEDE73C7BB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5289"/>
          <a:stretch/>
        </p:blipFill>
        <p:spPr bwMode="auto">
          <a:xfrm>
            <a:off x="9327630" y="1564091"/>
            <a:ext cx="1234008" cy="182416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C:\Users\horns003\AppData\Local\Microsoft\Windows\Temporary Internet Files\Content.IE5\5H82SLH6\head-316654_640[1].jpg">
            <a:extLst>
              <a:ext uri="{FF2B5EF4-FFF2-40B4-BE49-F238E27FC236}">
                <a16:creationId xmlns:a16="http://schemas.microsoft.com/office/drawing/2014/main" id="{D61D57E3-DBC6-4C57-B0C2-1A0BAC489FC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6502"/>
          <a:stretch/>
        </p:blipFill>
        <p:spPr bwMode="auto">
          <a:xfrm>
            <a:off x="8623897" y="3953188"/>
            <a:ext cx="2759968" cy="1340721"/>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Arrow Connector 11">
            <a:extLst>
              <a:ext uri="{FF2B5EF4-FFF2-40B4-BE49-F238E27FC236}">
                <a16:creationId xmlns:a16="http://schemas.microsoft.com/office/drawing/2014/main" id="{4BC22640-F514-4C23-A260-44C47D1FA140}"/>
              </a:ext>
            </a:extLst>
          </p:cNvPr>
          <p:cNvCxnSpPr>
            <a:endCxn id="9" idx="1"/>
          </p:cNvCxnSpPr>
          <p:nvPr/>
        </p:nvCxnSpPr>
        <p:spPr>
          <a:xfrm>
            <a:off x="8679558" y="2476174"/>
            <a:ext cx="648072"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D887E81-3440-4F01-A683-5A5F8DF40E4B}"/>
              </a:ext>
            </a:extLst>
          </p:cNvPr>
          <p:cNvCxnSpPr/>
          <p:nvPr/>
        </p:nvCxnSpPr>
        <p:spPr>
          <a:xfrm>
            <a:off x="10003881" y="1394398"/>
            <a:ext cx="0" cy="553299"/>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3C658DD-C4FC-4462-BC0E-4799B15E00A0}"/>
              </a:ext>
            </a:extLst>
          </p:cNvPr>
          <p:cNvCxnSpPr/>
          <p:nvPr/>
        </p:nvCxnSpPr>
        <p:spPr>
          <a:xfrm flipH="1">
            <a:off x="10597047" y="2483669"/>
            <a:ext cx="579512"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B4769BD-7E8E-4B81-8F9E-F6FF57672501}"/>
              </a:ext>
            </a:extLst>
          </p:cNvPr>
          <p:cNvCxnSpPr/>
          <p:nvPr/>
        </p:nvCxnSpPr>
        <p:spPr>
          <a:xfrm>
            <a:off x="10015770" y="3695954"/>
            <a:ext cx="18306" cy="208987"/>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48B8DCBD-950B-45D5-A20A-2B17465BAC15}"/>
              </a:ext>
            </a:extLst>
          </p:cNvPr>
          <p:cNvCxnSpPr/>
          <p:nvPr/>
        </p:nvCxnSpPr>
        <p:spPr>
          <a:xfrm flipH="1">
            <a:off x="10091746" y="3946198"/>
            <a:ext cx="229978"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B5AC92E-B47D-4450-BB83-94CD9AE0FDE4}"/>
              </a:ext>
            </a:extLst>
          </p:cNvPr>
          <p:cNvCxnSpPr/>
          <p:nvPr/>
        </p:nvCxnSpPr>
        <p:spPr>
          <a:xfrm>
            <a:off x="9714125" y="3946198"/>
            <a:ext cx="214467" cy="0"/>
          </a:xfrm>
          <a:prstGeom prst="straightConnector1">
            <a:avLst/>
          </a:prstGeom>
          <a:ln w="381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EDCC746-9318-4106-9D38-9DB44D55CF3B}"/>
              </a:ext>
            </a:extLst>
          </p:cNvPr>
          <p:cNvCxnSpPr/>
          <p:nvPr/>
        </p:nvCxnSpPr>
        <p:spPr>
          <a:xfrm>
            <a:off x="9954535" y="4477856"/>
            <a:ext cx="329852"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B494426-DDC5-4842-BABA-7A34CF16151C}"/>
              </a:ext>
            </a:extLst>
          </p:cNvPr>
          <p:cNvCxnSpPr/>
          <p:nvPr/>
        </p:nvCxnSpPr>
        <p:spPr>
          <a:xfrm>
            <a:off x="9956089" y="4695473"/>
            <a:ext cx="329852"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B62F9B6-00C9-4FE7-91AA-C2050F0A1B09}"/>
              </a:ext>
            </a:extLst>
          </p:cNvPr>
          <p:cNvCxnSpPr/>
          <p:nvPr/>
        </p:nvCxnSpPr>
        <p:spPr>
          <a:xfrm>
            <a:off x="9942009" y="4261832"/>
            <a:ext cx="329852"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2A30B0D6-DB41-296E-5615-97296F610F51}"/>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1031828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C142818-AA1C-49CD-A5A4-05FB094E4E6F}"/>
              </a:ext>
            </a:extLst>
          </p:cNvPr>
          <p:cNvSpPr txBox="1"/>
          <p:nvPr/>
        </p:nvSpPr>
        <p:spPr>
          <a:xfrm>
            <a:off x="1173163" y="1844824"/>
            <a:ext cx="9532936" cy="3724096"/>
          </a:xfrm>
          <a:prstGeom prst="rect">
            <a:avLst/>
          </a:prstGeom>
          <a:noFill/>
        </p:spPr>
        <p:txBody>
          <a:bodyPr wrap="square" lIns="0" tIns="0" rIns="0" bIns="0" rtlCol="0">
            <a:spAutoFit/>
          </a:bodyPr>
          <a:lstStyle/>
          <a:p>
            <a:r>
              <a:rPr lang="nl-NL" sz="2200" dirty="0">
                <a:latin typeface="Open Sans Light"/>
              </a:rPr>
              <a:t>Leerlingen zelf verantwoordelijk voor het leerproces</a:t>
            </a:r>
          </a:p>
          <a:p>
            <a:pPr marL="342900" indent="-342900">
              <a:buFont typeface="Arial" panose="020B0604020202020204" pitchFamily="34" charset="0"/>
              <a:buChar char="•"/>
            </a:pPr>
            <a:r>
              <a:rPr lang="nl-NL" sz="2200" dirty="0">
                <a:latin typeface="Open Sans Light"/>
              </a:rPr>
              <a:t>Aandacht voor actief en zelfstandig werken</a:t>
            </a:r>
          </a:p>
          <a:p>
            <a:pPr marL="342900" indent="-342900">
              <a:buFont typeface="Arial" panose="020B0604020202020204" pitchFamily="34" charset="0"/>
              <a:buChar char="•"/>
            </a:pPr>
            <a:r>
              <a:rPr lang="nl-NL" sz="2200" dirty="0">
                <a:latin typeface="Open Sans Light"/>
              </a:rPr>
              <a:t>Zelfsturing en hogere orde vaardigheden (leren leren)</a:t>
            </a:r>
          </a:p>
          <a:p>
            <a:pPr marL="342900" indent="-342900">
              <a:buFont typeface="Arial" panose="020B0604020202020204" pitchFamily="34" charset="0"/>
              <a:buChar char="•"/>
            </a:pPr>
            <a:r>
              <a:rPr lang="nl-NL" sz="2200" dirty="0">
                <a:latin typeface="Open Sans Light"/>
              </a:rPr>
              <a:t>Docent meer begeleidende rol</a:t>
            </a:r>
          </a:p>
          <a:p>
            <a:endParaRPr lang="nl-NL" sz="2200" dirty="0">
              <a:latin typeface="Open Sans Light"/>
            </a:endParaRPr>
          </a:p>
          <a:p>
            <a:r>
              <a:rPr lang="nl-NL" sz="2200" dirty="0">
                <a:latin typeface="Open Sans Light"/>
              </a:rPr>
              <a:t>Realistische en betekenisvolle (authentieke) leeromgeving</a:t>
            </a:r>
          </a:p>
          <a:p>
            <a:pPr marL="342900" indent="-342900">
              <a:buFont typeface="Arial" panose="020B0604020202020204" pitchFamily="34" charset="0"/>
              <a:buChar char="•"/>
            </a:pPr>
            <a:r>
              <a:rPr lang="nl-NL" sz="2200" dirty="0">
                <a:latin typeface="Open Sans Light"/>
              </a:rPr>
              <a:t>Opdrachten moeten zoveel overeenkomen met werkelijkheid: ‘echte’ vraagstukken en problemen</a:t>
            </a:r>
          </a:p>
          <a:p>
            <a:pPr marL="342900" indent="-342900">
              <a:buFont typeface="Arial" panose="020B0604020202020204" pitchFamily="34" charset="0"/>
              <a:buChar char="•"/>
            </a:pPr>
            <a:r>
              <a:rPr lang="nl-NL" sz="2200" dirty="0">
                <a:latin typeface="Open Sans Light"/>
              </a:rPr>
              <a:t>Complexe, open opdrachten</a:t>
            </a:r>
          </a:p>
          <a:p>
            <a:endParaRPr lang="nl-NL" sz="2200" dirty="0">
              <a:latin typeface="Open Sans Light"/>
            </a:endParaRPr>
          </a:p>
          <a:p>
            <a:r>
              <a:rPr lang="nl-NL" sz="2200" dirty="0">
                <a:latin typeface="Open Sans Light"/>
              </a:rPr>
              <a:t>Samenwerking en interactie</a:t>
            </a:r>
          </a:p>
        </p:txBody>
      </p:sp>
      <p:sp>
        <p:nvSpPr>
          <p:cNvPr id="7" name="Title 1">
            <a:extLst>
              <a:ext uri="{FF2B5EF4-FFF2-40B4-BE49-F238E27FC236}">
                <a16:creationId xmlns:a16="http://schemas.microsoft.com/office/drawing/2014/main" id="{9AE03A60-18A9-4862-A12D-45052E30ADAA}"/>
              </a:ext>
            </a:extLst>
          </p:cNvPr>
          <p:cNvSpPr txBox="1">
            <a:spLocks/>
          </p:cNvSpPr>
          <p:nvPr/>
        </p:nvSpPr>
        <p:spPr>
          <a:xfrm>
            <a:off x="1013496" y="1114736"/>
            <a:ext cx="9964983" cy="572841"/>
          </a:xfrm>
          <a:prstGeom prst="rect">
            <a:avLst/>
          </a:prstGeom>
        </p:spPr>
        <p:txBody>
          <a:bodyPr vert="horz" lIns="0" tIns="0" rIns="0" bIns="0" rtlCol="0" anchor="t" anchorCtr="0">
            <a:noAutofit/>
          </a:bodyPr>
          <a:lstStyle>
            <a:lvl1pPr algn="l" defTabSz="914400" rtl="0" eaLnBrk="1" latinLnBrk="0" hangingPunct="1">
              <a:spcBef>
                <a:spcPct val="0"/>
              </a:spcBef>
              <a:buNone/>
              <a:defRPr sz="2400" b="1" i="0" kern="1200">
                <a:solidFill>
                  <a:srgbClr val="C00000"/>
                </a:solidFill>
                <a:latin typeface="Gill Sans MT" panose="020B0502020104020203" pitchFamily="34" charset="0"/>
                <a:ea typeface="+mj-ea"/>
                <a:cs typeface="+mj-cs"/>
              </a:defRPr>
            </a:lvl1pPr>
          </a:lstStyle>
          <a:p>
            <a:pPr lvl="0"/>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Constructivisme</a:t>
            </a:r>
            <a:r>
              <a:rPr lang="en-GB" sz="2800" u="sng" dirty="0">
                <a:latin typeface="Open Sans Light" panose="020B0306030504020204" pitchFamily="34" charset="0"/>
                <a:ea typeface="Open Sans Light" panose="020B0306030504020204" pitchFamily="34" charset="0"/>
                <a:cs typeface="Open Sans Light" panose="020B0306030504020204" pitchFamily="34" charset="0"/>
              </a:rPr>
              <a:t> </a:t>
            </a:r>
            <a:r>
              <a:rPr lang="en-GB" sz="2800" u="sng" dirty="0" err="1">
                <a:latin typeface="Open Sans Light" panose="020B0306030504020204" pitchFamily="34" charset="0"/>
                <a:ea typeface="Open Sans Light" panose="020B0306030504020204" pitchFamily="34" charset="0"/>
                <a:cs typeface="Open Sans Light" panose="020B0306030504020204" pitchFamily="34" charset="0"/>
              </a:rPr>
              <a:t>toegepast</a:t>
            </a:r>
            <a:endParaRPr lang="en-GB" sz="2800" u="sng" dirty="0">
              <a:latin typeface="Open Sans Light" panose="020B0306030504020204" pitchFamily="34" charset="0"/>
              <a:ea typeface="Open Sans Light" panose="020B0306030504020204" pitchFamily="34" charset="0"/>
              <a:cs typeface="Open Sans Light" panose="020B0306030504020204" pitchFamily="34" charset="0"/>
            </a:endParaRPr>
          </a:p>
        </p:txBody>
      </p:sp>
      <p:sp>
        <p:nvSpPr>
          <p:cNvPr id="3" name="Rectangle 2">
            <a:extLst>
              <a:ext uri="{FF2B5EF4-FFF2-40B4-BE49-F238E27FC236}">
                <a16:creationId xmlns:a16="http://schemas.microsoft.com/office/drawing/2014/main" id="{BED80656-6876-062D-0BAF-162FE7BAA7CF}"/>
              </a:ext>
            </a:extLst>
          </p:cNvPr>
          <p:cNvSpPr/>
          <p:nvPr/>
        </p:nvSpPr>
        <p:spPr>
          <a:xfrm>
            <a:off x="8167688" y="10633"/>
            <a:ext cx="4027487" cy="1340768"/>
          </a:xfrm>
          <a:prstGeom prst="rect">
            <a:avLst/>
          </a:prstGeom>
          <a:solidFill>
            <a:schemeClr val="bg1"/>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183000851"/>
      </p:ext>
    </p:extLst>
  </p:cSld>
  <p:clrMapOvr>
    <a:masterClrMapping/>
  </p:clrMapOvr>
</p:sld>
</file>

<file path=ppt/theme/theme1.xml><?xml version="1.0" encoding="utf-8"?>
<a:theme xmlns:a="http://schemas.openxmlformats.org/drawingml/2006/main" name="ub_dcm_hs_presentation_corporate_widescreen_EN_2016">
  <a:themeElements>
    <a:clrScheme name="Kleurenschema UU Corporate">
      <a:dk1>
        <a:sysClr val="windowText" lastClr="000000"/>
      </a:dk1>
      <a:lt1>
        <a:sysClr val="window" lastClr="FFFFFF"/>
      </a:lt1>
      <a:dk2>
        <a:srgbClr val="000000"/>
      </a:dk2>
      <a:lt2>
        <a:srgbClr val="FFFFFF"/>
      </a:lt2>
      <a:accent1>
        <a:srgbClr val="FFD300"/>
      </a:accent1>
      <a:accent2>
        <a:srgbClr val="808080"/>
      </a:accent2>
      <a:accent3>
        <a:srgbClr val="FFE465"/>
      </a:accent3>
      <a:accent4>
        <a:srgbClr val="B2B2B2"/>
      </a:accent4>
      <a:accent5>
        <a:srgbClr val="BF9E00"/>
      </a:accent5>
      <a:accent6>
        <a:srgbClr val="606060"/>
      </a:accent6>
      <a:hlink>
        <a:srgbClr val="808080"/>
      </a:hlink>
      <a:folHlink>
        <a:srgbClr val="808080"/>
      </a:folHlink>
    </a:clrScheme>
    <a:fontScheme name="Lettertype UU">
      <a:majorFont>
        <a:latin typeface="Verdana"/>
        <a:ea typeface=""/>
        <a:cs typeface=""/>
      </a:majorFont>
      <a:minorFont>
        <a:latin typeface="Verdana"/>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lIns="0" tIns="0" rIns="0" bIns="0" rtlCol="0">
        <a:spAutoFit/>
      </a:bodyPr>
      <a:lstStyle>
        <a:defPPr>
          <a:defRPr/>
        </a:defPPr>
      </a:lstStyle>
    </a:txDef>
  </a:objectDefaults>
  <a:extraClrSchemeLst/>
</a:theme>
</file>

<file path=ppt/theme/theme2.xml><?xml version="1.0" encoding="utf-8"?>
<a:theme xmlns:a="http://schemas.openxmlformats.org/drawingml/2006/main" name="1_ub_dcm_hs_presentation_corporate_widescreen_EN_2016">
  <a:themeElements>
    <a:clrScheme name="Kleurenschema UU Corporate">
      <a:dk1>
        <a:sysClr val="windowText" lastClr="000000"/>
      </a:dk1>
      <a:lt1>
        <a:sysClr val="window" lastClr="FFFFFF"/>
      </a:lt1>
      <a:dk2>
        <a:srgbClr val="000000"/>
      </a:dk2>
      <a:lt2>
        <a:srgbClr val="FFFFFF"/>
      </a:lt2>
      <a:accent1>
        <a:srgbClr val="FFD300"/>
      </a:accent1>
      <a:accent2>
        <a:srgbClr val="808080"/>
      </a:accent2>
      <a:accent3>
        <a:srgbClr val="FFE465"/>
      </a:accent3>
      <a:accent4>
        <a:srgbClr val="B2B2B2"/>
      </a:accent4>
      <a:accent5>
        <a:srgbClr val="BF9E00"/>
      </a:accent5>
      <a:accent6>
        <a:srgbClr val="606060"/>
      </a:accent6>
      <a:hlink>
        <a:srgbClr val="808080"/>
      </a:hlink>
      <a:folHlink>
        <a:srgbClr val="808080"/>
      </a:folHlink>
    </a:clrScheme>
    <a:fontScheme name="Lettertype UU">
      <a:majorFont>
        <a:latin typeface="Verdana"/>
        <a:ea typeface=""/>
        <a:cs typeface=""/>
      </a:majorFont>
      <a:minorFont>
        <a:latin typeface="Verdana"/>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lIns="0" tIns="0" rIns="0" bIns="0" rtlCol="0">
        <a:spAutoFit/>
      </a:bodyPr>
      <a:lstStyle>
        <a:defPPr>
          <a:defRPr/>
        </a:defPPr>
      </a:lstStyle>
    </a:txDef>
  </a:objectDefaults>
  <a:extraClrSchemeLst/>
</a:theme>
</file>

<file path=ppt/theme/theme3.xml><?xml version="1.0" encoding="utf-8"?>
<a:theme xmlns:a="http://schemas.openxmlformats.org/drawingml/2006/main" name="Aangepast ontwerp">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Kleurenschema UU Corporate">
    <a:dk1>
      <a:sysClr val="windowText" lastClr="000000"/>
    </a:dk1>
    <a:lt1>
      <a:sysClr val="window" lastClr="FFFFFF"/>
    </a:lt1>
    <a:dk2>
      <a:srgbClr val="000000"/>
    </a:dk2>
    <a:lt2>
      <a:srgbClr val="FFFFFF"/>
    </a:lt2>
    <a:accent1>
      <a:srgbClr val="FFD300"/>
    </a:accent1>
    <a:accent2>
      <a:srgbClr val="808080"/>
    </a:accent2>
    <a:accent3>
      <a:srgbClr val="FFE465"/>
    </a:accent3>
    <a:accent4>
      <a:srgbClr val="B2B2B2"/>
    </a:accent4>
    <a:accent5>
      <a:srgbClr val="BF9E00"/>
    </a:accent5>
    <a:accent6>
      <a:srgbClr val="606060"/>
    </a:accent6>
    <a:hlink>
      <a:srgbClr val="808080"/>
    </a:hlink>
    <a:folHlink>
      <a:srgbClr val="808080"/>
    </a:folHlink>
  </a:clrScheme>
</a:themeOverride>
</file>

<file path=docProps/app.xml><?xml version="1.0" encoding="utf-8"?>
<Properties xmlns="http://schemas.openxmlformats.org/officeDocument/2006/extended-properties" xmlns:vt="http://schemas.openxmlformats.org/officeDocument/2006/docPropsVTypes">
  <Template>ub_dcm_hs_presentation_corporate_widescreen_EN_2016</Template>
  <TotalTime>4</TotalTime>
  <Words>3907</Words>
  <Application>Microsoft Office PowerPoint</Application>
  <PresentationFormat>Aangepast</PresentationFormat>
  <Paragraphs>484</Paragraphs>
  <Slides>34</Slides>
  <Notes>34</Notes>
  <HiddenSlides>0</HiddenSlides>
  <MMClips>0</MMClips>
  <ScaleCrop>false</ScaleCrop>
  <HeadingPairs>
    <vt:vector size="6" baseType="variant">
      <vt:variant>
        <vt:lpstr>Gebruikte lettertypen</vt:lpstr>
      </vt:variant>
      <vt:variant>
        <vt:i4>9</vt:i4>
      </vt:variant>
      <vt:variant>
        <vt:lpstr>Thema</vt:lpstr>
      </vt:variant>
      <vt:variant>
        <vt:i4>3</vt:i4>
      </vt:variant>
      <vt:variant>
        <vt:lpstr>Diatitels</vt:lpstr>
      </vt:variant>
      <vt:variant>
        <vt:i4>34</vt:i4>
      </vt:variant>
    </vt:vector>
  </HeadingPairs>
  <TitlesOfParts>
    <vt:vector size="46" baseType="lpstr">
      <vt:lpstr>Arial</vt:lpstr>
      <vt:lpstr>Calibri</vt:lpstr>
      <vt:lpstr>CeraPro</vt:lpstr>
      <vt:lpstr>Courier New</vt:lpstr>
      <vt:lpstr>Gill Sans MT</vt:lpstr>
      <vt:lpstr>Open Sans</vt:lpstr>
      <vt:lpstr>Open Sans Light</vt:lpstr>
      <vt:lpstr>Open Sans Regular</vt:lpstr>
      <vt:lpstr>Verdana</vt:lpstr>
      <vt:lpstr>ub_dcm_hs_presentation_corporate_widescreen_EN_2016</vt:lpstr>
      <vt:lpstr>1_ub_dcm_hs_presentation_corporate_widescreen_EN_2016</vt:lpstr>
      <vt:lpstr>Aangepast ontwerp</vt:lpstr>
      <vt:lpstr>  Inleiding Onderwijs-wetenschappen</vt:lpstr>
      <vt:lpstr>PowerPoint-presentatie</vt:lpstr>
      <vt:lpstr>PowerPoint-presentatie</vt:lpstr>
      <vt:lpstr>PowerPoint-presentatie</vt:lpstr>
      <vt:lpstr>Leertheorieën</vt:lpstr>
      <vt:lpstr>Leertheorieën vs. theorieën uit de natuurwetenschap</vt:lpstr>
      <vt:lpstr>“Niet alles werkt en niets werkt altijd in het onderwijs”</vt:lpstr>
      <vt:lpstr>Leertheorieën vs. theorieën uit de natuurwetenschap</vt:lpstr>
      <vt:lpstr>Leertheorieën vs. theorieën uit de natuurwetenschap</vt:lpstr>
      <vt:lpstr>Leertheorieën en implicaties voor de praktijk</vt:lpstr>
      <vt:lpstr>In onderwijs is weinig controversiëler dan een leertheorie</vt:lpstr>
      <vt:lpstr>Een (enorme) vereenvoudiging</vt:lpstr>
      <vt:lpstr>De werkelijkheid (misschien)</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Utrecht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I.C. (Irene) van Seggelen</dc:creator>
  <dc:description>sjabloonversie 1.3 - 19 juli 2016_x000d_
lay-our: Flow Design + Communicatie_x000d_
sjablonen: www.joulesunlimited.nl</dc:description>
  <cp:lastModifiedBy>Janssen, J.J.H.M. (Jeroen)</cp:lastModifiedBy>
  <cp:revision>275</cp:revision>
  <cp:lastPrinted>2025-09-15T11:19:22Z</cp:lastPrinted>
  <dcterms:created xsi:type="dcterms:W3CDTF">2016-08-11T09:59:58Z</dcterms:created>
  <dcterms:modified xsi:type="dcterms:W3CDTF">2025-09-16T11:38:07Z</dcterms:modified>
</cp:coreProperties>
</file>